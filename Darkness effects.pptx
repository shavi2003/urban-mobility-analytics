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ags/tag2.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tags/tag3.xml" ContentType="application/vnd.openxmlformats-officedocument.presentationml.tags+xml"/>
  <Override PartName="/ppt/notesSlides/notesSlide22.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ppt/notesSlides/notesSlide23.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5"/>
  </p:notesMasterIdLst>
  <p:sldIdLst>
    <p:sldId id="300" r:id="rId2"/>
    <p:sldId id="422" r:id="rId3"/>
    <p:sldId id="449" r:id="rId4"/>
    <p:sldId id="435" r:id="rId5"/>
    <p:sldId id="442" r:id="rId6"/>
    <p:sldId id="423" r:id="rId7"/>
    <p:sldId id="367" r:id="rId8"/>
    <p:sldId id="417" r:id="rId9"/>
    <p:sldId id="337" r:id="rId10"/>
    <p:sldId id="399" r:id="rId11"/>
    <p:sldId id="363" r:id="rId12"/>
    <p:sldId id="373" r:id="rId13"/>
    <p:sldId id="362" r:id="rId14"/>
    <p:sldId id="448" r:id="rId15"/>
    <p:sldId id="401" r:id="rId16"/>
    <p:sldId id="271" r:id="rId17"/>
    <p:sldId id="370" r:id="rId18"/>
    <p:sldId id="371" r:id="rId19"/>
    <p:sldId id="372" r:id="rId20"/>
    <p:sldId id="419" r:id="rId21"/>
    <p:sldId id="418" r:id="rId22"/>
    <p:sldId id="411" r:id="rId23"/>
    <p:sldId id="416" r:id="rId24"/>
  </p:sldIdLst>
  <p:sldSz cx="18288000" cy="10287000"/>
  <p:notesSz cx="6858000" cy="9144000"/>
  <p:embeddedFontLst>
    <p:embeddedFont>
      <p:font typeface="Cambria Math" panose="02040503050406030204" pitchFamily="18" charset="0"/>
      <p:regular r:id="rId26"/>
    </p:embeddedFont>
    <p:embeddedFont>
      <p:font typeface="ITC Avant Garde Gothic" panose="020B0502020202020204"/>
      <p:regular r:id="rId27"/>
    </p:embeddedFont>
    <p:embeddedFont>
      <p:font typeface="TT Fors" panose="020B0003030001020000"/>
      <p:regular r:id="rId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B940E11-42BC-67A4-2022-9D0B705E21F4}" name="Jayden Chew" initials="JC" userId="S::oe24604@bristol.ac.uk::f3c1470f-b48e-4c24-83d0-afb5834f3c18" providerId="AD"/>
  <p188:author id="{6F69A548-1BF0-F2F6-432E-EFDCBBF5D854}" name="Will Barry" initials="WB" userId="S::tk24074@bristol.ac.uk::0ddfa42d-67f9-45d0-88de-960620d414dc" providerId="AD"/>
  <p188:author id="{1489FC91-5970-2FD1-2437-C949B026372D}" name="Karan Dama" initials="KD" userId="S::op24337@bristol.ac.uk::e8abd350-41c3-4d2b-bc37-4de3543ee66b" providerId="AD"/>
  <p188:author id="{58479BB6-0957-36B8-3DB0-B41C749D0C0B}" name="Tom Tucker" initials="TT" userId="S::rr24442@bristol.ac.uk::91b4e36a-ad1d-43a6-ba27-28197b07390a" providerId="AD"/>
  <p188:author id="{75FF09BE-05A4-894B-90CB-E9A10AD0D6BB}" name="Shavarsh Melikyan" initials="SM" userId="S::fb23277@bristol.ac.uk::895adfc4-a1bb-408a-a889-c8dd39267097"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03400"/>
    <a:srgbClr val="A8CFA8"/>
    <a:srgbClr val="003100"/>
    <a:srgbClr val="0C5D05"/>
    <a:srgbClr val="244016"/>
    <a:srgbClr val="40752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F627DE-C96F-5C48-A6A2-3F4B7A0CE8B4}" v="3289" dt="2026-04-23T03:40:05.620"/>
    <p1510:client id="{5ACEE3DA-9DE7-4AF8-AC33-D623E5586BFD}" v="2267" dt="2026-04-22T21:45:29.097"/>
    <p1510:client id="{879A1BB1-E8A4-DE4E-80D2-BCEE33B30715}" v="732" dt="2026-04-22T21:25:11.975"/>
    <p1510:client id="{B3C66D4A-64A9-4E75-BC32-99C78E4A3F79}" v="7003" dt="2026-04-22T19:05:23.49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1"/>
    <p:restoredTop sz="94658"/>
  </p:normalViewPr>
  <p:slideViewPr>
    <p:cSldViewPr snapToGrid="0">
      <p:cViewPr varScale="1">
        <p:scale>
          <a:sx n="80" d="100"/>
          <a:sy n="80" d="100"/>
        </p:scale>
        <p:origin x="824" y="200"/>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1.fntdata"/><Relationship Id="rId3" Type="http://schemas.openxmlformats.org/officeDocument/2006/relationships/slide" Target="slides/slide2.xml"/><Relationship Id="rId21" Type="http://schemas.openxmlformats.org/officeDocument/2006/relationships/slide" Target="slides/slide20.xml"/><Relationship Id="rId34"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2.fntdata"/><Relationship Id="rId30" Type="http://schemas.openxmlformats.org/officeDocument/2006/relationships/viewProps" Target="viewProps.xml"/><Relationship Id="rId8" Type="http://schemas.openxmlformats.org/officeDocument/2006/relationships/slide" Target="slides/slide7.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2.053570683717865E-2"/>
          <c:y val="1.3791564546410793E-2"/>
          <c:w val="0.96831187517370765"/>
          <c:h val="0.82620198451408289"/>
        </c:manualLayout>
      </c:layout>
      <c:barChart>
        <c:barDir val="col"/>
        <c:grouping val="clustered"/>
        <c:varyColors val="0"/>
        <c:ser>
          <c:idx val="0"/>
          <c:order val="0"/>
          <c:tx>
            <c:strRef>
              <c:f>Sheet1!$B$1</c:f>
              <c:strCache>
                <c:ptCount val="1"/>
                <c:pt idx="0">
                  <c:v>Decrease %</c:v>
                </c:pt>
              </c:strCache>
            </c:strRef>
          </c:tx>
          <c:spPr>
            <a:solidFill>
              <a:srgbClr val="003400"/>
            </a:solidFill>
            <a:ln>
              <a:solidFill>
                <a:schemeClr val="accent1">
                  <a:alpha val="0"/>
                </a:schemeClr>
              </a:solidFill>
            </a:ln>
            <a:effectLst>
              <a:softEdge rad="0"/>
            </a:effectLst>
          </c:spPr>
          <c:invertIfNegative val="0"/>
          <c:dLbls>
            <c:dLbl>
              <c:idx val="0"/>
              <c:tx>
                <c:rich>
                  <a:bodyPr/>
                  <a:lstStyle/>
                  <a:p>
                    <a:r>
                      <a:rPr lang="en-US"/>
                      <a:t>-</a:t>
                    </a:r>
                    <a:fld id="{7B82B3AA-2BC4-5E49-A242-0958960C6C3C}" type="VALUE">
                      <a:rPr lang="en-US" smtClean="0"/>
                      <a:pPr/>
                      <a:t>[VALUE]</a:t>
                    </a:fld>
                    <a:r>
                      <a:rPr lang="en-US"/>
                      <a:t>%</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4-FB6F-FF4B-AFE8-D3DC141E3791}"/>
                </c:ext>
              </c:extLst>
            </c:dLbl>
            <c:dLbl>
              <c:idx val="1"/>
              <c:tx>
                <c:rich>
                  <a:bodyPr/>
                  <a:lstStyle/>
                  <a:p>
                    <a:r>
                      <a:rPr lang="en-US"/>
                      <a:t>-</a:t>
                    </a:r>
                    <a:fld id="{E30EEEFD-B2C3-3740-AC6A-49376212CCD1}" type="VALUE">
                      <a:rPr lang="en-US" smtClean="0"/>
                      <a:pPr/>
                      <a:t>[VALUE]</a:t>
                    </a:fld>
                    <a:r>
                      <a:rPr lang="en-US"/>
                      <a:t>%</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3-FB6F-FF4B-AFE8-D3DC141E3791}"/>
                </c:ext>
              </c:extLst>
            </c:dLbl>
            <c:dLbl>
              <c:idx val="2"/>
              <c:tx>
                <c:rich>
                  <a:bodyPr/>
                  <a:lstStyle/>
                  <a:p>
                    <a:r>
                      <a:rPr lang="en-US"/>
                      <a:t>-</a:t>
                    </a:r>
                    <a:fld id="{781F92EA-5BB7-1B45-8852-5012565C6986}" type="VALUE">
                      <a:rPr lang="en-US" smtClean="0"/>
                      <a:pPr/>
                      <a:t>[VALUE]</a:t>
                    </a:fld>
                    <a:r>
                      <a:rPr lang="en-US"/>
                      <a:t>%</a:t>
                    </a:r>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5-FB6F-FF4B-AFE8-D3DC141E3791}"/>
                </c:ext>
              </c:extLst>
            </c:dLbl>
            <c:spPr>
              <a:noFill/>
              <a:ln>
                <a:noFill/>
              </a:ln>
              <a:effectLst/>
            </c:spPr>
            <c:txPr>
              <a:bodyPr rot="0" spcFirstLastPara="1" vertOverflow="ellipsis" vert="horz" wrap="square" lIns="38100" tIns="19050" rIns="38100" bIns="19050" anchor="ctr" anchorCtr="1">
                <a:spAutoFit/>
              </a:bodyPr>
              <a:lstStyle/>
              <a:p>
                <a:pPr>
                  <a:defRPr sz="3200" b="1" i="0" u="none" strike="noStrike" kern="1200" baseline="0">
                    <a:solidFill>
                      <a:srgbClr val="003400"/>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Sheet1!$A$2:$A$4</c:f>
              <c:strCache>
                <c:ptCount val="3"/>
                <c:pt idx="0">
                  <c:v>Cambridge Ped [4]</c:v>
                </c:pt>
                <c:pt idx="1">
                  <c:v>Birmingham Cyc  [4]</c:v>
                </c:pt>
                <c:pt idx="2">
                  <c:v>Leeds Cyc  [4]</c:v>
                </c:pt>
              </c:strCache>
            </c:strRef>
          </c:cat>
          <c:val>
            <c:numRef>
              <c:f>Sheet1!$B$2:$B$4</c:f>
              <c:numCache>
                <c:formatCode>General</c:formatCode>
                <c:ptCount val="3"/>
                <c:pt idx="0">
                  <c:v>29</c:v>
                </c:pt>
                <c:pt idx="1">
                  <c:v>53</c:v>
                </c:pt>
                <c:pt idx="2">
                  <c:v>33</c:v>
                </c:pt>
              </c:numCache>
            </c:numRef>
          </c:val>
          <c:extLst>
            <c:ext xmlns:c16="http://schemas.microsoft.com/office/drawing/2014/chart" uri="{C3380CC4-5D6E-409C-BE32-E72D297353CC}">
              <c16:uniqueId val="{00000000-FB6F-FF4B-AFE8-D3DC141E3791}"/>
            </c:ext>
          </c:extLst>
        </c:ser>
        <c:dLbls>
          <c:showLegendKey val="0"/>
          <c:showVal val="1"/>
          <c:showCatName val="0"/>
          <c:showSerName val="0"/>
          <c:showPercent val="0"/>
          <c:showBubbleSize val="0"/>
        </c:dLbls>
        <c:gapWidth val="47"/>
        <c:axId val="1002195135"/>
        <c:axId val="1017474879"/>
      </c:barChart>
      <c:catAx>
        <c:axId val="100219513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3200" b="0" i="0" u="none" strike="noStrike" kern="1200" baseline="0">
                <a:solidFill>
                  <a:srgbClr val="003400"/>
                </a:solidFill>
                <a:effectLst>
                  <a:reflection endPos="0" dist="50800" dir="5400000" sy="-100000" algn="bl" rotWithShape="0"/>
                </a:effectLst>
                <a:latin typeface="+mn-lt"/>
                <a:ea typeface="+mn-ea"/>
                <a:cs typeface="+mn-cs"/>
              </a:defRPr>
            </a:pPr>
            <a:endParaRPr lang="en-US"/>
          </a:p>
        </c:txPr>
        <c:crossAx val="1017474879"/>
        <c:crosses val="autoZero"/>
        <c:auto val="1"/>
        <c:lblAlgn val="ctr"/>
        <c:lblOffset val="100"/>
        <c:noMultiLvlLbl val="0"/>
      </c:catAx>
      <c:valAx>
        <c:axId val="1017474879"/>
        <c:scaling>
          <c:orientation val="minMax"/>
        </c:scaling>
        <c:delete val="1"/>
        <c:axPos val="l"/>
        <c:numFmt formatCode="General" sourceLinked="1"/>
        <c:majorTickMark val="none"/>
        <c:minorTickMark val="none"/>
        <c:tickLblPos val="nextTo"/>
        <c:crossAx val="100219513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GB"/>
  <c:roundedCorners val="1"/>
  <c:style val="2"/>
  <c:chart>
    <c:title>
      <c:tx>
        <c:rich>
          <a:bodyPr/>
          <a:lstStyle/>
          <a:p>
            <a:pPr algn="l">
              <a:defRPr sz="2400" b="1">
                <a:solidFill>
                  <a:srgbClr val="254117"/>
                </a:solidFill>
                <a:latin typeface="TT Fors"/>
              </a:defRPr>
            </a:pPr>
            <a:r>
              <a:rPr lang="en-GB" sz="2400" b="1">
                <a:solidFill>
                  <a:srgbClr val="254117"/>
                </a:solidFill>
                <a:latin typeface="TT Fors"/>
              </a:rPr>
              <a:t>Pedestrian Darkness Penalty by Hour (% Reduction)</a:t>
            </a:r>
          </a:p>
        </c:rich>
      </c:tx>
      <c:layout>
        <c:manualLayout>
          <c:xMode val="edge"/>
          <c:yMode val="edge"/>
          <c:x val="0.26547037504869614"/>
          <c:y val="6.5967114791235879E-3"/>
        </c:manualLayout>
      </c:layout>
      <c:overlay val="0"/>
    </c:title>
    <c:autoTitleDeleted val="0"/>
    <c:plotArea>
      <c:layout>
        <c:manualLayout>
          <c:layoutTarget val="inner"/>
          <c:xMode val="edge"/>
          <c:yMode val="edge"/>
          <c:x val="0"/>
          <c:y val="0.12043807870733933"/>
          <c:w val="0.98350824587706143"/>
          <c:h val="0.8"/>
        </c:manualLayout>
      </c:layout>
      <c:barChart>
        <c:barDir val="col"/>
        <c:grouping val="clustered"/>
        <c:varyColors val="1"/>
        <c:ser>
          <c:idx val="0"/>
          <c:order val="0"/>
          <c:tx>
            <c:v>Penalty</c:v>
          </c:tx>
          <c:spPr>
            <a:solidFill>
              <a:srgbClr val="254117"/>
            </a:solidFill>
            <a:ln>
              <a:noFill/>
            </a:ln>
          </c:spPr>
          <c:invertIfNegative val="0"/>
          <c:dPt>
            <c:idx val="0"/>
            <c:invertIfNegative val="0"/>
            <c:bubble3D val="0"/>
            <c:spPr>
              <a:solidFill>
                <a:srgbClr val="C0392B"/>
              </a:solidFill>
              <a:ln>
                <a:noFill/>
              </a:ln>
            </c:spPr>
            <c:extLst>
              <c:ext xmlns:c16="http://schemas.microsoft.com/office/drawing/2014/chart" uri="{C3380CC4-5D6E-409C-BE32-E72D297353CC}">
                <c16:uniqueId val="{00000001-A17A-6E4A-936A-822203897A34}"/>
              </c:ext>
            </c:extLst>
          </c:dPt>
          <c:dPt>
            <c:idx val="1"/>
            <c:invertIfNegative val="0"/>
            <c:bubble3D val="0"/>
            <c:spPr>
              <a:solidFill>
                <a:srgbClr val="E74C3C"/>
              </a:solidFill>
              <a:ln>
                <a:noFill/>
              </a:ln>
            </c:spPr>
            <c:extLst>
              <c:ext xmlns:c16="http://schemas.microsoft.com/office/drawing/2014/chart" uri="{C3380CC4-5D6E-409C-BE32-E72D297353CC}">
                <c16:uniqueId val="{00000003-A17A-6E4A-936A-822203897A34}"/>
              </c:ext>
            </c:extLst>
          </c:dPt>
          <c:dPt>
            <c:idx val="2"/>
            <c:invertIfNegative val="0"/>
            <c:bubble3D val="0"/>
            <c:spPr>
              <a:solidFill>
                <a:srgbClr val="3A7D44"/>
              </a:solidFill>
              <a:ln>
                <a:noFill/>
              </a:ln>
            </c:spPr>
            <c:extLst>
              <c:ext xmlns:c16="http://schemas.microsoft.com/office/drawing/2014/chart" uri="{C3380CC4-5D6E-409C-BE32-E72D297353CC}">
                <c16:uniqueId val="{00000005-A17A-6E4A-936A-822203897A34}"/>
              </c:ext>
            </c:extLst>
          </c:dPt>
          <c:dPt>
            <c:idx val="3"/>
            <c:invertIfNegative val="0"/>
            <c:bubble3D val="0"/>
            <c:spPr>
              <a:solidFill>
                <a:srgbClr val="3A7D44"/>
              </a:solidFill>
              <a:ln>
                <a:noFill/>
              </a:ln>
            </c:spPr>
            <c:extLst>
              <c:ext xmlns:c16="http://schemas.microsoft.com/office/drawing/2014/chart" uri="{C3380CC4-5D6E-409C-BE32-E72D297353CC}">
                <c16:uniqueId val="{00000007-A17A-6E4A-936A-822203897A34}"/>
              </c:ext>
            </c:extLst>
          </c:dPt>
          <c:dPt>
            <c:idx val="4"/>
            <c:invertIfNegative val="0"/>
            <c:bubble3D val="0"/>
            <c:spPr>
              <a:solidFill>
                <a:srgbClr val="3A7D44"/>
              </a:solidFill>
              <a:ln>
                <a:noFill/>
              </a:ln>
            </c:spPr>
            <c:extLst>
              <c:ext xmlns:c16="http://schemas.microsoft.com/office/drawing/2014/chart" uri="{C3380CC4-5D6E-409C-BE32-E72D297353CC}">
                <c16:uniqueId val="{00000009-A17A-6E4A-936A-822203897A34}"/>
              </c:ext>
            </c:extLst>
          </c:dPt>
          <c:dPt>
            <c:idx val="5"/>
            <c:invertIfNegative val="0"/>
            <c:bubble3D val="0"/>
            <c:spPr>
              <a:solidFill>
                <a:srgbClr val="3A7D44"/>
              </a:solidFill>
              <a:ln>
                <a:noFill/>
              </a:ln>
            </c:spPr>
            <c:extLst>
              <c:ext xmlns:c16="http://schemas.microsoft.com/office/drawing/2014/chart" uri="{C3380CC4-5D6E-409C-BE32-E72D297353CC}">
                <c16:uniqueId val="{0000000B-A17A-6E4A-936A-822203897A34}"/>
              </c:ext>
            </c:extLst>
          </c:dPt>
          <c:dLbls>
            <c:spPr>
              <a:noFill/>
              <a:ln>
                <a:noFill/>
              </a:ln>
              <a:effectLst/>
            </c:spPr>
            <c:txPr>
              <a:bodyPr/>
              <a:lstStyle/>
              <a:p>
                <a:pPr>
                  <a:defRPr sz="2400" b="1">
                    <a:solidFill>
                      <a:srgbClr val="254117"/>
                    </a:solidFill>
                    <a:latin typeface="TT Fors"/>
                  </a:defRPr>
                </a:pPr>
                <a:endParaRPr lang="en-GB"/>
              </a:p>
            </c:txPr>
            <c:dLblPos val="outEnd"/>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6"/>
              <c:pt idx="0">
                <c:v>05:00</c:v>
              </c:pt>
              <c:pt idx="1">
                <c:v>06:00</c:v>
              </c:pt>
              <c:pt idx="2">
                <c:v>17:00</c:v>
              </c:pt>
              <c:pt idx="3">
                <c:v>18:00</c:v>
              </c:pt>
              <c:pt idx="4">
                <c:v>19:00</c:v>
              </c:pt>
              <c:pt idx="5">
                <c:v>20:00</c:v>
              </c:pt>
            </c:strLit>
          </c:cat>
          <c:val>
            <c:numLit>
              <c:formatCode>0"%"</c:formatCode>
              <c:ptCount val="6"/>
              <c:pt idx="0">
                <c:v>63.4</c:v>
              </c:pt>
              <c:pt idx="1">
                <c:v>72.5</c:v>
              </c:pt>
              <c:pt idx="2">
                <c:v>23.2</c:v>
              </c:pt>
              <c:pt idx="3">
                <c:v>10.7</c:v>
              </c:pt>
              <c:pt idx="4">
                <c:v>13.5</c:v>
              </c:pt>
              <c:pt idx="5">
                <c:v>28</c:v>
              </c:pt>
            </c:numLit>
          </c:val>
          <c:extLst>
            <c:ext xmlns:c16="http://schemas.microsoft.com/office/drawing/2014/chart" uri="{C3380CC4-5D6E-409C-BE32-E72D297353CC}">
              <c16:uniqueId val="{0000000C-A17A-6E4A-936A-822203897A34}"/>
            </c:ext>
          </c:extLst>
        </c:ser>
        <c:dLbls>
          <c:showLegendKey val="0"/>
          <c:showVal val="0"/>
          <c:showCatName val="0"/>
          <c:showSerName val="0"/>
          <c:showPercent val="0"/>
          <c:showBubbleSize val="0"/>
        </c:dLbls>
        <c:gapWidth val="100"/>
        <c:axId val="1"/>
        <c:axId val="2"/>
      </c:barChart>
      <c:catAx>
        <c:axId val="1"/>
        <c:scaling>
          <c:orientation val="minMax"/>
        </c:scaling>
        <c:delete val="0"/>
        <c:axPos val="b"/>
        <c:numFmt formatCode="General" sourceLinked="0"/>
        <c:majorTickMark val="none"/>
        <c:minorTickMark val="none"/>
        <c:tickLblPos val="nextTo"/>
        <c:txPr>
          <a:bodyPr/>
          <a:lstStyle/>
          <a:p>
            <a:pPr>
              <a:defRPr sz="1800" b="0">
                <a:solidFill>
                  <a:srgbClr val="254117"/>
                </a:solidFill>
                <a:latin typeface="TT Fors"/>
              </a:defRPr>
            </a:pPr>
            <a:endParaRPr lang="en-GB"/>
          </a:p>
        </c:txPr>
        <c:crossAx val="2"/>
        <c:crosses val="autoZero"/>
        <c:auto val="1"/>
        <c:lblAlgn val="ctr"/>
        <c:lblOffset val="100"/>
        <c:noMultiLvlLbl val="1"/>
      </c:catAx>
      <c:valAx>
        <c:axId val="2"/>
        <c:scaling>
          <c:orientation val="minMax"/>
        </c:scaling>
        <c:delete val="1"/>
        <c:axPos val="l"/>
        <c:numFmt formatCode="0&quot;%&quot;" sourceLinked="1"/>
        <c:majorTickMark val="out"/>
        <c:minorTickMark val="none"/>
        <c:tickLblPos val="nextTo"/>
        <c:crossAx val="1"/>
        <c:crosses val="autoZero"/>
        <c:crossBetween val="between"/>
      </c:valAx>
    </c:plotArea>
    <c:plotVisOnly val="1"/>
    <c:dispBlanksAs val="zero"/>
    <c:showDLblsOverMax val="1"/>
  </c:chart>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8.7235068777768487E-2"/>
          <c:w val="0.98350824587706143"/>
          <c:h val="0.83053751452437841"/>
        </c:manualLayout>
      </c:layout>
      <c:barChart>
        <c:barDir val="col"/>
        <c:grouping val="clustered"/>
        <c:varyColors val="1"/>
        <c:ser>
          <c:idx val="0"/>
          <c:order val="0"/>
          <c:tx>
            <c:v>Penalty</c:v>
          </c:tx>
          <c:spPr>
            <a:solidFill>
              <a:srgbClr val="254117"/>
            </a:solidFill>
            <a:ln>
              <a:noFill/>
            </a:ln>
          </c:spPr>
          <c:invertIfNegative val="0"/>
          <c:dPt>
            <c:idx val="0"/>
            <c:invertIfNegative val="0"/>
            <c:bubble3D val="0"/>
            <c:spPr>
              <a:solidFill>
                <a:srgbClr val="C0392B"/>
              </a:solidFill>
              <a:ln>
                <a:noFill/>
              </a:ln>
            </c:spPr>
            <c:extLst>
              <c:ext xmlns:c16="http://schemas.microsoft.com/office/drawing/2014/chart" uri="{C3380CC4-5D6E-409C-BE32-E72D297353CC}">
                <c16:uniqueId val="{00000001-C444-8947-B75E-2EE81BC10FD7}"/>
              </c:ext>
            </c:extLst>
          </c:dPt>
          <c:dPt>
            <c:idx val="1"/>
            <c:invertIfNegative val="0"/>
            <c:bubble3D val="0"/>
            <c:spPr>
              <a:solidFill>
                <a:srgbClr val="E74C3C"/>
              </a:solidFill>
              <a:ln>
                <a:noFill/>
              </a:ln>
            </c:spPr>
            <c:extLst>
              <c:ext xmlns:c16="http://schemas.microsoft.com/office/drawing/2014/chart" uri="{C3380CC4-5D6E-409C-BE32-E72D297353CC}">
                <c16:uniqueId val="{00000003-C444-8947-B75E-2EE81BC10FD7}"/>
              </c:ext>
            </c:extLst>
          </c:dPt>
          <c:dPt>
            <c:idx val="2"/>
            <c:invertIfNegative val="0"/>
            <c:bubble3D val="0"/>
            <c:spPr>
              <a:solidFill>
                <a:srgbClr val="3A7D44"/>
              </a:solidFill>
              <a:ln>
                <a:noFill/>
              </a:ln>
            </c:spPr>
            <c:extLst>
              <c:ext xmlns:c16="http://schemas.microsoft.com/office/drawing/2014/chart" uri="{C3380CC4-5D6E-409C-BE32-E72D297353CC}">
                <c16:uniqueId val="{00000005-C444-8947-B75E-2EE81BC10FD7}"/>
              </c:ext>
            </c:extLst>
          </c:dPt>
          <c:dPt>
            <c:idx val="3"/>
            <c:invertIfNegative val="0"/>
            <c:bubble3D val="0"/>
            <c:spPr>
              <a:solidFill>
                <a:srgbClr val="3A7D44"/>
              </a:solidFill>
              <a:ln>
                <a:noFill/>
              </a:ln>
            </c:spPr>
            <c:extLst>
              <c:ext xmlns:c16="http://schemas.microsoft.com/office/drawing/2014/chart" uri="{C3380CC4-5D6E-409C-BE32-E72D297353CC}">
                <c16:uniqueId val="{00000007-C444-8947-B75E-2EE81BC10FD7}"/>
              </c:ext>
            </c:extLst>
          </c:dPt>
          <c:dPt>
            <c:idx val="4"/>
            <c:invertIfNegative val="0"/>
            <c:bubble3D val="0"/>
            <c:spPr>
              <a:solidFill>
                <a:srgbClr val="3A7D44"/>
              </a:solidFill>
              <a:ln>
                <a:noFill/>
              </a:ln>
            </c:spPr>
            <c:extLst>
              <c:ext xmlns:c16="http://schemas.microsoft.com/office/drawing/2014/chart" uri="{C3380CC4-5D6E-409C-BE32-E72D297353CC}">
                <c16:uniqueId val="{00000009-C444-8947-B75E-2EE81BC10FD7}"/>
              </c:ext>
            </c:extLst>
          </c:dPt>
          <c:dPt>
            <c:idx val="5"/>
            <c:invertIfNegative val="0"/>
            <c:bubble3D val="0"/>
            <c:spPr>
              <a:solidFill>
                <a:srgbClr val="3A7D44"/>
              </a:solidFill>
              <a:ln>
                <a:noFill/>
              </a:ln>
            </c:spPr>
            <c:extLst>
              <c:ext xmlns:c16="http://schemas.microsoft.com/office/drawing/2014/chart" uri="{C3380CC4-5D6E-409C-BE32-E72D297353CC}">
                <c16:uniqueId val="{0000000B-C444-8947-B75E-2EE81BC10FD7}"/>
              </c:ext>
            </c:extLst>
          </c:dPt>
          <c:dLbls>
            <c:spPr>
              <a:noFill/>
              <a:ln>
                <a:noFill/>
              </a:ln>
              <a:effectLst/>
            </c:spPr>
            <c:txPr>
              <a:bodyPr/>
              <a:lstStyle/>
              <a:p>
                <a:pPr>
                  <a:defRPr sz="2400" b="1">
                    <a:solidFill>
                      <a:srgbClr val="254117"/>
                    </a:solidFill>
                    <a:latin typeface="TT Fors"/>
                  </a:defRPr>
                </a:pPr>
                <a:endParaRPr lang="en-GB"/>
              </a:p>
            </c:txPr>
            <c:dLblPos val="outEnd"/>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6"/>
              <c:pt idx="0">
                <c:v>05:00</c:v>
              </c:pt>
              <c:pt idx="1">
                <c:v>06:00</c:v>
              </c:pt>
              <c:pt idx="2">
                <c:v>17:00</c:v>
              </c:pt>
              <c:pt idx="3">
                <c:v>18:00</c:v>
              </c:pt>
              <c:pt idx="4">
                <c:v>19:00</c:v>
              </c:pt>
              <c:pt idx="5">
                <c:v>20:00</c:v>
              </c:pt>
            </c:strLit>
          </c:cat>
          <c:val>
            <c:numLit>
              <c:formatCode>0"%"</c:formatCode>
              <c:ptCount val="6"/>
              <c:pt idx="0">
                <c:v>63.4</c:v>
              </c:pt>
              <c:pt idx="1">
                <c:v>72.5</c:v>
              </c:pt>
              <c:pt idx="2">
                <c:v>23.2</c:v>
              </c:pt>
              <c:pt idx="3">
                <c:v>10.7</c:v>
              </c:pt>
              <c:pt idx="4">
                <c:v>13.5</c:v>
              </c:pt>
              <c:pt idx="5">
                <c:v>28</c:v>
              </c:pt>
            </c:numLit>
          </c:val>
          <c:extLst>
            <c:ext xmlns:c16="http://schemas.microsoft.com/office/drawing/2014/chart" uri="{C3380CC4-5D6E-409C-BE32-E72D297353CC}">
              <c16:uniqueId val="{0000000C-C444-8947-B75E-2EE81BC10FD7}"/>
            </c:ext>
          </c:extLst>
        </c:ser>
        <c:dLbls>
          <c:showLegendKey val="0"/>
          <c:showVal val="0"/>
          <c:showCatName val="0"/>
          <c:showSerName val="0"/>
          <c:showPercent val="0"/>
          <c:showBubbleSize val="0"/>
        </c:dLbls>
        <c:gapWidth val="100"/>
        <c:axId val="1"/>
        <c:axId val="2"/>
      </c:barChart>
      <c:barChart>
        <c:barDir val="col"/>
        <c:grouping val="clustered"/>
        <c:varyColors val="0"/>
        <c:ser>
          <c:idx val="1"/>
          <c:order val="1"/>
          <c:tx>
            <c:v>After +1 SD Streetlights</c:v>
          </c:tx>
          <c:spPr>
            <a:solidFill>
              <a:srgbClr val="1B5E20"/>
            </a:solidFill>
            <a:ln>
              <a:noFill/>
            </a:ln>
          </c:spPr>
          <c:invertIfNegative val="0"/>
          <c:dPt>
            <c:idx val="0"/>
            <c:invertIfNegative val="0"/>
            <c:bubble3D val="0"/>
            <c:extLst>
              <c:ext xmlns:c16="http://schemas.microsoft.com/office/drawing/2014/chart" uri="{C3380CC4-5D6E-409C-BE32-E72D297353CC}">
                <c16:uniqueId val="{0000000D-C444-8947-B75E-2EE81BC10FD7}"/>
              </c:ext>
            </c:extLst>
          </c:dPt>
          <c:dPt>
            <c:idx val="1"/>
            <c:invertIfNegative val="0"/>
            <c:bubble3D val="0"/>
            <c:extLst>
              <c:ext xmlns:c16="http://schemas.microsoft.com/office/drawing/2014/chart" uri="{C3380CC4-5D6E-409C-BE32-E72D297353CC}">
                <c16:uniqueId val="{0000000E-C444-8947-B75E-2EE81BC10FD7}"/>
              </c:ext>
            </c:extLst>
          </c:dPt>
          <c:dPt>
            <c:idx val="2"/>
            <c:invertIfNegative val="0"/>
            <c:bubble3D val="0"/>
            <c:extLst>
              <c:ext xmlns:c16="http://schemas.microsoft.com/office/drawing/2014/chart" uri="{C3380CC4-5D6E-409C-BE32-E72D297353CC}">
                <c16:uniqueId val="{0000000F-C444-8947-B75E-2EE81BC10FD7}"/>
              </c:ext>
            </c:extLst>
          </c:dPt>
          <c:dPt>
            <c:idx val="3"/>
            <c:invertIfNegative val="0"/>
            <c:bubble3D val="0"/>
            <c:extLst>
              <c:ext xmlns:c16="http://schemas.microsoft.com/office/drawing/2014/chart" uri="{C3380CC4-5D6E-409C-BE32-E72D297353CC}">
                <c16:uniqueId val="{00000010-C444-8947-B75E-2EE81BC10FD7}"/>
              </c:ext>
            </c:extLst>
          </c:dPt>
          <c:dPt>
            <c:idx val="4"/>
            <c:invertIfNegative val="0"/>
            <c:bubble3D val="0"/>
            <c:extLst>
              <c:ext xmlns:c16="http://schemas.microsoft.com/office/drawing/2014/chart" uri="{C3380CC4-5D6E-409C-BE32-E72D297353CC}">
                <c16:uniqueId val="{00000011-C444-8947-B75E-2EE81BC10FD7}"/>
              </c:ext>
            </c:extLst>
          </c:dPt>
          <c:dPt>
            <c:idx val="5"/>
            <c:invertIfNegative val="0"/>
            <c:bubble3D val="0"/>
            <c:extLst>
              <c:ext xmlns:c16="http://schemas.microsoft.com/office/drawing/2014/chart" uri="{C3380CC4-5D6E-409C-BE32-E72D297353CC}">
                <c16:uniqueId val="{00000012-C444-8947-B75E-2EE81BC10FD7}"/>
              </c:ext>
            </c:extLst>
          </c:dPt>
          <c:dLbls>
            <c:dLbl>
              <c:idx val="0"/>
              <c:layout>
                <c:manualLayout>
                  <c:x val="5.9220389805097452E-2"/>
                  <c:y val="3.6964991870152848E-2"/>
                </c:manualLayout>
              </c:layout>
              <c:dLblPos val="outEnd"/>
              <c:showLegendKey val="0"/>
              <c:showVal val="1"/>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D-C444-8947-B75E-2EE81BC10FD7}"/>
                </c:ext>
              </c:extLst>
            </c:dLbl>
            <c:dLbl>
              <c:idx val="1"/>
              <c:layout>
                <c:manualLayout>
                  <c:x val="6.4467766116941536E-2"/>
                  <c:y val="4.8955799881471404E-2"/>
                </c:manualLayout>
              </c:layout>
              <c:dLblPos val="outEnd"/>
              <c:showLegendKey val="0"/>
              <c:showVal val="1"/>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E-C444-8947-B75E-2EE81BC10FD7}"/>
                </c:ext>
              </c:extLst>
            </c:dLbl>
            <c:dLbl>
              <c:idx val="2"/>
              <c:layout>
                <c:manualLayout>
                  <c:x val="5.7721139430284861E-2"/>
                  <c:y val="2.3346310654833231E-2"/>
                </c:manualLayout>
              </c:layout>
              <c:dLblPos val="outEnd"/>
              <c:showLegendKey val="0"/>
              <c:showVal val="1"/>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0F-C444-8947-B75E-2EE81BC10FD7}"/>
                </c:ext>
              </c:extLst>
            </c:dLbl>
            <c:dLbl>
              <c:idx val="3"/>
              <c:layout>
                <c:manualLayout>
                  <c:x val="5.8470764617691157E-2"/>
                  <c:y val="-5.8365776637083443E-3"/>
                </c:manualLayout>
              </c:layout>
              <c:dLblPos val="outEnd"/>
              <c:showLegendKey val="0"/>
              <c:showVal val="1"/>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10-C444-8947-B75E-2EE81BC10FD7}"/>
                </c:ext>
              </c:extLst>
            </c:dLbl>
            <c:dLbl>
              <c:idx val="4"/>
              <c:layout>
                <c:manualLayout>
                  <c:x val="5.8470764617691157E-2"/>
                  <c:y val="-3.8910517758055626E-3"/>
                </c:manualLayout>
              </c:layout>
              <c:dLblPos val="outEnd"/>
              <c:showLegendKey val="0"/>
              <c:showVal val="1"/>
              <c:showCatName val="0"/>
              <c:showSerName val="0"/>
              <c:showPercent val="0"/>
              <c:showBubbleSize val="1"/>
              <c:extLst>
                <c:ext xmlns:c15="http://schemas.microsoft.com/office/drawing/2012/chart" uri="{CE6537A1-D6FC-4f65-9D91-7224C49458BB}"/>
                <c:ext xmlns:c16="http://schemas.microsoft.com/office/drawing/2014/chart" uri="{C3380CC4-5D6E-409C-BE32-E72D297353CC}">
                  <c16:uniqueId val="{00000011-C444-8947-B75E-2EE81BC10FD7}"/>
                </c:ext>
              </c:extLst>
            </c:dLbl>
            <c:spPr>
              <a:noFill/>
              <a:ln>
                <a:noFill/>
              </a:ln>
              <a:effectLst/>
            </c:spPr>
            <c:txPr>
              <a:bodyPr/>
              <a:lstStyle/>
              <a:p>
                <a:pPr>
                  <a:defRPr sz="2400" b="1">
                    <a:solidFill>
                      <a:srgbClr val="1B5E20"/>
                    </a:solidFill>
                    <a:latin typeface="TT Fors"/>
                  </a:defRPr>
                </a:pPr>
                <a:endParaRPr lang="en-GB"/>
              </a:p>
            </c:txPr>
            <c:dLblPos val="outEnd"/>
            <c:showLegendKey val="0"/>
            <c:showVal val="1"/>
            <c:showCatName val="0"/>
            <c:showSerName val="0"/>
            <c:showPercent val="0"/>
            <c:showBubbleSize val="1"/>
            <c:showLeaderLines val="0"/>
            <c:extLst>
              <c:ext xmlns:c15="http://schemas.microsoft.com/office/drawing/2012/chart" uri="{CE6537A1-D6FC-4f65-9D91-7224C49458BB}">
                <c15:showLeaderLines val="0"/>
              </c:ext>
            </c:extLst>
          </c:dLbls>
          <c:cat>
            <c:strLit>
              <c:ptCount val="6"/>
              <c:pt idx="0">
                <c:v>05:00</c:v>
              </c:pt>
              <c:pt idx="1">
                <c:v>06:00</c:v>
              </c:pt>
              <c:pt idx="2">
                <c:v>17:00</c:v>
              </c:pt>
              <c:pt idx="3">
                <c:v>18:00</c:v>
              </c:pt>
              <c:pt idx="4">
                <c:v>19:00</c:v>
              </c:pt>
              <c:pt idx="5">
                <c:v>20:00</c:v>
              </c:pt>
            </c:strLit>
          </c:cat>
          <c:val>
            <c:numLit>
              <c:formatCode>0"%"</c:formatCode>
              <c:ptCount val="6"/>
              <c:pt idx="0">
                <c:v>55.5</c:v>
              </c:pt>
              <c:pt idx="1">
                <c:v>66.400000000000006</c:v>
              </c:pt>
              <c:pt idx="2">
                <c:v>6.1</c:v>
              </c:pt>
              <c:pt idx="3">
                <c:v>0</c:v>
              </c:pt>
              <c:pt idx="4">
                <c:v>0</c:v>
              </c:pt>
              <c:pt idx="5">
                <c:v>28</c:v>
              </c:pt>
            </c:numLit>
          </c:val>
          <c:extLst>
            <c:ext xmlns:c16="http://schemas.microsoft.com/office/drawing/2014/chart" uri="{C3380CC4-5D6E-409C-BE32-E72D297353CC}">
              <c16:uniqueId val="{00000013-C444-8947-B75E-2EE81BC10FD7}"/>
            </c:ext>
          </c:extLst>
        </c:ser>
        <c:dLbls>
          <c:showLegendKey val="0"/>
          <c:showVal val="0"/>
          <c:showCatName val="0"/>
          <c:showSerName val="0"/>
          <c:showPercent val="0"/>
          <c:showBubbleSize val="0"/>
        </c:dLbls>
        <c:gapWidth val="400"/>
        <c:axId val="1"/>
        <c:axId val="2"/>
      </c:barChart>
      <c:catAx>
        <c:axId val="1"/>
        <c:scaling>
          <c:orientation val="minMax"/>
        </c:scaling>
        <c:delete val="0"/>
        <c:axPos val="b"/>
        <c:numFmt formatCode="General" sourceLinked="0"/>
        <c:majorTickMark val="none"/>
        <c:minorTickMark val="none"/>
        <c:tickLblPos val="nextTo"/>
        <c:txPr>
          <a:bodyPr/>
          <a:lstStyle/>
          <a:p>
            <a:pPr>
              <a:defRPr sz="1800" b="0">
                <a:solidFill>
                  <a:srgbClr val="254117"/>
                </a:solidFill>
                <a:latin typeface="TT Fors"/>
              </a:defRPr>
            </a:pPr>
            <a:endParaRPr lang="en-GB"/>
          </a:p>
        </c:txPr>
        <c:crossAx val="2"/>
        <c:crosses val="autoZero"/>
        <c:auto val="1"/>
        <c:lblAlgn val="ctr"/>
        <c:lblOffset val="100"/>
        <c:noMultiLvlLbl val="1"/>
      </c:catAx>
      <c:valAx>
        <c:axId val="2"/>
        <c:scaling>
          <c:orientation val="minMax"/>
        </c:scaling>
        <c:delete val="1"/>
        <c:axPos val="l"/>
        <c:numFmt formatCode="0&quot;%&quot;" sourceLinked="1"/>
        <c:majorTickMark val="out"/>
        <c:minorTickMark val="none"/>
        <c:tickLblPos val="nextTo"/>
        <c:crossAx val="1"/>
        <c:crosses val="autoZero"/>
        <c:crossBetween val="between"/>
      </c:valAx>
    </c:plotArea>
    <c:plotVisOnly val="1"/>
    <c:dispBlanksAs val="zero"/>
    <c:showDLblsOverMax val="1"/>
  </c:chart>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D7E090-2892-354B-ADBD-86A52505DE2F}" type="datetimeFigureOut">
              <a:rPr lang="en-US" smtClean="0"/>
              <a:t>9/18/26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A1AE2A-65C7-454A-A28C-8F2FBAFDB8BF}" type="slidenum">
              <a:rPr lang="en-US" smtClean="0"/>
              <a:t>‹#›</a:t>
            </a:fld>
            <a:endParaRPr lang="en-US"/>
          </a:p>
        </p:txBody>
      </p:sp>
    </p:spTree>
    <p:extLst>
      <p:ext uri="{BB962C8B-B14F-4D97-AF65-F5344CB8AC3E}">
        <p14:creationId xmlns:p14="http://schemas.microsoft.com/office/powerpoint/2010/main" val="2109988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MY"/>
          </a:p>
        </p:txBody>
      </p:sp>
      <p:sp>
        <p:nvSpPr>
          <p:cNvPr id="4" name="Slide Number Placeholder 3"/>
          <p:cNvSpPr>
            <a:spLocks noGrp="1"/>
          </p:cNvSpPr>
          <p:nvPr>
            <p:ph type="sldNum" sz="quarter" idx="5"/>
          </p:nvPr>
        </p:nvSpPr>
        <p:spPr/>
        <p:txBody>
          <a:bodyPr/>
          <a:lstStyle/>
          <a:p>
            <a:fld id="{5FA1AE2A-65C7-454A-A28C-8F2FBAFDB8BF}" type="slidenum">
              <a:rPr lang="en-US" smtClean="0"/>
              <a:t>1</a:t>
            </a:fld>
            <a:endParaRPr lang="en-US"/>
          </a:p>
        </p:txBody>
      </p:sp>
    </p:spTree>
    <p:extLst>
      <p:ext uri="{BB962C8B-B14F-4D97-AF65-F5344CB8AC3E}">
        <p14:creationId xmlns:p14="http://schemas.microsoft.com/office/powerpoint/2010/main" val="33065883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3005B3-6B10-4E2B-7911-314ED630C0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581DB4-A571-B7A2-C5B7-0B24D633AD3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8832CB-405B-E49B-33F5-65CB2D19CB7C}"/>
              </a:ext>
            </a:extLst>
          </p:cNvPr>
          <p:cNvSpPr>
            <a:spLocks noGrp="1"/>
          </p:cNvSpPr>
          <p:nvPr>
            <p:ph type="body" idx="1"/>
          </p:nvPr>
        </p:nvSpPr>
        <p:spPr/>
        <p:txBody>
          <a:bodyPr/>
          <a:lstStyle/>
          <a:p>
            <a:r>
              <a:rPr lang="en-US"/>
              <a:t>Why study darkness?</a:t>
            </a:r>
            <a:br>
              <a:rPr lang="en-US"/>
            </a:br>
            <a:endParaRPr lang="en-US"/>
          </a:p>
          <a:p>
            <a:r>
              <a:rPr lang="en-US"/>
              <a:t>Climate targets on the screen</a:t>
            </a:r>
          </a:p>
          <a:p>
            <a:endParaRPr lang="en-US"/>
          </a:p>
          <a:p>
            <a:r>
              <a:rPr lang="en-US"/>
              <a:t>12m in new LED bulbs </a:t>
            </a:r>
          </a:p>
          <a:p>
            <a:endParaRPr lang="en-US"/>
          </a:p>
          <a:p>
            <a:r>
              <a:rPr lang="en-US"/>
              <a:t>alongside other incentives</a:t>
            </a:r>
          </a:p>
          <a:p>
            <a:endParaRPr lang="en-US"/>
          </a:p>
          <a:p>
            <a:r>
              <a:rPr lang="en-US"/>
              <a:t>positive effect</a:t>
            </a:r>
          </a:p>
          <a:p>
            <a:endParaRPr lang="en-US"/>
          </a:p>
          <a:p>
            <a:r>
              <a:rPr lang="en-US"/>
              <a:t>proves political will</a:t>
            </a:r>
          </a:p>
          <a:p>
            <a:endParaRPr lang="en-US"/>
          </a:p>
          <a:p>
            <a:r>
              <a:rPr lang="en-US"/>
              <a:t>We want to take this further</a:t>
            </a:r>
          </a:p>
        </p:txBody>
      </p:sp>
      <p:sp>
        <p:nvSpPr>
          <p:cNvPr id="4" name="Slide Number Placeholder 3">
            <a:extLst>
              <a:ext uri="{FF2B5EF4-FFF2-40B4-BE49-F238E27FC236}">
                <a16:creationId xmlns:a16="http://schemas.microsoft.com/office/drawing/2014/main" id="{43F71738-D2BA-68DC-0F5C-C6ED08DA6375}"/>
              </a:ext>
            </a:extLst>
          </p:cNvPr>
          <p:cNvSpPr>
            <a:spLocks noGrp="1"/>
          </p:cNvSpPr>
          <p:nvPr>
            <p:ph type="sldNum" sz="quarter" idx="5"/>
          </p:nvPr>
        </p:nvSpPr>
        <p:spPr/>
        <p:txBody>
          <a:bodyPr/>
          <a:lstStyle/>
          <a:p>
            <a:fld id="{5FA1AE2A-65C7-454A-A28C-8F2FBAFDB8BF}" type="slidenum">
              <a:rPr lang="en-US" smtClean="0"/>
              <a:t>2</a:t>
            </a:fld>
            <a:endParaRPr lang="en-US"/>
          </a:p>
        </p:txBody>
      </p:sp>
    </p:spTree>
    <p:extLst>
      <p:ext uri="{BB962C8B-B14F-4D97-AF65-F5344CB8AC3E}">
        <p14:creationId xmlns:p14="http://schemas.microsoft.com/office/powerpoint/2010/main" val="41771779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A5225-F16D-DEA5-E0D5-99ACA6D4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3CFBBE-4E49-CDA4-2256-38EC3A939C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90D14A-DDF3-AC21-A171-CFDD0319F43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D75FF19-A372-EB3D-935F-D4FB2A287710}"/>
              </a:ext>
            </a:extLst>
          </p:cNvPr>
          <p:cNvSpPr>
            <a:spLocks noGrp="1"/>
          </p:cNvSpPr>
          <p:nvPr>
            <p:ph type="sldNum" sz="quarter" idx="5"/>
          </p:nvPr>
        </p:nvSpPr>
        <p:spPr/>
        <p:txBody>
          <a:bodyPr/>
          <a:lstStyle/>
          <a:p>
            <a:fld id="{5FA1AE2A-65C7-454A-A28C-8F2FBAFDB8BF}" type="slidenum">
              <a:rPr lang="en-US" smtClean="0"/>
              <a:t>3</a:t>
            </a:fld>
            <a:endParaRPr lang="en-US"/>
          </a:p>
        </p:txBody>
      </p:sp>
    </p:spTree>
    <p:extLst>
      <p:ext uri="{BB962C8B-B14F-4D97-AF65-F5344CB8AC3E}">
        <p14:creationId xmlns:p14="http://schemas.microsoft.com/office/powerpoint/2010/main" val="36801886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F1653E-18D7-DB89-28D0-92E8C65D94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B32891-C0EA-0173-1665-C87CD59C25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F29333-A225-D4EC-2C13-B2D1D565C6C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EA83EDF-2902-6F4B-0E47-D96E926113CA}"/>
              </a:ext>
            </a:extLst>
          </p:cNvPr>
          <p:cNvSpPr>
            <a:spLocks noGrp="1"/>
          </p:cNvSpPr>
          <p:nvPr>
            <p:ph type="sldNum" sz="quarter" idx="5"/>
          </p:nvPr>
        </p:nvSpPr>
        <p:spPr/>
        <p:txBody>
          <a:bodyPr/>
          <a:lstStyle/>
          <a:p>
            <a:fld id="{5FA1AE2A-65C7-454A-A28C-8F2FBAFDB8BF}" type="slidenum">
              <a:rPr lang="en-US" smtClean="0"/>
              <a:t>4</a:t>
            </a:fld>
            <a:endParaRPr lang="en-US"/>
          </a:p>
        </p:txBody>
      </p:sp>
    </p:spTree>
    <p:extLst>
      <p:ext uri="{BB962C8B-B14F-4D97-AF65-F5344CB8AC3E}">
        <p14:creationId xmlns:p14="http://schemas.microsoft.com/office/powerpoint/2010/main" val="25310206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E1EDE-755B-5455-2944-A4CA29DD67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EC77D5-49F0-DDEC-C105-592116D493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919DA6-C7A9-2F7D-28F2-BBF2AFF71DCC}"/>
              </a:ext>
            </a:extLst>
          </p:cNvPr>
          <p:cNvSpPr>
            <a:spLocks noGrp="1"/>
          </p:cNvSpPr>
          <p:nvPr>
            <p:ph type="body" idx="1"/>
          </p:nvPr>
        </p:nvSpPr>
        <p:spPr/>
        <p:txBody>
          <a:bodyPr/>
          <a:lstStyle/>
          <a:p>
            <a:r>
              <a:rPr lang="en-US" sz="1200" b="0" i="0" kern="1200">
                <a:solidFill>
                  <a:schemeClr val="tx1"/>
                </a:solidFill>
                <a:effectLst/>
                <a:latin typeface="+mn-lt"/>
                <a:ea typeface="+mn-ea"/>
                <a:cs typeface="+mn-cs"/>
              </a:rPr>
              <a:t>Thanks Will, now we are going to talk about some of the limitations of our data</a:t>
            </a:r>
          </a:p>
          <a:p>
            <a:endParaRPr lang="en-US" sz="1200" b="0"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Firstly, the sensor counts aren’t perfectly accurate to begin with,</a:t>
            </a:r>
            <a:r>
              <a:rPr lang="en-US"/>
              <a:t> as you can see from these three images, conditions like darkness, rain, fog, and crowd density all degrade the camera's ability to accurately detect and count individuals. On top of that, cameras only capture specific angles and areas, which inevitably creates blind spots in the data.</a:t>
            </a:r>
            <a:r>
              <a:rPr lang="en-US" sz="1200" b="0" i="0" kern="1200">
                <a:solidFill>
                  <a:schemeClr val="tx1"/>
                </a:solidFill>
                <a:effectLst/>
                <a:latin typeface="+mn-lt"/>
                <a:ea typeface="+mn-ea"/>
                <a:cs typeface="+mn-cs"/>
              </a:rPr>
              <a:t> We think these are worth keeping in mind as this means that any effects we measure are likely underestimates.</a:t>
            </a:r>
          </a:p>
          <a:p>
            <a:endParaRPr lang="en-US" sz="1200" b="0"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Now I will hand you over to Karan to talk about data processing</a:t>
            </a:r>
          </a:p>
          <a:p>
            <a:endParaRPr lang="en-US"/>
          </a:p>
        </p:txBody>
      </p:sp>
      <p:sp>
        <p:nvSpPr>
          <p:cNvPr id="4" name="Slide Number Placeholder 3">
            <a:extLst>
              <a:ext uri="{FF2B5EF4-FFF2-40B4-BE49-F238E27FC236}">
                <a16:creationId xmlns:a16="http://schemas.microsoft.com/office/drawing/2014/main" id="{FD1E1A62-64EF-7788-319E-5B18C2DDE624}"/>
              </a:ext>
            </a:extLst>
          </p:cNvPr>
          <p:cNvSpPr>
            <a:spLocks noGrp="1"/>
          </p:cNvSpPr>
          <p:nvPr>
            <p:ph type="sldNum" sz="quarter" idx="5"/>
          </p:nvPr>
        </p:nvSpPr>
        <p:spPr/>
        <p:txBody>
          <a:bodyPr/>
          <a:lstStyle/>
          <a:p>
            <a:fld id="{5FA1AE2A-65C7-454A-A28C-8F2FBAFDB8BF}" type="slidenum">
              <a:rPr lang="en-US" smtClean="0"/>
              <a:t>5</a:t>
            </a:fld>
            <a:endParaRPr lang="en-US"/>
          </a:p>
        </p:txBody>
      </p:sp>
    </p:spTree>
    <p:extLst>
      <p:ext uri="{BB962C8B-B14F-4D97-AF65-F5344CB8AC3E}">
        <p14:creationId xmlns:p14="http://schemas.microsoft.com/office/powerpoint/2010/main" val="39575013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 now were going to talk about how we processed our data before putting it into our model</a:t>
            </a:r>
          </a:p>
          <a:p>
            <a:endParaRPr lang="en-US"/>
          </a:p>
          <a:p>
            <a:r>
              <a:rPr lang="en-US"/>
              <a:t>On the map on the right you can see how we split our data into 4 groups.</a:t>
            </a:r>
          </a:p>
          <a:p>
            <a:endParaRPr lang="en-US"/>
          </a:p>
          <a:p>
            <a:r>
              <a:rPr lang="en-US"/>
              <a:t>North cluster purple</a:t>
            </a:r>
          </a:p>
          <a:p>
            <a:endParaRPr lang="en-US"/>
          </a:p>
          <a:p>
            <a:r>
              <a:rPr lang="en-US"/>
              <a:t>Central Cluster Blue</a:t>
            </a:r>
          </a:p>
          <a:p>
            <a:endParaRPr lang="en-US"/>
          </a:p>
          <a:p>
            <a:r>
              <a:rPr lang="en-US"/>
              <a:t>East Cluster Orange</a:t>
            </a:r>
          </a:p>
          <a:p>
            <a:endParaRPr lang="en-US"/>
          </a:p>
          <a:p>
            <a:r>
              <a:rPr lang="en-US"/>
              <a:t>And all sensors  that </a:t>
            </a:r>
            <a:r>
              <a:rPr lang="en-US" err="1"/>
              <a:t>werent</a:t>
            </a:r>
            <a:r>
              <a:rPr lang="en-US"/>
              <a:t> clustered were put into the outlier group in grey</a:t>
            </a:r>
          </a:p>
          <a:p>
            <a:endParaRPr lang="en-US"/>
          </a:p>
          <a:p>
            <a:r>
              <a:rPr lang="en-GB"/>
              <a:t>We did this to explore if the effect of darkness differed across local areas in Bristol.</a:t>
            </a:r>
          </a:p>
          <a:p>
            <a:endParaRPr lang="en-US"/>
          </a:p>
          <a:p>
            <a:r>
              <a:rPr lang="en-US"/>
              <a:t>You can have a look at the technical note for more detail of how we did this</a:t>
            </a:r>
          </a:p>
        </p:txBody>
      </p:sp>
      <p:sp>
        <p:nvSpPr>
          <p:cNvPr id="4" name="Slide Number Placeholder 3"/>
          <p:cNvSpPr>
            <a:spLocks noGrp="1"/>
          </p:cNvSpPr>
          <p:nvPr>
            <p:ph type="sldNum" sz="quarter" idx="5"/>
          </p:nvPr>
        </p:nvSpPr>
        <p:spPr/>
        <p:txBody>
          <a:bodyPr/>
          <a:lstStyle/>
          <a:p>
            <a:fld id="{5FA1AE2A-65C7-454A-A28C-8F2FBAFDB8BF}" type="slidenum">
              <a:rPr lang="en-US" smtClean="0"/>
              <a:t>6</a:t>
            </a:fld>
            <a:endParaRPr lang="en-US"/>
          </a:p>
        </p:txBody>
      </p:sp>
    </p:spTree>
    <p:extLst>
      <p:ext uri="{BB962C8B-B14F-4D97-AF65-F5344CB8AC3E}">
        <p14:creationId xmlns:p14="http://schemas.microsoft.com/office/powerpoint/2010/main" val="3139883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 had to clean our data</a:t>
            </a:r>
          </a:p>
          <a:p>
            <a:endParaRPr lang="en-US"/>
          </a:p>
          <a:p>
            <a:r>
              <a:rPr lang="en-US"/>
              <a:t>We removed any sensors from our data set that had 7 or more days of CONSECUTIVE 0 counts across pedestrians and cyclists</a:t>
            </a:r>
          </a:p>
          <a:p>
            <a:endParaRPr lang="en-US"/>
          </a:p>
          <a:p>
            <a:r>
              <a:rPr lang="en-US"/>
              <a:t>and you can see all 21 removed sensors are highlighted in red on the map</a:t>
            </a:r>
          </a:p>
        </p:txBody>
      </p:sp>
      <p:sp>
        <p:nvSpPr>
          <p:cNvPr id="4" name="Slide Number Placeholder 3"/>
          <p:cNvSpPr>
            <a:spLocks noGrp="1"/>
          </p:cNvSpPr>
          <p:nvPr>
            <p:ph type="sldNum" sz="quarter" idx="5"/>
          </p:nvPr>
        </p:nvSpPr>
        <p:spPr/>
        <p:txBody>
          <a:bodyPr/>
          <a:lstStyle/>
          <a:p>
            <a:fld id="{5FA1AE2A-65C7-454A-A28C-8F2FBAFDB8BF}" type="slidenum">
              <a:rPr lang="en-US" smtClean="0"/>
              <a:t>7</a:t>
            </a:fld>
            <a:endParaRPr lang="en-US"/>
          </a:p>
        </p:txBody>
      </p:sp>
    </p:spTree>
    <p:extLst>
      <p:ext uri="{BB962C8B-B14F-4D97-AF65-F5344CB8AC3E}">
        <p14:creationId xmlns:p14="http://schemas.microsoft.com/office/powerpoint/2010/main" val="42779157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B44FEB-BAA2-B4AA-D2A4-ACEFA0C36F8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F76A85-F2E9-41D3-A214-1F405FDB307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6BE97F6-2B7C-A207-328F-9043030BF280}"/>
              </a:ext>
            </a:extLst>
          </p:cNvPr>
          <p:cNvSpPr>
            <a:spLocks noGrp="1"/>
          </p:cNvSpPr>
          <p:nvPr>
            <p:ph type="body" idx="1"/>
          </p:nvPr>
        </p:nvSpPr>
        <p:spPr/>
        <p:txBody>
          <a:bodyPr/>
          <a:lstStyle/>
          <a:p>
            <a:r>
              <a:rPr lang="en-US"/>
              <a:t>Now you can see the locations of our final sensors on the right</a:t>
            </a:r>
          </a:p>
          <a:p>
            <a:endParaRPr lang="en-US"/>
          </a:p>
          <a:p>
            <a:r>
              <a:rPr lang="en-US"/>
              <a:t>Look at the table one left</a:t>
            </a:r>
          </a:p>
          <a:p>
            <a:r>
              <a:rPr lang="en-US" err="1"/>
              <a:t>weve</a:t>
            </a:r>
            <a:r>
              <a:rPr lang="en-US"/>
              <a:t> gone from 58 to 37 sensors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Importantly we lost all 5 in our north cluster </a:t>
            </a:r>
          </a:p>
          <a:p>
            <a:endParaRPr lang="en-US"/>
          </a:p>
          <a:p>
            <a:r>
              <a:rPr lang="en-US"/>
              <a:t>But we still have 325 thousand rows of data for our model which is reasonable for estimating the effect of darkness</a:t>
            </a:r>
          </a:p>
          <a:p>
            <a:endParaRPr lang="en-US"/>
          </a:p>
          <a:p>
            <a:endParaRPr lang="en-US"/>
          </a:p>
        </p:txBody>
      </p:sp>
      <p:sp>
        <p:nvSpPr>
          <p:cNvPr id="4" name="Slide Number Placeholder 3">
            <a:extLst>
              <a:ext uri="{FF2B5EF4-FFF2-40B4-BE49-F238E27FC236}">
                <a16:creationId xmlns:a16="http://schemas.microsoft.com/office/drawing/2014/main" id="{7CFCB783-DF31-990F-00D0-3AD7D4AA569A}"/>
              </a:ext>
            </a:extLst>
          </p:cNvPr>
          <p:cNvSpPr>
            <a:spLocks noGrp="1"/>
          </p:cNvSpPr>
          <p:nvPr>
            <p:ph type="sldNum" sz="quarter" idx="5"/>
          </p:nvPr>
        </p:nvSpPr>
        <p:spPr/>
        <p:txBody>
          <a:bodyPr/>
          <a:lstStyle/>
          <a:p>
            <a:fld id="{5FA1AE2A-65C7-454A-A28C-8F2FBAFDB8BF}" type="slidenum">
              <a:rPr lang="en-US" smtClean="0"/>
              <a:t>8</a:t>
            </a:fld>
            <a:endParaRPr lang="en-US"/>
          </a:p>
        </p:txBody>
      </p:sp>
    </p:spTree>
    <p:extLst>
      <p:ext uri="{BB962C8B-B14F-4D97-AF65-F5344CB8AC3E}">
        <p14:creationId xmlns:p14="http://schemas.microsoft.com/office/powerpoint/2010/main" val="31311080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brings me on to case control</a:t>
            </a:r>
          </a:p>
          <a:p>
            <a:endParaRPr lang="en-US"/>
          </a:p>
          <a:p>
            <a:r>
              <a:rPr lang="en-US"/>
              <a:t>This has been used across many different studies measuring the effect of darkness and acts as our benchmark</a:t>
            </a:r>
          </a:p>
          <a:p>
            <a:endParaRPr lang="en-US"/>
          </a:p>
          <a:p>
            <a:r>
              <a:rPr lang="en-US"/>
              <a:t>On the left you can see we picked case hours - these are hours which change between light and dark depending on the season.</a:t>
            </a:r>
          </a:p>
          <a:p>
            <a:endParaRPr lang="en-US"/>
          </a:p>
          <a:p>
            <a:r>
              <a:rPr lang="en-US"/>
              <a:t>Importantly We excluded all data when its in </a:t>
            </a:r>
            <a:r>
              <a:rPr lang="en-US" err="1"/>
              <a:t>twighlight</a:t>
            </a:r>
            <a:r>
              <a:rPr lang="en-US"/>
              <a:t> as its </a:t>
            </a:r>
            <a:r>
              <a:rPr lang="en-US" err="1"/>
              <a:t>arbritrary</a:t>
            </a:r>
            <a:r>
              <a:rPr lang="en-US"/>
              <a:t> to say if it was light or dark.</a:t>
            </a:r>
          </a:p>
          <a:p>
            <a:endParaRPr lang="en-US"/>
          </a:p>
          <a:p>
            <a:r>
              <a:rPr lang="en-US"/>
              <a:t>On the right you see our control hours - these are hours that DO NOT CHANGE </a:t>
            </a:r>
            <a:r>
              <a:rPr lang="en-US" err="1"/>
              <a:t>dependant</a:t>
            </a:r>
            <a:r>
              <a:rPr lang="en-US"/>
              <a:t> on the season</a:t>
            </a:r>
          </a:p>
        </p:txBody>
      </p:sp>
      <p:sp>
        <p:nvSpPr>
          <p:cNvPr id="4" name="Slide Number Placeholder 3"/>
          <p:cNvSpPr>
            <a:spLocks noGrp="1"/>
          </p:cNvSpPr>
          <p:nvPr>
            <p:ph type="sldNum" sz="quarter" idx="5"/>
          </p:nvPr>
        </p:nvSpPr>
        <p:spPr/>
        <p:txBody>
          <a:bodyPr/>
          <a:lstStyle/>
          <a:p>
            <a:fld id="{5FA1AE2A-65C7-454A-A28C-8F2FBAFDB8BF}" type="slidenum">
              <a:rPr lang="en-US" smtClean="0"/>
              <a:t>9</a:t>
            </a:fld>
            <a:endParaRPr lang="en-US"/>
          </a:p>
        </p:txBody>
      </p:sp>
    </p:spTree>
    <p:extLst>
      <p:ext uri="{BB962C8B-B14F-4D97-AF65-F5344CB8AC3E}">
        <p14:creationId xmlns:p14="http://schemas.microsoft.com/office/powerpoint/2010/main" val="14327022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How did we use these case and control hours to make something useful</a:t>
            </a:r>
          </a:p>
          <a:p>
            <a:endParaRPr lang="en-US"/>
          </a:p>
          <a:p>
            <a:r>
              <a:rPr lang="en-US"/>
              <a:t>At the top you can see the formula: </a:t>
            </a:r>
            <a:r>
              <a:rPr lang="en-US" err="1"/>
              <a:t>Im</a:t>
            </a:r>
            <a:r>
              <a:rPr lang="en-US"/>
              <a:t> going to </a:t>
            </a:r>
            <a:r>
              <a:rPr lang="en-US" err="1"/>
              <a:t>breifly</a:t>
            </a:r>
            <a:r>
              <a:rPr lang="en-US"/>
              <a:t> explain how it works but more technical detail will be in the report</a:t>
            </a:r>
          </a:p>
          <a:p>
            <a:r>
              <a:rPr lang="en-US"/>
              <a:t>So we have two ratios here:</a:t>
            </a:r>
          </a:p>
          <a:p>
            <a:r>
              <a:rPr lang="en-GB" sz="1200" b="0" i="0" kern="1200">
                <a:solidFill>
                  <a:schemeClr val="tx1"/>
                </a:solidFill>
                <a:effectLst/>
                <a:latin typeface="+mn-lt"/>
                <a:ea typeface="+mn-ea"/>
                <a:cs typeface="+mn-cs"/>
              </a:rPr>
              <a:t>A / B is the daylight-to-dark count ratio for the case hour.</a:t>
            </a:r>
          </a:p>
          <a:p>
            <a:r>
              <a:rPr lang="en-GB" sz="1200" b="0" i="0" kern="1200">
                <a:solidFill>
                  <a:schemeClr val="tx1"/>
                </a:solidFill>
                <a:effectLst/>
                <a:latin typeface="+mn-lt"/>
                <a:ea typeface="+mn-ea"/>
                <a:cs typeface="+mn-cs"/>
              </a:rPr>
              <a:t>C / D is the equivalent ratio for the control hour over those same groups of dates.</a:t>
            </a:r>
          </a:p>
          <a:p>
            <a:r>
              <a:rPr lang="en-GB" sz="1200" b="0" i="0" kern="1200">
                <a:solidFill>
                  <a:schemeClr val="tx1"/>
                </a:solidFill>
                <a:effectLst/>
                <a:latin typeface="+mn-lt"/>
                <a:ea typeface="+mn-ea"/>
                <a:cs typeface="+mn-cs"/>
              </a:rPr>
              <a:t>The odds ratio is the Case over control ratio</a:t>
            </a:r>
            <a:br>
              <a:rPr lang="en-GB"/>
            </a:br>
            <a:endParaRPr lang="en-US"/>
          </a:p>
          <a:p>
            <a:r>
              <a:rPr lang="en-US"/>
              <a:t>This creates a large matrix of CASE CONTROL Hour PAIRS with different ratio values for each</a:t>
            </a:r>
          </a:p>
          <a:p>
            <a:endParaRPr lang="en-US"/>
          </a:p>
          <a:p>
            <a:r>
              <a:rPr lang="en-US"/>
              <a:t>Now to get something more interpretable we use the bottom formula</a:t>
            </a:r>
          </a:p>
          <a:p>
            <a:endParaRPr lang="en-US"/>
          </a:p>
          <a:p>
            <a:r>
              <a:rPr lang="en-US"/>
              <a:t>This uses a weighted average to combine each pair into one pooled effect. The reason we use a weighted average here is to ensure that hours with higher overall count - have more effect on the final outcome. </a:t>
            </a:r>
          </a:p>
        </p:txBody>
      </p:sp>
      <p:sp>
        <p:nvSpPr>
          <p:cNvPr id="4" name="Slide Number Placeholder 3"/>
          <p:cNvSpPr>
            <a:spLocks noGrp="1"/>
          </p:cNvSpPr>
          <p:nvPr>
            <p:ph type="sldNum" sz="quarter" idx="5"/>
          </p:nvPr>
        </p:nvSpPr>
        <p:spPr/>
        <p:txBody>
          <a:bodyPr/>
          <a:lstStyle/>
          <a:p>
            <a:fld id="{5FA1AE2A-65C7-454A-A28C-8F2FBAFDB8BF}" type="slidenum">
              <a:rPr lang="en-US" smtClean="0"/>
              <a:t>10</a:t>
            </a:fld>
            <a:endParaRPr lang="en-US"/>
          </a:p>
        </p:txBody>
      </p:sp>
    </p:spTree>
    <p:extLst>
      <p:ext uri="{BB962C8B-B14F-4D97-AF65-F5344CB8AC3E}">
        <p14:creationId xmlns:p14="http://schemas.microsoft.com/office/powerpoint/2010/main" val="20511106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5FA1AE2A-65C7-454A-A28C-8F2FBAFDB8BF}" type="slidenum">
              <a:rPr lang="en-US" smtClean="0"/>
              <a:t>11</a:t>
            </a:fld>
            <a:endParaRPr lang="en-US"/>
          </a:p>
        </p:txBody>
      </p:sp>
    </p:spTree>
    <p:extLst>
      <p:ext uri="{BB962C8B-B14F-4D97-AF65-F5344CB8AC3E}">
        <p14:creationId xmlns:p14="http://schemas.microsoft.com/office/powerpoint/2010/main" val="11224319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779DB-37D9-AACD-C231-659F798739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21D07B-67F5-6034-189F-67575D17C3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CD4495-D88E-1C87-63FD-D14751911DF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95047F7-6D66-E0C2-2108-465A8B6501FE}"/>
              </a:ext>
            </a:extLst>
          </p:cNvPr>
          <p:cNvSpPr>
            <a:spLocks noGrp="1"/>
          </p:cNvSpPr>
          <p:nvPr>
            <p:ph type="sldNum" sz="quarter" idx="5"/>
          </p:nvPr>
        </p:nvSpPr>
        <p:spPr/>
        <p:txBody>
          <a:bodyPr/>
          <a:lstStyle/>
          <a:p>
            <a:fld id="{5FA1AE2A-65C7-454A-A28C-8F2FBAFDB8BF}" type="slidenum">
              <a:rPr lang="en-US" smtClean="0"/>
              <a:t>12</a:t>
            </a:fld>
            <a:endParaRPr lang="en-US"/>
          </a:p>
        </p:txBody>
      </p:sp>
    </p:spTree>
    <p:extLst>
      <p:ext uri="{BB962C8B-B14F-4D97-AF65-F5344CB8AC3E}">
        <p14:creationId xmlns:p14="http://schemas.microsoft.com/office/powerpoint/2010/main" val="30069216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fld id="{5FA1AE2A-65C7-454A-A28C-8F2FBAFDB8BF}" type="slidenum">
              <a:rPr lang="en-US" smtClean="0"/>
              <a:t>13</a:t>
            </a:fld>
            <a:endParaRPr lang="en-US"/>
          </a:p>
        </p:txBody>
      </p:sp>
    </p:spTree>
    <p:extLst>
      <p:ext uri="{BB962C8B-B14F-4D97-AF65-F5344CB8AC3E}">
        <p14:creationId xmlns:p14="http://schemas.microsoft.com/office/powerpoint/2010/main" val="28962599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B779DB-37D9-AACD-C231-659F798739F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21D07B-67F5-6034-189F-67575D17C3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CD4495-D88E-1C87-63FD-D14751911DF6}"/>
              </a:ext>
            </a:extLst>
          </p:cNvPr>
          <p:cNvSpPr>
            <a:spLocks noGrp="1"/>
          </p:cNvSpPr>
          <p:nvPr>
            <p:ph type="body" idx="1"/>
          </p:nvPr>
        </p:nvSpPr>
        <p:spPr/>
        <p:txBody>
          <a:bodyPr/>
          <a:lstStyle/>
          <a:p>
            <a:r>
              <a:rPr lang="en-GB" sz="1200" b="0" i="0" kern="1200">
                <a:solidFill>
                  <a:schemeClr val="tx1"/>
                </a:solidFill>
                <a:effectLst/>
                <a:latin typeface="+mn-lt"/>
                <a:ea typeface="+mn-ea"/>
                <a:cs typeface="+mn-cs"/>
              </a:rPr>
              <a:t>Each model introduces a new interaction term </a:t>
            </a:r>
            <a:r>
              <a:rPr lang="en-GB" sz="1200" b="0" i="0" kern="1200" err="1">
                <a:solidFill>
                  <a:schemeClr val="tx1"/>
                </a:solidFill>
                <a:effectLst/>
                <a:latin typeface="+mn-lt"/>
                <a:ea typeface="+mn-ea"/>
                <a:cs typeface="+mn-cs"/>
              </a:rPr>
              <a:t>tht</a:t>
            </a:r>
            <a:r>
              <a:rPr lang="en-GB" sz="1200" b="0" i="0" kern="1200">
                <a:solidFill>
                  <a:schemeClr val="tx1"/>
                </a:solidFill>
                <a:effectLst/>
                <a:latin typeface="+mn-lt"/>
                <a:ea typeface="+mn-ea"/>
                <a:cs typeface="+mn-cs"/>
              </a:rPr>
              <a:t> isolates the feature's influence on the darkness penalty, while the fixed effects isolates everything that stays constant at a sensor</a:t>
            </a:r>
            <a:endParaRPr lang="en-GB"/>
          </a:p>
          <a:p>
            <a:endParaRPr lang="en-GB"/>
          </a:p>
          <a:p>
            <a:r>
              <a:rPr lang="en-GB"/>
              <a:t>chosen for their ability to drive policy</a:t>
            </a:r>
          </a:p>
        </p:txBody>
      </p:sp>
      <p:sp>
        <p:nvSpPr>
          <p:cNvPr id="4" name="Slide Number Placeholder 3">
            <a:extLst>
              <a:ext uri="{FF2B5EF4-FFF2-40B4-BE49-F238E27FC236}">
                <a16:creationId xmlns:a16="http://schemas.microsoft.com/office/drawing/2014/main" id="{695047F7-6D66-E0C2-2108-465A8B6501FE}"/>
              </a:ext>
            </a:extLst>
          </p:cNvPr>
          <p:cNvSpPr>
            <a:spLocks noGrp="1"/>
          </p:cNvSpPr>
          <p:nvPr>
            <p:ph type="sldNum" sz="quarter" idx="5"/>
          </p:nvPr>
        </p:nvSpPr>
        <p:spPr/>
        <p:txBody>
          <a:bodyPr/>
          <a:lstStyle/>
          <a:p>
            <a:fld id="{5FA1AE2A-65C7-454A-A28C-8F2FBAFDB8BF}" type="slidenum">
              <a:rPr lang="en-US" smtClean="0"/>
              <a:t>14</a:t>
            </a:fld>
            <a:endParaRPr lang="en-US"/>
          </a:p>
        </p:txBody>
      </p:sp>
    </p:spTree>
    <p:extLst>
      <p:ext uri="{BB962C8B-B14F-4D97-AF65-F5344CB8AC3E}">
        <p14:creationId xmlns:p14="http://schemas.microsoft.com/office/powerpoint/2010/main" val="22072771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ACA860-3C2C-BB07-8A70-EEA1AD2A8F3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AD6032B-6820-CAFD-1C05-2A3383BC6C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CF19B3-D28E-795A-2DB4-F80024387CB6}"/>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CDCE245-8FEC-5EFD-8431-B39AB95A8930}"/>
              </a:ext>
            </a:extLst>
          </p:cNvPr>
          <p:cNvSpPr>
            <a:spLocks noGrp="1"/>
          </p:cNvSpPr>
          <p:nvPr>
            <p:ph type="sldNum" sz="quarter" idx="5"/>
          </p:nvPr>
        </p:nvSpPr>
        <p:spPr/>
        <p:txBody>
          <a:bodyPr/>
          <a:lstStyle/>
          <a:p>
            <a:fld id="{5FA1AE2A-65C7-454A-A28C-8F2FBAFDB8BF}" type="slidenum">
              <a:rPr lang="en-US" smtClean="0"/>
              <a:t>15</a:t>
            </a:fld>
            <a:endParaRPr lang="en-US"/>
          </a:p>
        </p:txBody>
      </p:sp>
    </p:spTree>
    <p:extLst>
      <p:ext uri="{BB962C8B-B14F-4D97-AF65-F5344CB8AC3E}">
        <p14:creationId xmlns:p14="http://schemas.microsoft.com/office/powerpoint/2010/main" val="37422232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We found odds ratios for varying combinations of case </a:t>
            </a:r>
            <a:r>
              <a:rPr lang="en-GB" err="1"/>
              <a:t>anxd</a:t>
            </a:r>
            <a:r>
              <a:rPr lang="en-GB"/>
              <a:t> control hours an or of 1 means darkness has a decreasing effect on sensor count from day to </a:t>
            </a:r>
            <a:r>
              <a:rPr lang="en-GB" err="1"/>
              <a:t>darkso</a:t>
            </a:r>
            <a:r>
              <a:rPr lang="en-GB"/>
              <a:t> for example an odds ratio of 2 halves sensor </a:t>
            </a:r>
            <a:r>
              <a:rPr lang="en-GB" err="1"/>
              <a:t>coutn</a:t>
            </a:r>
            <a:r>
              <a:rPr lang="en-GB"/>
              <a:t>, from the the graph on the left we can see that morning hours</a:t>
            </a:r>
          </a:p>
        </p:txBody>
      </p:sp>
      <p:sp>
        <p:nvSpPr>
          <p:cNvPr id="4" name="Slide Number Placeholder 3"/>
          <p:cNvSpPr>
            <a:spLocks noGrp="1"/>
          </p:cNvSpPr>
          <p:nvPr>
            <p:ph type="sldNum" sz="quarter" idx="5"/>
          </p:nvPr>
        </p:nvSpPr>
        <p:spPr/>
        <p:txBody>
          <a:bodyPr/>
          <a:lstStyle/>
          <a:p>
            <a:fld id="{5FA1AE2A-65C7-454A-A28C-8F2FBAFDB8BF}" type="slidenum">
              <a:rPr lang="en-US" smtClean="0"/>
              <a:t>16</a:t>
            </a:fld>
            <a:endParaRPr lang="en-US"/>
          </a:p>
        </p:txBody>
      </p:sp>
    </p:spTree>
    <p:extLst>
      <p:ext uri="{BB962C8B-B14F-4D97-AF65-F5344CB8AC3E}">
        <p14:creationId xmlns:p14="http://schemas.microsoft.com/office/powerpoint/2010/main" val="40195862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 our </a:t>
            </a:r>
            <a:r>
              <a:rPr lang="en-US" err="1"/>
              <a:t>glm</a:t>
            </a:r>
            <a:r>
              <a:rPr lang="en-US"/>
              <a:t> results, 97% sensors showed lower pedestrian count in darkness which </a:t>
            </a:r>
            <a:r>
              <a:rPr lang="en-US" err="1"/>
              <a:t>represend</a:t>
            </a:r>
            <a:r>
              <a:rPr lang="en-US"/>
              <a:t> </a:t>
            </a:r>
            <a:r>
              <a:rPr lang="en-US" err="1"/>
              <a:t>sthe</a:t>
            </a:r>
            <a:r>
              <a:rPr lang="en-US"/>
              <a:t> overall trend , we </a:t>
            </a:r>
            <a:r>
              <a:rPr lang="en-US" err="1"/>
              <a:t>modelledthe</a:t>
            </a:r>
            <a:r>
              <a:rPr lang="en-US"/>
              <a:t> effect darkness firstly on its own, </a:t>
            </a:r>
            <a:r>
              <a:rPr lang="en-US" err="1"/>
              <a:t>cctv</a:t>
            </a:r>
            <a:r>
              <a:rPr lang="en-US"/>
              <a:t> and clustering coupled with darkness and safety as additional factors overall such as safety interaction and streetlights </a:t>
            </a:r>
            <a:r>
              <a:rPr lang="en-US" err="1"/>
              <a:t>simmiar</a:t>
            </a:r>
            <a:r>
              <a:rPr lang="en-US"/>
              <a:t> results around 34percent pooled p value exceptionally low highlighting robustness. </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a:t>Early morning hours of 5-6am saw a more than double decrease in sensor count compared to evening hours of 5- 9pm as seen in the graph, this occurred for both week days and weekends which rules out the morning commute as a sole explanation. The </a:t>
            </a:r>
            <a:r>
              <a:rPr lang="en-US" err="1"/>
              <a:t>samllest</a:t>
            </a:r>
            <a:r>
              <a:rPr lang="en-US"/>
              <a:t> penalty was in the east cluster as seen in the table which could signify other factors being the root cause for this difference, while limitations of camera sensors could also play a part as </a:t>
            </a:r>
            <a:r>
              <a:rPr lang="en-US" err="1"/>
              <a:t>jayden</a:t>
            </a:r>
            <a:r>
              <a:rPr lang="en-US"/>
              <a:t> will explore next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Thanks Tom, moving on to other factors we considered, we looked at whether </a:t>
            </a:r>
            <a:r>
              <a:rPr lang="en-US" err="1"/>
              <a:t>cctvs</a:t>
            </a:r>
            <a:r>
              <a:rPr lang="en-US"/>
              <a:t> and the safety score moderate the effect of darkness. The interaction between darkness and </a:t>
            </a:r>
            <a:r>
              <a:rPr lang="en-US" err="1"/>
              <a:t>cctvs</a:t>
            </a:r>
            <a:r>
              <a:rPr lang="en-US"/>
              <a:t> shows very high p-values for both pedestrians and cyclists, which is essentially no effect at all, suggesting CCTVs have little meaningful impact on how darkness affects counts. However, the interaction between darkness and safety tells a more interesting story, while it's not significant for pedestrians, it is highly significant for cyclists, meaning that in areas with higher perceived safety scores, the reduction in cycling activity during darkness is actually larger."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Finally, when looking at streetlights specifically, areas with low streetlight density see up to around a 45% reduction in pedestrian counts in darkness, and that effect consistently weakens as streetlight density increases, making it the largest moderating safety factor we found for pedestrians. For cyclists however, streetlights show little to no meaningful change across density levels. And this is where the physical limitations are particularly relevant because streetlights directly improve camera visibility in darkness, areas with better lighting likely also have more reliable counts. So the streetlight effect may actually be even stronger than what we're capturing here.</a:t>
            </a:r>
            <a:endParaRPr lang="en-GB"/>
          </a:p>
        </p:txBody>
      </p:sp>
      <p:sp>
        <p:nvSpPr>
          <p:cNvPr id="4" name="Slide Number Placeholder 3"/>
          <p:cNvSpPr>
            <a:spLocks noGrp="1"/>
          </p:cNvSpPr>
          <p:nvPr>
            <p:ph type="sldNum" sz="quarter" idx="5"/>
          </p:nvPr>
        </p:nvSpPr>
        <p:spPr/>
        <p:txBody>
          <a:bodyPr/>
          <a:lstStyle/>
          <a:p>
            <a:fld id="{5FA1AE2A-65C7-454A-A28C-8F2FBAFDB8BF}" type="slidenum">
              <a:rPr lang="en-US" smtClean="0"/>
              <a:t>20</a:t>
            </a:fld>
            <a:endParaRPr lang="en-US"/>
          </a:p>
        </p:txBody>
      </p:sp>
    </p:spTree>
    <p:extLst>
      <p:ext uri="{BB962C8B-B14F-4D97-AF65-F5344CB8AC3E}">
        <p14:creationId xmlns:p14="http://schemas.microsoft.com/office/powerpoint/2010/main" val="328393229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3FE29-BB88-C68A-E4A0-EB59C68598A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2751DE-E3B5-C723-F69D-ED46D3ED5C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9E4C9D-9558-266E-9D94-1A1CB022EA3C}"/>
              </a:ext>
            </a:extLst>
          </p:cNvPr>
          <p:cNvSpPr>
            <a:spLocks noGrp="1"/>
          </p:cNvSpPr>
          <p:nvPr>
            <p:ph type="body" idx="1"/>
          </p:nvPr>
        </p:nvSpPr>
        <p:spPr/>
        <p:txBody>
          <a:bodyPr/>
          <a:lstStyle/>
          <a:p>
            <a:r>
              <a:rPr lang="en-US" sz="1200" b="0" i="0" kern="1200">
                <a:solidFill>
                  <a:schemeClr val="tx1"/>
                </a:solidFill>
                <a:effectLst/>
                <a:latin typeface="+mn-lt"/>
                <a:ea typeface="+mn-ea"/>
                <a:cs typeface="+mn-cs"/>
              </a:rPr>
              <a:t>Before I pass you to Will, lets talk about some of the limitations of the model</a:t>
            </a:r>
          </a:p>
          <a:p>
            <a:endParaRPr lang="en-US" sz="1200" b="0" i="0" kern="1200">
              <a:solidFill>
                <a:schemeClr val="tx1"/>
              </a:solidFill>
              <a:effectLst/>
              <a:latin typeface="+mn-lt"/>
              <a:ea typeface="+mn-ea"/>
              <a:cs typeface="+mn-cs"/>
            </a:endParaRPr>
          </a:p>
          <a:p>
            <a:r>
              <a:rPr lang="en-US" sz="1200" b="0" i="0" kern="1200">
                <a:solidFill>
                  <a:schemeClr val="tx1"/>
                </a:solidFill>
                <a:effectLst/>
                <a:latin typeface="+mn-lt"/>
                <a:ea typeface="+mn-ea"/>
                <a:cs typeface="+mn-cs"/>
              </a:rPr>
              <a:t>Looking at the graphs, it clearly shows residual autocorrelation even with time controls, </a:t>
            </a:r>
            <a:r>
              <a:rPr lang="en-US"/>
              <a:t>which means some p-values from the GLM, such as the 0.16 from the darkness safety interaction term should be inferred with caution. This may be because we only used case hours instead of the whole time series, meaning the model only captures activity at specific points in the day rather than continuously</a:t>
            </a:r>
            <a:r>
              <a:rPr lang="en-US" sz="1200" b="0" i="0" kern="1200">
                <a:solidFill>
                  <a:schemeClr val="tx1"/>
                </a:solidFill>
                <a:effectLst/>
                <a:latin typeface="+mn-lt"/>
                <a:ea typeface="+mn-ea"/>
                <a:cs typeface="+mn-cs"/>
              </a:rPr>
              <a:t>. Finally, s</a:t>
            </a:r>
            <a:r>
              <a:rPr lang="en-US"/>
              <a:t>ome interactions in the model like the CCTV Darkness interaction term are statistically weak, which may just be adding noise into the model. </a:t>
            </a:r>
          </a:p>
          <a:p>
            <a:endParaRPr lang="en-US" sz="1200" b="0" i="0" kern="120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kern="1200">
                <a:solidFill>
                  <a:schemeClr val="tx1"/>
                </a:solidFill>
                <a:effectLst/>
                <a:latin typeface="+mn-lt"/>
                <a:ea typeface="+mn-ea"/>
                <a:cs typeface="+mn-cs"/>
              </a:rPr>
              <a:t>More details on this are available in the technical report</a:t>
            </a:r>
            <a:endParaRPr lang="en-US"/>
          </a:p>
          <a:p>
            <a:endParaRPr lang="en-US" sz="1200" b="0" i="0" kern="1200">
              <a:solidFill>
                <a:schemeClr val="tx1"/>
              </a:solidFill>
              <a:effectLst/>
              <a:latin typeface="+mn-lt"/>
              <a:ea typeface="+mn-ea"/>
              <a:cs typeface="+mn-cs"/>
            </a:endParaRPr>
          </a:p>
        </p:txBody>
      </p:sp>
      <p:sp>
        <p:nvSpPr>
          <p:cNvPr id="4" name="Slide Number Placeholder 3">
            <a:extLst>
              <a:ext uri="{FF2B5EF4-FFF2-40B4-BE49-F238E27FC236}">
                <a16:creationId xmlns:a16="http://schemas.microsoft.com/office/drawing/2014/main" id="{40B3081D-4E08-C480-2DA2-50CE2711D407}"/>
              </a:ext>
            </a:extLst>
          </p:cNvPr>
          <p:cNvSpPr>
            <a:spLocks noGrp="1"/>
          </p:cNvSpPr>
          <p:nvPr>
            <p:ph type="sldNum" sz="quarter" idx="5"/>
          </p:nvPr>
        </p:nvSpPr>
        <p:spPr/>
        <p:txBody>
          <a:bodyPr/>
          <a:lstStyle/>
          <a:p>
            <a:fld id="{5FA1AE2A-65C7-454A-A28C-8F2FBAFDB8BF}" type="slidenum">
              <a:rPr lang="en-US" smtClean="0"/>
              <a:t>21</a:t>
            </a:fld>
            <a:endParaRPr lang="en-US"/>
          </a:p>
        </p:txBody>
      </p:sp>
    </p:spTree>
    <p:extLst>
      <p:ext uri="{BB962C8B-B14F-4D97-AF65-F5344CB8AC3E}">
        <p14:creationId xmlns:p14="http://schemas.microsoft.com/office/powerpoint/2010/main" val="383784955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GB"/>
              <a:t>2 key points</a:t>
            </a:r>
          </a:p>
          <a:p>
            <a:endParaRPr lang="en-GB"/>
          </a:p>
          <a:p>
            <a:r>
              <a:rPr lang="en-GB"/>
              <a:t>Central</a:t>
            </a:r>
          </a:p>
          <a:p>
            <a:endParaRPr lang="en-GB"/>
          </a:p>
          <a:p>
            <a:r>
              <a:rPr lang="en-GB"/>
              <a:t>Streetlights</a:t>
            </a:r>
          </a:p>
          <a:p>
            <a:endParaRPr lang="en-GB"/>
          </a:p>
          <a:p>
            <a:r>
              <a:rPr lang="en-GB"/>
              <a:t>1SD increase</a:t>
            </a:r>
          </a:p>
          <a:p>
            <a:endParaRPr lang="en-GB"/>
          </a:p>
          <a:p>
            <a:r>
              <a:rPr lang="en-GB"/>
              <a:t>203 increase</a:t>
            </a:r>
          </a:p>
          <a:p>
            <a:endParaRPr lang="en-GB"/>
          </a:p>
          <a:p>
            <a:r>
              <a:rPr lang="en-GB"/>
              <a:t>Problem solved?</a:t>
            </a:r>
          </a:p>
          <a:p>
            <a:endParaRPr lang="en-GB"/>
          </a:p>
          <a:p>
            <a:r>
              <a:rPr lang="en-GB"/>
              <a:t>Expansions of 12m </a:t>
            </a:r>
            <a:r>
              <a:rPr lang="en-GB" err="1"/>
              <a:t>proj</a:t>
            </a:r>
            <a:endParaRPr lang="en-GB"/>
          </a:p>
          <a:p>
            <a:endParaRPr lang="en-GB"/>
          </a:p>
          <a:p>
            <a:r>
              <a:rPr lang="en-GB"/>
              <a:t>Lets see a timeline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pPr marL="171450" indent="-171450">
              <a:buFont typeface="Arial" panose="020B0604020202020204" pitchFamily="34" charset="0"/>
              <a:buChar char="•"/>
            </a:pPr>
            <a:r>
              <a:rPr lang="en-GB"/>
              <a:t>Assume we see an increase of 203 ped per day as a result of the 1 SD increase (203)</a:t>
            </a:r>
          </a:p>
          <a:p>
            <a:endParaRPr lang="en-GB"/>
          </a:p>
          <a:p>
            <a:pPr marL="171450" indent="-171450">
              <a:buFont typeface="Arial" panose="020B0604020202020204" pitchFamily="34" charset="0"/>
              <a:buChar char="•"/>
            </a:pPr>
            <a:r>
              <a:rPr lang="en-GB"/>
              <a:t>Over 130 winter days (203 x 130)</a:t>
            </a:r>
          </a:p>
          <a:p>
            <a:endParaRPr lang="en-GB"/>
          </a:p>
          <a:p>
            <a:pPr marL="171450" indent="-171450">
              <a:buFont typeface="Arial" panose="020B0604020202020204" pitchFamily="34" charset="0"/>
              <a:buChar char="•"/>
            </a:pPr>
            <a:r>
              <a:rPr lang="en-GB"/>
              <a:t>Assuming half of them buy a coffee (203 x 130 x 2)</a:t>
            </a:r>
          </a:p>
          <a:p>
            <a:endParaRPr lang="en-GB"/>
          </a:p>
          <a:p>
            <a:pPr marL="171450" indent="-171450">
              <a:buFont typeface="Arial" panose="020B0604020202020204" pitchFamily="34" charset="0"/>
              <a:buChar char="•"/>
            </a:pPr>
            <a:r>
              <a:rPr lang="en-GB"/>
              <a:t>Increase in money in the local economy is £52,780</a:t>
            </a:r>
          </a:p>
          <a:p>
            <a:pPr marL="171450" indent="-171450">
              <a:buFont typeface="Arial" panose="020B0604020202020204" pitchFamily="34" charset="0"/>
              <a:buChar char="•"/>
            </a:pPr>
            <a:endParaRPr lang="en-GB"/>
          </a:p>
          <a:p>
            <a:pPr marL="171450" indent="-171450">
              <a:buFont typeface="Arial" panose="020B0604020202020204" pitchFamily="34" charset="0"/>
              <a:buChar char="•"/>
            </a:pPr>
            <a:r>
              <a:rPr lang="en-GB"/>
              <a:t>515 streetlamps in central cluster – ref Open Data Bristol https://</a:t>
            </a:r>
            <a:r>
              <a:rPr lang="en-GB" err="1"/>
              <a:t>opendata.bristol.gov.uk</a:t>
            </a:r>
            <a:r>
              <a:rPr lang="en-GB"/>
              <a:t>/datasets/a34a146f7f2041a8a39257466a7391f6_37/explore</a:t>
            </a:r>
          </a:p>
          <a:p>
            <a:pPr marL="171450" indent="-171450">
              <a:buFont typeface="Arial" panose="020B0604020202020204" pitchFamily="34" charset="0"/>
              <a:buChar char="•"/>
            </a:pPr>
            <a:endParaRPr lang="en-GB"/>
          </a:p>
          <a:p>
            <a:pPr marL="171450" indent="-171450">
              <a:buFont typeface="Arial" panose="020B0604020202020204" pitchFamily="34" charset="0"/>
              <a:buChar char="•"/>
            </a:pPr>
            <a:r>
              <a:rPr lang="en-GB" err="1"/>
              <a:t>Avg</a:t>
            </a:r>
            <a:r>
              <a:rPr lang="en-GB"/>
              <a:t> Cost per LED Upgrade ~£350 ref Bristol City Council </a:t>
            </a:r>
            <a:r>
              <a:rPr lang="en-GB" sz="1200" b="0" i="0" kern="1200">
                <a:solidFill>
                  <a:schemeClr val="tx1"/>
                </a:solidFill>
                <a:effectLst/>
                <a:latin typeface="+mn-lt"/>
                <a:ea typeface="+mn-ea"/>
                <a:cs typeface="+mn-cs"/>
              </a:rPr>
              <a:t>https://</a:t>
            </a:r>
            <a:r>
              <a:rPr lang="en-GB" sz="1200" b="0" i="0" kern="1200" err="1">
                <a:solidFill>
                  <a:schemeClr val="tx1"/>
                </a:solidFill>
                <a:effectLst/>
                <a:latin typeface="+mn-lt"/>
                <a:ea typeface="+mn-ea"/>
                <a:cs typeface="+mn-cs"/>
              </a:rPr>
              <a:t>www.publicsectorexecutive.com</a:t>
            </a:r>
            <a:r>
              <a:rPr lang="en-GB" sz="1200" b="0" i="0" kern="1200">
                <a:solidFill>
                  <a:schemeClr val="tx1"/>
                </a:solidFill>
                <a:effectLst/>
                <a:latin typeface="+mn-lt"/>
                <a:ea typeface="+mn-ea"/>
                <a:cs typeface="+mn-cs"/>
              </a:rPr>
              <a:t>/articles/</a:t>
            </a:r>
            <a:r>
              <a:rPr lang="en-GB" sz="1200" b="0" i="0" kern="1200" err="1">
                <a:solidFill>
                  <a:schemeClr val="tx1"/>
                </a:solidFill>
                <a:effectLst/>
                <a:latin typeface="+mn-lt"/>
                <a:ea typeface="+mn-ea"/>
                <a:cs typeface="+mn-cs"/>
              </a:rPr>
              <a:t>bristol</a:t>
            </a:r>
            <a:r>
              <a:rPr lang="en-GB" sz="1200" b="0" i="0" kern="1200">
                <a:solidFill>
                  <a:schemeClr val="tx1"/>
                </a:solidFill>
                <a:effectLst/>
                <a:latin typeface="+mn-lt"/>
                <a:ea typeface="+mn-ea"/>
                <a:cs typeface="+mn-cs"/>
              </a:rPr>
              <a:t>-city-council-LED-street-light</a:t>
            </a:r>
          </a:p>
          <a:p>
            <a:pPr marL="171450" indent="-171450">
              <a:buFont typeface="Arial" panose="020B0604020202020204" pitchFamily="34" charset="0"/>
              <a:buChar char="•"/>
            </a:pPr>
            <a:endParaRPr lang="en-GB" sz="1200" b="0" i="0" kern="1200">
              <a:solidFill>
                <a:schemeClr val="tx1"/>
              </a:solidFill>
              <a:effectLst/>
              <a:latin typeface="+mn-lt"/>
              <a:ea typeface="+mn-ea"/>
              <a:cs typeface="+mn-cs"/>
            </a:endParaRPr>
          </a:p>
          <a:p>
            <a:pPr marL="171450" indent="-171450">
              <a:buFont typeface="Arial" panose="020B0604020202020204" pitchFamily="34" charset="0"/>
              <a:buChar char="•"/>
            </a:pPr>
            <a:r>
              <a:rPr lang="en-GB" sz="1200" b="0" i="0" kern="1200">
                <a:solidFill>
                  <a:schemeClr val="tx1"/>
                </a:solidFill>
                <a:effectLst/>
                <a:latin typeface="+mn-lt"/>
                <a:ea typeface="+mn-ea"/>
                <a:cs typeface="+mn-cs"/>
              </a:rPr>
              <a:t>Total cost then is 515 x 350 = £180,250</a:t>
            </a:r>
          </a:p>
          <a:p>
            <a:pPr marL="171450" indent="-171450">
              <a:buFont typeface="Arial" panose="020B0604020202020204" pitchFamily="34" charset="0"/>
              <a:buChar char="•"/>
            </a:pPr>
            <a:endParaRPr lang="en-GB" sz="1200" b="0" i="0" kern="1200">
              <a:solidFill>
                <a:schemeClr val="tx1"/>
              </a:solidFill>
              <a:effectLst/>
              <a:latin typeface="+mn-lt"/>
              <a:ea typeface="+mn-ea"/>
              <a:cs typeface="+mn-cs"/>
            </a:endParaRPr>
          </a:p>
          <a:p>
            <a:pPr marL="171450" indent="-171450">
              <a:buFont typeface="Arial" panose="020B0604020202020204" pitchFamily="34" charset="0"/>
              <a:buChar char="•"/>
            </a:pPr>
            <a:r>
              <a:rPr lang="en-GB" sz="1200" b="0" i="0" kern="1200">
                <a:solidFill>
                  <a:schemeClr val="tx1"/>
                </a:solidFill>
                <a:effectLst/>
                <a:latin typeface="+mn-lt"/>
                <a:ea typeface="+mn-ea"/>
                <a:cs typeface="+mn-cs"/>
              </a:rPr>
              <a:t>This gives a 3.4 year ROI for the local economy.</a:t>
            </a:r>
            <a:endParaRPr lang="en-GB"/>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9/18/26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9/18/26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9/18/26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9/18/26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9/18/26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73462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9/18/26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7.xml"/><Relationship Id="rId1" Type="http://schemas.openxmlformats.org/officeDocument/2006/relationships/tags" Target="../tags/tag1.xml"/><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tags" Target="../tags/tag2.xml"/><Relationship Id="rId6" Type="http://schemas.openxmlformats.org/officeDocument/2006/relationships/image" Target="../media/image3.jpeg"/><Relationship Id="rId5" Type="http://schemas.openxmlformats.org/officeDocument/2006/relationships/image" Target="../media/image2.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notesSlide" Target="../notesSlides/notesSlide9.xml"/><Relationship Id="rId1" Type="http://schemas.openxmlformats.org/officeDocument/2006/relationships/slideLayout" Target="../slideLayouts/slideLayout7.xml"/><Relationship Id="rId4" Type="http://schemas.openxmlformats.org/officeDocument/2006/relationships/image" Target="../media/image13.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notesSlide" Target="../notesSlides/notesSlide22.xml"/><Relationship Id="rId2" Type="http://schemas.openxmlformats.org/officeDocument/2006/relationships/slideLayout" Target="../slideLayouts/slideLayout6.xml"/><Relationship Id="rId1" Type="http://schemas.openxmlformats.org/officeDocument/2006/relationships/tags" Target="../tags/tag3.xml"/><Relationship Id="rId5" Type="http://schemas.openxmlformats.org/officeDocument/2006/relationships/chart" Target="../charts/chart3.xml"/><Relationship Id="rId4" Type="http://schemas.openxmlformats.org/officeDocument/2006/relationships/chart" Target="../charts/char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07BA47-0AF5-38B2-838B-29CEC776042F}"/>
              </a:ext>
            </a:extLst>
          </p:cNvPr>
          <p:cNvSpPr>
            <a:spLocks noGrp="1"/>
          </p:cNvSpPr>
          <p:nvPr>
            <p:ph type="ctrTitle"/>
          </p:nvPr>
        </p:nvSpPr>
        <p:spPr>
          <a:xfrm>
            <a:off x="685800" y="1670781"/>
            <a:ext cx="16936994" cy="4301782"/>
          </a:xfrm>
        </p:spPr>
        <p:txBody>
          <a:bodyPr>
            <a:normAutofit/>
          </a:bodyPr>
          <a:lstStyle/>
          <a:p>
            <a:r>
              <a:rPr lang="en-GB" sz="8800">
                <a:solidFill>
                  <a:srgbClr val="003400"/>
                </a:solidFill>
                <a:latin typeface="ITC Avant Garde Gothic"/>
                <a:ea typeface="Calibri"/>
                <a:cs typeface="Calibri"/>
              </a:rPr>
              <a:t>How does darkness affect pedestrian and cyclist counts in Bristol?</a:t>
            </a:r>
          </a:p>
        </p:txBody>
      </p:sp>
      <p:sp>
        <p:nvSpPr>
          <p:cNvPr id="3" name="Subtitle 2">
            <a:extLst>
              <a:ext uri="{FF2B5EF4-FFF2-40B4-BE49-F238E27FC236}">
                <a16:creationId xmlns:a16="http://schemas.microsoft.com/office/drawing/2014/main" id="{7C59F4D6-FA4B-0556-7A14-32CB6EB72717}"/>
              </a:ext>
            </a:extLst>
          </p:cNvPr>
          <p:cNvSpPr>
            <a:spLocks noGrp="1"/>
          </p:cNvSpPr>
          <p:nvPr>
            <p:ph type="subTitle" idx="1"/>
          </p:nvPr>
        </p:nvSpPr>
        <p:spPr>
          <a:xfrm>
            <a:off x="1280215" y="6542903"/>
            <a:ext cx="15727570" cy="516265"/>
          </a:xfrm>
        </p:spPr>
        <p:txBody>
          <a:bodyPr vert="horz" lIns="91440" tIns="45720" rIns="91440" bIns="45720" rtlCol="0" anchor="t">
            <a:normAutofit fontScale="92500" lnSpcReduction="10000"/>
          </a:bodyPr>
          <a:lstStyle/>
          <a:p>
            <a:r>
              <a:rPr lang="en-GB">
                <a:latin typeface="TT Fors"/>
              </a:rPr>
              <a:t>Assessing whether darkness discourages nighttime activity</a:t>
            </a:r>
          </a:p>
        </p:txBody>
      </p:sp>
      <p:sp>
        <p:nvSpPr>
          <p:cNvPr id="5" name="Accent Line">
            <a:extLst>
              <a:ext uri="{FF2B5EF4-FFF2-40B4-BE49-F238E27FC236}">
                <a16:creationId xmlns:a16="http://schemas.microsoft.com/office/drawing/2014/main" id="{96E97F53-E35F-A48F-D5A9-9EF99C75DE39}"/>
              </a:ext>
            </a:extLst>
          </p:cNvPr>
          <p:cNvSpPr/>
          <p:nvPr/>
        </p:nvSpPr>
        <p:spPr>
          <a:xfrm>
            <a:off x="1266568" y="5972564"/>
            <a:ext cx="15748040" cy="0"/>
          </a:xfrm>
          <a:prstGeom prst="line">
            <a:avLst/>
          </a:prstGeom>
          <a:ln w="25400">
            <a:solidFill>
              <a:srgbClr val="619365"/>
            </a:solidFill>
          </a:ln>
        </p:spPr>
        <p:txBody>
          <a:bodyPr wrap="square">
            <a:spAutoFit/>
          </a:bodyPr>
          <a:lstStyle/>
          <a:p>
            <a:endParaRPr lang="en-US"/>
          </a:p>
        </p:txBody>
      </p:sp>
      <p:sp>
        <p:nvSpPr>
          <p:cNvPr id="6" name="Accent Line">
            <a:extLst>
              <a:ext uri="{FF2B5EF4-FFF2-40B4-BE49-F238E27FC236}">
                <a16:creationId xmlns:a16="http://schemas.microsoft.com/office/drawing/2014/main" id="{295DC12D-475F-D519-5BB8-394861E0157D}"/>
              </a:ext>
            </a:extLst>
          </p:cNvPr>
          <p:cNvSpPr/>
          <p:nvPr/>
        </p:nvSpPr>
        <p:spPr>
          <a:xfrm>
            <a:off x="1273391" y="7496068"/>
            <a:ext cx="15741217" cy="103475"/>
          </a:xfrm>
          <a:prstGeom prst="line">
            <a:avLst/>
          </a:prstGeom>
          <a:ln w="25400">
            <a:solidFill>
              <a:srgbClr val="619365"/>
            </a:solidFill>
          </a:ln>
        </p:spPr>
        <p:txBody>
          <a:bodyPr wrap="square">
            <a:spAutoFit/>
          </a:bodyPr>
          <a:lstStyle/>
          <a:p>
            <a:endParaRPr lang="en-US"/>
          </a:p>
        </p:txBody>
      </p:sp>
      <p:sp>
        <p:nvSpPr>
          <p:cNvPr id="4" name="Subtitle 2">
            <a:extLst>
              <a:ext uri="{FF2B5EF4-FFF2-40B4-BE49-F238E27FC236}">
                <a16:creationId xmlns:a16="http://schemas.microsoft.com/office/drawing/2014/main" id="{B55F93F3-A529-D642-5906-37C143E1DFB4}"/>
              </a:ext>
            </a:extLst>
          </p:cNvPr>
          <p:cNvSpPr txBox="1">
            <a:spLocks/>
          </p:cNvSpPr>
          <p:nvPr/>
        </p:nvSpPr>
        <p:spPr>
          <a:xfrm>
            <a:off x="685800" y="8177169"/>
            <a:ext cx="15727570" cy="516265"/>
          </a:xfrm>
          <a:prstGeom prst="rect">
            <a:avLst/>
          </a:prstGeom>
        </p:spPr>
        <p:txBody>
          <a:bodyPr vert="horz" lIns="91440" tIns="45720" rIns="91440" bIns="45720" rtlCol="0" anchor="t">
            <a:normAutofit fontScale="92500" lnSpcReduction="10000"/>
          </a:bodyPr>
          <a:lstStyle>
            <a:lvl1pPr marL="0" indent="0" algn="ctr" defTabSz="914400" rtl="0" eaLnBrk="1" latinLnBrk="0" hangingPunct="1">
              <a:spcBef>
                <a:spcPct val="20000"/>
              </a:spcBef>
              <a:buFont typeface="Arial" pitchFamily="34" charset="0"/>
              <a:buNone/>
              <a:defRPr sz="3200" kern="1200">
                <a:solidFill>
                  <a:schemeClr val="tx1">
                    <a:tint val="75000"/>
                  </a:schemeClr>
                </a:solidFill>
                <a:latin typeface="+mn-lt"/>
                <a:ea typeface="+mn-ea"/>
                <a:cs typeface="+mn-cs"/>
              </a:defRPr>
            </a:lvl1pPr>
            <a:lvl2pPr marL="457200" indent="0" algn="ctr" defTabSz="914400" rtl="0" eaLnBrk="1" latinLnBrk="0" hangingPunct="1">
              <a:spcBef>
                <a:spcPct val="20000"/>
              </a:spcBef>
              <a:buFont typeface="Arial" pitchFamily="34" charset="0"/>
              <a:buNone/>
              <a:defRPr sz="2800" kern="1200">
                <a:solidFill>
                  <a:schemeClr val="tx1">
                    <a:tint val="75000"/>
                  </a:schemeClr>
                </a:solidFill>
                <a:latin typeface="+mn-lt"/>
                <a:ea typeface="+mn-ea"/>
                <a:cs typeface="+mn-cs"/>
              </a:defRPr>
            </a:lvl2pPr>
            <a:lvl3pPr marL="914400" indent="0" algn="ctr" defTabSz="914400" rtl="0" eaLnBrk="1" latinLnBrk="0" hangingPunct="1">
              <a:spcBef>
                <a:spcPct val="20000"/>
              </a:spcBef>
              <a:buFont typeface="Arial" pitchFamily="34" charset="0"/>
              <a:buNone/>
              <a:defRPr sz="2400" kern="1200">
                <a:solidFill>
                  <a:schemeClr val="tx1">
                    <a:tint val="75000"/>
                  </a:schemeClr>
                </a:solidFill>
                <a:latin typeface="+mn-lt"/>
                <a:ea typeface="+mn-ea"/>
                <a:cs typeface="+mn-cs"/>
              </a:defRPr>
            </a:lvl3pPr>
            <a:lvl4pPr marL="1371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4pPr>
            <a:lvl5pPr marL="18288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5pPr>
            <a:lvl6pPr marL="22860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6pPr>
            <a:lvl7pPr marL="27432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7pPr>
            <a:lvl8pPr marL="32004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8pPr>
            <a:lvl9pPr marL="3657600" indent="0" algn="ctr" defTabSz="914400" rtl="0" eaLnBrk="1" latinLnBrk="0" hangingPunct="1">
              <a:spcBef>
                <a:spcPct val="20000"/>
              </a:spcBef>
              <a:buFont typeface="Arial" pitchFamily="34" charset="0"/>
              <a:buNone/>
              <a:defRPr sz="2000" kern="1200">
                <a:solidFill>
                  <a:schemeClr val="tx1">
                    <a:tint val="75000"/>
                  </a:schemeClr>
                </a:solidFill>
                <a:latin typeface="+mn-lt"/>
                <a:ea typeface="+mn-ea"/>
                <a:cs typeface="+mn-cs"/>
              </a:defRPr>
            </a:lvl9pPr>
          </a:lstStyle>
          <a:p>
            <a:r>
              <a:rPr lang="en-GB" dirty="0">
                <a:latin typeface="TT Fors"/>
              </a:rPr>
              <a:t>Group members: Shavarsh, Karan, Will, Tom, Jayden</a:t>
            </a:r>
          </a:p>
        </p:txBody>
      </p:sp>
    </p:spTree>
    <p:extLst>
      <p:ext uri="{BB962C8B-B14F-4D97-AF65-F5344CB8AC3E}">
        <p14:creationId xmlns:p14="http://schemas.microsoft.com/office/powerpoint/2010/main" val="2863246584"/>
      </p:ext>
    </p:extLst>
  </p:cSld>
  <p:clrMapOvr>
    <a:masterClrMapping/>
  </p:clrMapOvr>
  <mc:AlternateContent xmlns:mc="http://schemas.openxmlformats.org/markup-compatibility/2006" xmlns:p14="http://schemas.microsoft.com/office/powerpoint/2010/main">
    <mc:Choice Requires="p14">
      <p:transition p14:dur="0" advTm="6182"/>
    </mc:Choice>
    <mc:Fallback xmlns="">
      <p:transition advTm="6182"/>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6BC5F-8061-DD91-4F05-9E234BC409A4}"/>
            </a:ext>
          </a:extLst>
        </p:cNvPr>
        <p:cNvGrpSpPr/>
        <p:nvPr/>
      </p:nvGrpSpPr>
      <p:grpSpPr>
        <a:xfrm>
          <a:off x="0" y="0"/>
          <a:ext cx="0" cy="0"/>
          <a:chOff x="0" y="0"/>
          <a:chExt cx="0" cy="0"/>
        </a:xfrm>
      </p:grpSpPr>
      <p:sp>
        <p:nvSpPr>
          <p:cNvPr id="100" name="Title"/>
          <p:cNvSpPr txBox="1"/>
          <p:nvPr/>
        </p:nvSpPr>
        <p:spPr>
          <a:xfrm>
            <a:off x="673098" y="615951"/>
            <a:ext cx="11430000" cy="711200"/>
          </a:xfrm>
          <a:prstGeom prst="rect">
            <a:avLst/>
          </a:prstGeom>
          <a:noFill/>
          <a:ln>
            <a:noFill/>
          </a:ln>
        </p:spPr>
        <p:txBody>
          <a:bodyPr wrap="square" lIns="0" tIns="0" rIns="0" bIns="0"/>
          <a:lstStyle/>
          <a:p>
            <a:pPr algn="l"/>
            <a:r>
              <a:rPr lang="en-US" sz="5400">
                <a:solidFill>
                  <a:srgbClr val="254117"/>
                </a:solidFill>
                <a:latin typeface="ITC Avant Garde Gothic"/>
              </a:rPr>
              <a:t>Why study darkness in Bristol?</a:t>
            </a:r>
          </a:p>
        </p:txBody>
      </p:sp>
      <p:sp>
        <p:nvSpPr>
          <p:cNvPr id="102" name="Accent Line"/>
          <p:cNvSpPr/>
          <p:nvPr/>
        </p:nvSpPr>
        <p:spPr>
          <a:xfrm>
            <a:off x="381000" y="1625600"/>
            <a:ext cx="17526000" cy="0"/>
          </a:xfrm>
          <a:prstGeom prst="line">
            <a:avLst/>
          </a:prstGeom>
          <a:ln w="12700">
            <a:solidFill>
              <a:srgbClr val="619365"/>
            </a:solidFill>
          </a:ln>
        </p:spPr>
        <p:txBody>
          <a:bodyPr/>
          <a:lstStyle/>
          <a:p>
            <a:endParaRPr lang="en-US"/>
          </a:p>
        </p:txBody>
      </p:sp>
      <p:sp>
        <p:nvSpPr>
          <p:cNvPr id="130" name="Footnotes"/>
          <p:cNvSpPr txBox="1"/>
          <p:nvPr/>
        </p:nvSpPr>
        <p:spPr>
          <a:xfrm>
            <a:off x="673098" y="9036049"/>
            <a:ext cx="16941800" cy="635000"/>
          </a:xfrm>
          <a:prstGeom prst="rect">
            <a:avLst/>
          </a:prstGeom>
          <a:noFill/>
          <a:ln>
            <a:noFill/>
          </a:ln>
        </p:spPr>
        <p:txBody>
          <a:bodyPr wrap="square" lIns="0" tIns="0" rIns="0" bIns="0"/>
          <a:lstStyle/>
          <a:p>
            <a:pPr>
              <a:spcAft>
                <a:spcPts val="50"/>
              </a:spcAft>
            </a:pPr>
            <a:r>
              <a:rPr lang="en-US" sz="2000">
                <a:solidFill>
                  <a:srgbClr val="4A7A4E"/>
                </a:solidFill>
                <a:latin typeface="TT Fors"/>
              </a:rPr>
              <a:t>[1] Bristol LED street lighting: </a:t>
            </a:r>
            <a:r>
              <a:rPr lang="en-US" sz="2000" err="1">
                <a:solidFill>
                  <a:srgbClr val="4A7A4E"/>
                </a:solidFill>
                <a:latin typeface="TT Fors"/>
              </a:rPr>
              <a:t>bristol.gov.uk</a:t>
            </a:r>
            <a:r>
              <a:rPr lang="en-US" sz="2000">
                <a:solidFill>
                  <a:srgbClr val="4A7A4E"/>
                </a:solidFill>
                <a:latin typeface="TT Fors"/>
              </a:rPr>
              <a:t>  </a:t>
            </a:r>
          </a:p>
          <a:p>
            <a:pPr>
              <a:spcAft>
                <a:spcPts val="50"/>
              </a:spcAft>
            </a:pPr>
            <a:r>
              <a:rPr lang="en-US" sz="2000">
                <a:solidFill>
                  <a:srgbClr val="4A7A4E"/>
                </a:solidFill>
                <a:latin typeface="TT Fors"/>
              </a:rPr>
              <a:t>[2] East Bristol </a:t>
            </a:r>
            <a:r>
              <a:rPr lang="en-US" sz="2000" err="1">
                <a:solidFill>
                  <a:srgbClr val="4A7A4E"/>
                </a:solidFill>
                <a:latin typeface="TT Fors"/>
              </a:rPr>
              <a:t>Liveable</a:t>
            </a:r>
            <a:r>
              <a:rPr lang="en-US" sz="2000">
                <a:solidFill>
                  <a:srgbClr val="4A7A4E"/>
                </a:solidFill>
                <a:latin typeface="TT Fors"/>
              </a:rPr>
              <a:t> </a:t>
            </a:r>
            <a:r>
              <a:rPr lang="en-US" sz="2000" err="1">
                <a:solidFill>
                  <a:srgbClr val="4A7A4E"/>
                </a:solidFill>
                <a:latin typeface="TT Fors"/>
              </a:rPr>
              <a:t>Neighbourhood</a:t>
            </a:r>
            <a:r>
              <a:rPr lang="en-US" sz="2000">
                <a:solidFill>
                  <a:srgbClr val="4A7A4E"/>
                </a:solidFill>
                <a:latin typeface="TT Fors"/>
              </a:rPr>
              <a:t> monitoring report</a:t>
            </a:r>
          </a:p>
          <a:p>
            <a:pPr>
              <a:spcAft>
                <a:spcPts val="50"/>
              </a:spcAft>
            </a:pPr>
            <a:r>
              <a:rPr lang="en-US" sz="2000">
                <a:solidFill>
                  <a:srgbClr val="4A7A4E"/>
                </a:solidFill>
                <a:latin typeface="TT Fors"/>
              </a:rPr>
              <a:t>[3] Bristol climate targets: </a:t>
            </a:r>
            <a:r>
              <a:rPr lang="en-US" sz="2000" err="1">
                <a:solidFill>
                  <a:srgbClr val="4A7A4E"/>
                </a:solidFill>
                <a:latin typeface="TT Fors"/>
              </a:rPr>
              <a:t>bristol.gov.uk</a:t>
            </a:r>
            <a:endParaRPr lang="en-US" sz="2000">
              <a:solidFill>
                <a:srgbClr val="4A7A4E"/>
              </a:solidFill>
              <a:latin typeface="TT Fors"/>
            </a:endParaRPr>
          </a:p>
          <a:p>
            <a:pPr>
              <a:spcBef>
                <a:spcPts val="0"/>
              </a:spcBef>
              <a:spcAft>
                <a:spcPts val="50"/>
              </a:spcAft>
              <a:buNone/>
            </a:pPr>
            <a:endParaRPr lang="en-US">
              <a:solidFill>
                <a:srgbClr val="4A7A4E"/>
              </a:solidFill>
              <a:latin typeface="TT Fors"/>
            </a:endParaRPr>
          </a:p>
        </p:txBody>
      </p:sp>
      <p:sp>
        <p:nvSpPr>
          <p:cNvPr id="200" name="StatBox1"/>
          <p:cNvSpPr/>
          <p:nvPr/>
        </p:nvSpPr>
        <p:spPr>
          <a:xfrm>
            <a:off x="673098" y="3271060"/>
            <a:ext cx="8356600" cy="5553769"/>
          </a:xfrm>
          <a:prstGeom prst="roundRect">
            <a:avLst>
              <a:gd name="adj" fmla="val 5000"/>
            </a:avLst>
          </a:prstGeom>
          <a:solidFill>
            <a:srgbClr val="254117"/>
          </a:solidFill>
          <a:ln>
            <a:noFill/>
          </a:ln>
        </p:spPr>
        <p:txBody>
          <a:bodyPr wrap="square" lIns="144000" tIns="108000" rIns="144000" bIns="108000" anchor="ctr"/>
          <a:lstStyle/>
          <a:p>
            <a:pPr algn="ctr">
              <a:spcBef>
                <a:spcPts val="0"/>
              </a:spcBef>
              <a:spcAft>
                <a:spcPts val="50"/>
              </a:spcAft>
              <a:buNone/>
            </a:pPr>
            <a:r>
              <a:rPr lang="en-GB" sz="6600">
                <a:solidFill>
                  <a:srgbClr val="FFFFFF"/>
                </a:solidFill>
                <a:latin typeface="TT Fors"/>
              </a:rPr>
              <a:t>£12m</a:t>
            </a:r>
          </a:p>
          <a:p>
            <a:pPr algn="ctr">
              <a:spcBef>
                <a:spcPts val="0"/>
              </a:spcBef>
              <a:spcAft>
                <a:spcPts val="50"/>
              </a:spcAft>
              <a:buNone/>
            </a:pPr>
            <a:r>
              <a:rPr lang="en-GB" sz="2400">
                <a:solidFill>
                  <a:srgbClr val="FFFFFF"/>
                </a:solidFill>
                <a:latin typeface="TT Fors"/>
              </a:rPr>
              <a:t>LED upgrade</a:t>
            </a:r>
          </a:p>
          <a:p>
            <a:pPr algn="ctr">
              <a:spcBef>
                <a:spcPts val="0"/>
              </a:spcBef>
              <a:spcAft>
                <a:spcPts val="50"/>
              </a:spcAft>
              <a:buNone/>
            </a:pPr>
            <a:endParaRPr lang="en-GB" sz="2400">
              <a:solidFill>
                <a:srgbClr val="FFFFFF"/>
              </a:solidFill>
              <a:latin typeface="TT Fors"/>
            </a:endParaRPr>
          </a:p>
          <a:p>
            <a:pPr algn="ctr">
              <a:spcBef>
                <a:spcPts val="100"/>
              </a:spcBef>
              <a:spcAft>
                <a:spcPts val="0"/>
              </a:spcAft>
              <a:buNone/>
            </a:pPr>
            <a:r>
              <a:rPr lang="en-GB" sz="2400">
                <a:solidFill>
                  <a:srgbClr val="A8D5AB"/>
                </a:solidFill>
                <a:latin typeface="TT Fors"/>
              </a:rPr>
              <a:t>2023 - 2025 </a:t>
            </a:r>
            <a:r>
              <a:rPr lang="en-GB" sz="1600">
                <a:solidFill>
                  <a:srgbClr val="A8D5AB"/>
                </a:solidFill>
                <a:latin typeface="TT Fors"/>
              </a:rPr>
              <a:t>[1]</a:t>
            </a:r>
            <a:endParaRPr lang="en-GB">
              <a:solidFill>
                <a:srgbClr val="A8D5AB"/>
              </a:solidFill>
              <a:latin typeface="TT Fors"/>
            </a:endParaRPr>
          </a:p>
        </p:txBody>
      </p:sp>
      <p:sp>
        <p:nvSpPr>
          <p:cNvPr id="201" name="StatBox2"/>
          <p:cNvSpPr/>
          <p:nvPr/>
        </p:nvSpPr>
        <p:spPr>
          <a:xfrm>
            <a:off x="9258298" y="3252000"/>
            <a:ext cx="8356600" cy="5553769"/>
          </a:xfrm>
          <a:prstGeom prst="roundRect">
            <a:avLst>
              <a:gd name="adj" fmla="val 5000"/>
            </a:avLst>
          </a:prstGeom>
          <a:solidFill>
            <a:srgbClr val="254117"/>
          </a:solidFill>
          <a:ln>
            <a:noFill/>
          </a:ln>
        </p:spPr>
        <p:txBody>
          <a:bodyPr wrap="square" lIns="144000" tIns="72000" rIns="144000" bIns="72000" anchor="ctr"/>
          <a:lstStyle/>
          <a:p>
            <a:pPr algn="ctr">
              <a:spcBef>
                <a:spcPts val="0"/>
              </a:spcBef>
              <a:spcAft>
                <a:spcPts val="0"/>
              </a:spcAft>
              <a:buNone/>
            </a:pPr>
            <a:r>
              <a:rPr lang="en-GB" sz="2400" b="1" i="1">
                <a:solidFill>
                  <a:srgbClr val="C8E6CA"/>
                </a:solidFill>
                <a:latin typeface="TT Fors"/>
              </a:rPr>
              <a:t> </a:t>
            </a:r>
            <a:r>
              <a:rPr lang="en-GB" sz="6600" b="1">
                <a:solidFill>
                  <a:srgbClr val="FFFFFF"/>
                </a:solidFill>
                <a:latin typeface="ITC Avant Garde Gothic"/>
              </a:rPr>
              <a:t>7%</a:t>
            </a:r>
            <a:r>
              <a:rPr lang="en-GB" sz="2800">
                <a:solidFill>
                  <a:srgbClr val="FFFFFF"/>
                </a:solidFill>
                <a:latin typeface="TT Fors"/>
              </a:rPr>
              <a:t> walking increase</a:t>
            </a:r>
            <a:r>
              <a:rPr lang="en-GB" sz="2800">
                <a:solidFill>
                  <a:srgbClr val="A8D5AB"/>
                </a:solidFill>
                <a:latin typeface="TT Fors"/>
              </a:rPr>
              <a:t>    </a:t>
            </a:r>
          </a:p>
          <a:p>
            <a:pPr algn="ctr">
              <a:spcBef>
                <a:spcPts val="100"/>
              </a:spcBef>
              <a:spcAft>
                <a:spcPts val="50"/>
              </a:spcAft>
              <a:buNone/>
            </a:pPr>
            <a:r>
              <a:rPr lang="en-GB" sz="6600" b="1">
                <a:solidFill>
                  <a:srgbClr val="FFFFFF"/>
                </a:solidFill>
                <a:latin typeface="ITC Avant Garde Gothic"/>
              </a:rPr>
              <a:t>22%</a:t>
            </a:r>
            <a:r>
              <a:rPr lang="en-GB" sz="2800">
                <a:solidFill>
                  <a:srgbClr val="FFFFFF"/>
                </a:solidFill>
                <a:latin typeface="TT Fors"/>
              </a:rPr>
              <a:t> cycling increase</a:t>
            </a:r>
          </a:p>
          <a:p>
            <a:pPr algn="ctr">
              <a:spcBef>
                <a:spcPts val="100"/>
              </a:spcBef>
              <a:spcAft>
                <a:spcPts val="50"/>
              </a:spcAft>
              <a:buNone/>
            </a:pPr>
            <a:endParaRPr lang="en-GB" sz="2800">
              <a:solidFill>
                <a:srgbClr val="FFFFFF"/>
              </a:solidFill>
              <a:latin typeface="TT Fors"/>
            </a:endParaRPr>
          </a:p>
          <a:p>
            <a:pPr algn="ctr">
              <a:spcBef>
                <a:spcPts val="100"/>
              </a:spcBef>
              <a:spcAft>
                <a:spcPts val="0"/>
              </a:spcAft>
              <a:buNone/>
            </a:pPr>
            <a:r>
              <a:rPr lang="en-GB" sz="2400">
                <a:solidFill>
                  <a:srgbClr val="A8D5AB"/>
                </a:solidFill>
                <a:latin typeface="TT Fors"/>
              </a:rPr>
              <a:t>Across East Bristol (2025) </a:t>
            </a:r>
            <a:r>
              <a:rPr lang="en-GB" sz="1600">
                <a:solidFill>
                  <a:srgbClr val="A8D5AB"/>
                </a:solidFill>
                <a:latin typeface="TT Fors"/>
              </a:rPr>
              <a:t>[2]</a:t>
            </a:r>
            <a:endParaRPr lang="en-GB">
              <a:solidFill>
                <a:srgbClr val="A8D5AB"/>
              </a:solidFill>
              <a:latin typeface="TT Fors"/>
            </a:endParaRPr>
          </a:p>
        </p:txBody>
      </p:sp>
      <p:sp>
        <p:nvSpPr>
          <p:cNvPr id="21" name="TextBox 20">
            <a:extLst>
              <a:ext uri="{FF2B5EF4-FFF2-40B4-BE49-F238E27FC236}">
                <a16:creationId xmlns:a16="http://schemas.microsoft.com/office/drawing/2014/main" id="{71580DD0-B617-0785-065E-5E090BDDE13F}"/>
              </a:ext>
            </a:extLst>
          </p:cNvPr>
          <p:cNvSpPr txBox="1"/>
          <p:nvPr/>
        </p:nvSpPr>
        <p:spPr>
          <a:xfrm>
            <a:off x="673098" y="1890165"/>
            <a:ext cx="16202525" cy="938719"/>
          </a:xfrm>
          <a:prstGeom prst="rect">
            <a:avLst/>
          </a:prstGeom>
          <a:noFill/>
        </p:spPr>
        <p:txBody>
          <a:bodyPr wrap="square">
            <a:spAutoFit/>
          </a:bodyPr>
          <a:lstStyle/>
          <a:p>
            <a:pPr>
              <a:lnSpc>
                <a:spcPct val="150000"/>
              </a:lnSpc>
              <a:spcBef>
                <a:spcPts val="1200"/>
              </a:spcBef>
              <a:spcAft>
                <a:spcPts val="0"/>
              </a:spcAft>
            </a:pPr>
            <a:r>
              <a:rPr lang="en-GB" sz="4000">
                <a:solidFill>
                  <a:srgbClr val="254117"/>
                </a:solidFill>
                <a:latin typeface="TT Fors"/>
              </a:rPr>
              <a:t>Carbon neutral by 2030 + 55% active travel </a:t>
            </a:r>
            <a:r>
              <a:rPr lang="en-GB" sz="1600">
                <a:solidFill>
                  <a:srgbClr val="254117"/>
                </a:solidFill>
                <a:latin typeface="TT Fors"/>
              </a:rPr>
              <a:t>[3]</a:t>
            </a:r>
            <a:endParaRPr lang="en-GB" sz="2000">
              <a:solidFill>
                <a:srgbClr val="254117"/>
              </a:solidFill>
              <a:latin typeface="TT Fors"/>
            </a:endParaRPr>
          </a:p>
        </p:txBody>
      </p:sp>
    </p:spTree>
    <p:extLst>
      <p:ext uri="{BB962C8B-B14F-4D97-AF65-F5344CB8AC3E}">
        <p14:creationId xmlns:p14="http://schemas.microsoft.com/office/powerpoint/2010/main" val="3190831478"/>
      </p:ext>
    </p:extLst>
  </p:cSld>
  <p:clrMapOvr>
    <a:masterClrMapping/>
  </p:clrMapOvr>
  <mc:AlternateContent xmlns:mc="http://schemas.openxmlformats.org/markup-compatibility/2006" xmlns:p14="http://schemas.microsoft.com/office/powerpoint/2010/main">
    <mc:Choice Requires="p14">
      <p:transition p14:dur="0" advTm="23477"/>
    </mc:Choice>
    <mc:Fallback xmlns="">
      <p:transition advTm="23477"/>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57C5B-D048-2BF9-EBC4-2058BEA81C1E}"/>
            </a:ext>
          </a:extLst>
        </p:cNvPr>
        <p:cNvGrpSpPr/>
        <p:nvPr/>
      </p:nvGrpSpPr>
      <p:grpSpPr>
        <a:xfrm>
          <a:off x="0" y="0"/>
          <a:ext cx="0" cy="0"/>
          <a:chOff x="0" y="0"/>
          <a:chExt cx="0" cy="0"/>
        </a:xfrm>
      </p:grpSpPr>
      <p:sp>
        <p:nvSpPr>
          <p:cNvPr id="100" name="Title">
            <a:extLst>
              <a:ext uri="{FF2B5EF4-FFF2-40B4-BE49-F238E27FC236}">
                <a16:creationId xmlns:a16="http://schemas.microsoft.com/office/drawing/2014/main" id="{4782B766-3895-07CC-9063-058B001129D1}"/>
              </a:ext>
            </a:extLst>
          </p:cNvPr>
          <p:cNvSpPr txBox="1"/>
          <p:nvPr/>
        </p:nvSpPr>
        <p:spPr>
          <a:xfrm>
            <a:off x="673098" y="615951"/>
            <a:ext cx="11430000" cy="711200"/>
          </a:xfrm>
          <a:prstGeom prst="rect">
            <a:avLst/>
          </a:prstGeom>
          <a:noFill/>
          <a:ln>
            <a:noFill/>
          </a:ln>
        </p:spPr>
        <p:txBody>
          <a:bodyPr wrap="square" lIns="0" tIns="0" rIns="0" bIns="0"/>
          <a:lstStyle/>
          <a:p>
            <a:pPr algn="l"/>
            <a:r>
              <a:rPr lang="en-US" sz="5400">
                <a:solidFill>
                  <a:srgbClr val="254117"/>
                </a:solidFill>
                <a:latin typeface="ITC Avant Garde Gothic"/>
              </a:rPr>
              <a:t>What are our objectives?</a:t>
            </a:r>
          </a:p>
        </p:txBody>
      </p:sp>
      <p:sp>
        <p:nvSpPr>
          <p:cNvPr id="102" name="Accent Line">
            <a:extLst>
              <a:ext uri="{FF2B5EF4-FFF2-40B4-BE49-F238E27FC236}">
                <a16:creationId xmlns:a16="http://schemas.microsoft.com/office/drawing/2014/main" id="{01DFDF6B-6688-4E45-A182-CA0E35F1588E}"/>
              </a:ext>
            </a:extLst>
          </p:cNvPr>
          <p:cNvSpPr/>
          <p:nvPr/>
        </p:nvSpPr>
        <p:spPr>
          <a:xfrm>
            <a:off x="381000" y="1625600"/>
            <a:ext cx="17526000" cy="0"/>
          </a:xfrm>
          <a:prstGeom prst="line">
            <a:avLst/>
          </a:prstGeom>
          <a:ln w="12700">
            <a:solidFill>
              <a:srgbClr val="619365"/>
            </a:solidFill>
          </a:ln>
        </p:spPr>
        <p:txBody>
          <a:bodyPr/>
          <a:lstStyle/>
          <a:p>
            <a:endParaRPr lang="en-US"/>
          </a:p>
        </p:txBody>
      </p:sp>
      <p:sp>
        <p:nvSpPr>
          <p:cNvPr id="130" name="Footnotes">
            <a:extLst>
              <a:ext uri="{FF2B5EF4-FFF2-40B4-BE49-F238E27FC236}">
                <a16:creationId xmlns:a16="http://schemas.microsoft.com/office/drawing/2014/main" id="{A1EFC5E1-5446-EA56-F1A5-7CDADC73ED5A}"/>
              </a:ext>
            </a:extLst>
          </p:cNvPr>
          <p:cNvSpPr txBox="1"/>
          <p:nvPr/>
        </p:nvSpPr>
        <p:spPr>
          <a:xfrm>
            <a:off x="673098" y="9334499"/>
            <a:ext cx="16941800" cy="635000"/>
          </a:xfrm>
          <a:prstGeom prst="rect">
            <a:avLst/>
          </a:prstGeom>
          <a:noFill/>
          <a:ln>
            <a:noFill/>
          </a:ln>
        </p:spPr>
        <p:txBody>
          <a:bodyPr wrap="square" lIns="0" tIns="0" rIns="0" bIns="0"/>
          <a:lstStyle/>
          <a:p>
            <a:pPr>
              <a:spcBef>
                <a:spcPts val="0"/>
              </a:spcBef>
              <a:spcAft>
                <a:spcPts val="50"/>
              </a:spcAft>
              <a:buNone/>
            </a:pPr>
            <a:r>
              <a:rPr lang="en-US" sz="2400">
                <a:solidFill>
                  <a:srgbClr val="4A7A4E"/>
                </a:solidFill>
                <a:latin typeface="TT Fors"/>
              </a:rPr>
              <a:t>[4] Fotios et al. (2024), odds-ratio sensitivity</a:t>
            </a:r>
            <a:endParaRPr lang="en-US" sz="3200">
              <a:solidFill>
                <a:srgbClr val="4A7A4E"/>
              </a:solidFill>
              <a:latin typeface="TT Fors"/>
            </a:endParaRPr>
          </a:p>
        </p:txBody>
      </p:sp>
      <p:sp>
        <p:nvSpPr>
          <p:cNvPr id="202" name="StudySection">
            <a:extLst>
              <a:ext uri="{FF2B5EF4-FFF2-40B4-BE49-F238E27FC236}">
                <a16:creationId xmlns:a16="http://schemas.microsoft.com/office/drawing/2014/main" id="{D4CFBAFA-0FC4-D50C-2CF5-51B9BCAFB2AA}"/>
              </a:ext>
            </a:extLst>
          </p:cNvPr>
          <p:cNvSpPr/>
          <p:nvPr/>
        </p:nvSpPr>
        <p:spPr>
          <a:xfrm>
            <a:off x="673098" y="1756935"/>
            <a:ext cx="16941800" cy="7346949"/>
          </a:xfrm>
          <a:prstGeom prst="roundRect">
            <a:avLst>
              <a:gd name="adj" fmla="val 3000"/>
            </a:avLst>
          </a:prstGeom>
          <a:solidFill>
            <a:srgbClr val="E8F0E4"/>
          </a:solidFill>
          <a:ln>
            <a:noFill/>
          </a:ln>
        </p:spPr>
        <p:txBody>
          <a:bodyPr wrap="square" lIns="180000" tIns="126000" rIns="180000" bIns="126000" anchor="t"/>
          <a:lstStyle/>
          <a:p>
            <a:pPr algn="ctr">
              <a:buNone/>
            </a:pPr>
            <a:endParaRPr lang="en-GB" sz="1800"/>
          </a:p>
        </p:txBody>
      </p:sp>
      <p:sp>
        <p:nvSpPr>
          <p:cNvPr id="3" name="TextBox 2">
            <a:extLst>
              <a:ext uri="{FF2B5EF4-FFF2-40B4-BE49-F238E27FC236}">
                <a16:creationId xmlns:a16="http://schemas.microsoft.com/office/drawing/2014/main" id="{4D170175-5578-F5B6-2E0F-5CF2F217F0D1}"/>
              </a:ext>
            </a:extLst>
          </p:cNvPr>
          <p:cNvSpPr txBox="1"/>
          <p:nvPr/>
        </p:nvSpPr>
        <p:spPr>
          <a:xfrm>
            <a:off x="977870" y="2724249"/>
            <a:ext cx="8166130" cy="5232202"/>
          </a:xfrm>
          <a:prstGeom prst="rect">
            <a:avLst/>
          </a:prstGeom>
          <a:noFill/>
        </p:spPr>
        <p:txBody>
          <a:bodyPr wrap="square">
            <a:spAutoFit/>
          </a:bodyPr>
          <a:lstStyle/>
          <a:p>
            <a:pPr marL="457200" indent="-457200">
              <a:spcBef>
                <a:spcPts val="100"/>
              </a:spcBef>
              <a:spcAft>
                <a:spcPts val="100"/>
              </a:spcAft>
              <a:buFont typeface="+mj-lt"/>
              <a:buAutoNum type="arabicPeriod"/>
            </a:pPr>
            <a:r>
              <a:rPr lang="en-GB" sz="3600" b="1">
                <a:solidFill>
                  <a:srgbClr val="254117"/>
                </a:solidFill>
                <a:latin typeface="TT Fors"/>
              </a:rPr>
              <a:t>Gather local data</a:t>
            </a:r>
          </a:p>
          <a:p>
            <a:pPr marL="457200" indent="-457200">
              <a:spcBef>
                <a:spcPts val="100"/>
              </a:spcBef>
              <a:spcAft>
                <a:spcPts val="100"/>
              </a:spcAft>
              <a:buFont typeface="+mj-lt"/>
              <a:buAutoNum type="arabicPeriod"/>
            </a:pPr>
            <a:endParaRPr lang="en-GB" sz="3600" b="1">
              <a:solidFill>
                <a:srgbClr val="254117"/>
              </a:solidFill>
              <a:latin typeface="TT Fors"/>
            </a:endParaRPr>
          </a:p>
          <a:p>
            <a:pPr marL="457200" indent="-457200">
              <a:spcBef>
                <a:spcPts val="100"/>
              </a:spcBef>
              <a:spcAft>
                <a:spcPts val="100"/>
              </a:spcAft>
              <a:buFont typeface="+mj-lt"/>
              <a:buAutoNum type="arabicPeriod"/>
            </a:pPr>
            <a:endParaRPr lang="en-GB" sz="3600" b="1">
              <a:solidFill>
                <a:srgbClr val="254117"/>
              </a:solidFill>
              <a:latin typeface="TT Fors"/>
            </a:endParaRPr>
          </a:p>
          <a:p>
            <a:pPr marL="457200" indent="-457200">
              <a:spcBef>
                <a:spcPts val="100"/>
              </a:spcBef>
              <a:spcAft>
                <a:spcPts val="100"/>
              </a:spcAft>
              <a:buFont typeface="+mj-lt"/>
              <a:buAutoNum type="arabicPeriod"/>
            </a:pPr>
            <a:r>
              <a:rPr lang="en-GB" sz="3600" b="1">
                <a:solidFill>
                  <a:srgbClr val="254117"/>
                </a:solidFill>
                <a:latin typeface="TT Fors"/>
              </a:rPr>
              <a:t>Compare case-control OR and time-series GLM</a:t>
            </a:r>
          </a:p>
          <a:p>
            <a:pPr marL="457200" indent="-457200">
              <a:spcBef>
                <a:spcPts val="100"/>
              </a:spcBef>
              <a:spcAft>
                <a:spcPts val="100"/>
              </a:spcAft>
              <a:buFont typeface="+mj-lt"/>
              <a:buAutoNum type="arabicPeriod"/>
            </a:pPr>
            <a:endParaRPr lang="en-GB" sz="3600" b="1">
              <a:solidFill>
                <a:srgbClr val="254117"/>
              </a:solidFill>
              <a:latin typeface="TT Fors"/>
            </a:endParaRPr>
          </a:p>
          <a:p>
            <a:pPr marL="457200" indent="-457200">
              <a:spcBef>
                <a:spcPts val="100"/>
              </a:spcBef>
              <a:spcAft>
                <a:spcPts val="100"/>
              </a:spcAft>
              <a:buFont typeface="+mj-lt"/>
              <a:buAutoNum type="arabicPeriod"/>
            </a:pPr>
            <a:endParaRPr lang="en-GB" sz="3600" b="1">
              <a:solidFill>
                <a:srgbClr val="254117"/>
              </a:solidFill>
              <a:latin typeface="TT Fors"/>
            </a:endParaRPr>
          </a:p>
          <a:p>
            <a:pPr marL="457200" indent="-457200">
              <a:spcBef>
                <a:spcPts val="100"/>
              </a:spcBef>
              <a:spcAft>
                <a:spcPts val="0"/>
              </a:spcAft>
              <a:buFont typeface="+mj-lt"/>
              <a:buAutoNum type="arabicPeriod"/>
            </a:pPr>
            <a:r>
              <a:rPr lang="en-GB" sz="3600" b="1">
                <a:solidFill>
                  <a:srgbClr val="254117"/>
                </a:solidFill>
                <a:latin typeface="TT Fors"/>
              </a:rPr>
              <a:t>Inform lighting &amp; active-travel decisions</a:t>
            </a:r>
          </a:p>
        </p:txBody>
      </p:sp>
      <p:graphicFrame>
        <p:nvGraphicFramePr>
          <p:cNvPr id="5" name="Chart 4">
            <a:extLst>
              <a:ext uri="{FF2B5EF4-FFF2-40B4-BE49-F238E27FC236}">
                <a16:creationId xmlns:a16="http://schemas.microsoft.com/office/drawing/2014/main" id="{C3B45814-C9ED-D3C5-5342-5ED6189596FA}"/>
              </a:ext>
            </a:extLst>
          </p:cNvPr>
          <p:cNvGraphicFramePr/>
          <p:nvPr>
            <p:extLst>
              <p:ext uri="{D42A27DB-BD31-4B8C-83A1-F6EECF244321}">
                <p14:modId xmlns:p14="http://schemas.microsoft.com/office/powerpoint/2010/main" val="283949399"/>
              </p:ext>
            </p:extLst>
          </p:nvPr>
        </p:nvGraphicFramePr>
        <p:xfrm>
          <a:off x="7924800" y="2173716"/>
          <a:ext cx="10139680" cy="6767083"/>
        </p:xfrm>
        <a:graphic>
          <a:graphicData uri="http://schemas.openxmlformats.org/drawingml/2006/chart">
            <c:chart xmlns:c="http://schemas.openxmlformats.org/drawingml/2006/chart" xmlns:r="http://schemas.openxmlformats.org/officeDocument/2006/relationships" r:id="rId4"/>
          </a:graphicData>
        </a:graphic>
      </p:graphicFrame>
    </p:spTree>
    <p:custDataLst>
      <p:tags r:id="rId1"/>
    </p:custDataLst>
    <p:extLst>
      <p:ext uri="{BB962C8B-B14F-4D97-AF65-F5344CB8AC3E}">
        <p14:creationId xmlns:p14="http://schemas.microsoft.com/office/powerpoint/2010/main" val="1825050644"/>
      </p:ext>
    </p:extLst>
  </p:cSld>
  <p:clrMapOvr>
    <a:masterClrMapping/>
  </p:clrMapOvr>
  <mc:AlternateContent xmlns:mc="http://schemas.openxmlformats.org/markup-compatibility/2006" xmlns:p14="http://schemas.microsoft.com/office/powerpoint/2010/main">
    <mc:Choice Requires="p14">
      <p:transition p14:dur="0" advTm="25303"/>
    </mc:Choice>
    <mc:Fallback xmlns="">
      <p:transition advTm="25303"/>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6A0540-6DA6-189E-6116-CE66E268C45B}"/>
            </a:ext>
          </a:extLst>
        </p:cNvPr>
        <p:cNvGrpSpPr/>
        <p:nvPr/>
      </p:nvGrpSpPr>
      <p:grpSpPr>
        <a:xfrm>
          <a:off x="0" y="0"/>
          <a:ext cx="0" cy="0"/>
          <a:chOff x="0" y="0"/>
          <a:chExt cx="0" cy="0"/>
        </a:xfrm>
      </p:grpSpPr>
      <p:sp>
        <p:nvSpPr>
          <p:cNvPr id="12" name="StudySection">
            <a:extLst>
              <a:ext uri="{FF2B5EF4-FFF2-40B4-BE49-F238E27FC236}">
                <a16:creationId xmlns:a16="http://schemas.microsoft.com/office/drawing/2014/main" id="{78BB7F18-B0D2-4ECF-ACF4-683550357E79}"/>
              </a:ext>
            </a:extLst>
          </p:cNvPr>
          <p:cNvSpPr/>
          <p:nvPr/>
        </p:nvSpPr>
        <p:spPr>
          <a:xfrm>
            <a:off x="12432632" y="1650625"/>
            <a:ext cx="5487391" cy="7440860"/>
          </a:xfrm>
          <a:prstGeom prst="roundRect">
            <a:avLst>
              <a:gd name="adj" fmla="val 3000"/>
            </a:avLst>
          </a:prstGeom>
          <a:solidFill>
            <a:srgbClr val="E8F0E4"/>
          </a:solidFill>
          <a:ln>
            <a:noFill/>
          </a:ln>
        </p:spPr>
        <p:txBody>
          <a:bodyPr wrap="square" lIns="180000" tIns="126000" rIns="180000" bIns="126000" anchor="t"/>
          <a:lstStyle/>
          <a:p>
            <a:pPr algn="ctr">
              <a:buNone/>
            </a:pPr>
            <a:endParaRPr lang="en-GB" sz="1800"/>
          </a:p>
        </p:txBody>
      </p:sp>
      <p:sp>
        <p:nvSpPr>
          <p:cNvPr id="9" name="StudySection">
            <a:extLst>
              <a:ext uri="{FF2B5EF4-FFF2-40B4-BE49-F238E27FC236}">
                <a16:creationId xmlns:a16="http://schemas.microsoft.com/office/drawing/2014/main" id="{0ADA6005-A82D-E973-3B29-37C1BBDF339F}"/>
              </a:ext>
            </a:extLst>
          </p:cNvPr>
          <p:cNvSpPr/>
          <p:nvPr/>
        </p:nvSpPr>
        <p:spPr>
          <a:xfrm>
            <a:off x="6396547" y="1629186"/>
            <a:ext cx="5487391" cy="7317919"/>
          </a:xfrm>
          <a:prstGeom prst="roundRect">
            <a:avLst>
              <a:gd name="adj" fmla="val 3000"/>
            </a:avLst>
          </a:prstGeom>
          <a:solidFill>
            <a:srgbClr val="E8F0E4"/>
          </a:solidFill>
          <a:ln>
            <a:noFill/>
          </a:ln>
        </p:spPr>
        <p:txBody>
          <a:bodyPr wrap="square" lIns="180000" tIns="126000" rIns="180000" bIns="126000" anchor="t"/>
          <a:lstStyle/>
          <a:p>
            <a:pPr algn="ctr">
              <a:buNone/>
            </a:pPr>
            <a:endParaRPr lang="en-GB" sz="1800"/>
          </a:p>
        </p:txBody>
      </p:sp>
      <p:sp>
        <p:nvSpPr>
          <p:cNvPr id="4" name="StudySection">
            <a:extLst>
              <a:ext uri="{FF2B5EF4-FFF2-40B4-BE49-F238E27FC236}">
                <a16:creationId xmlns:a16="http://schemas.microsoft.com/office/drawing/2014/main" id="{CC340A6D-828A-FF22-0108-D65F70A55037}"/>
              </a:ext>
            </a:extLst>
          </p:cNvPr>
          <p:cNvSpPr/>
          <p:nvPr/>
        </p:nvSpPr>
        <p:spPr>
          <a:xfrm>
            <a:off x="360463" y="1669674"/>
            <a:ext cx="5487391" cy="7296482"/>
          </a:xfrm>
          <a:prstGeom prst="roundRect">
            <a:avLst>
              <a:gd name="adj" fmla="val 3000"/>
            </a:avLst>
          </a:prstGeom>
          <a:solidFill>
            <a:srgbClr val="E8F0E4"/>
          </a:solidFill>
          <a:ln>
            <a:noFill/>
          </a:ln>
        </p:spPr>
        <p:txBody>
          <a:bodyPr wrap="square" lIns="180000" tIns="126000" rIns="180000" bIns="126000" anchor="t"/>
          <a:lstStyle/>
          <a:p>
            <a:pPr algn="ctr">
              <a:buNone/>
            </a:pPr>
            <a:endParaRPr lang="en-GB" sz="1800"/>
          </a:p>
        </p:txBody>
      </p:sp>
      <p:pic>
        <p:nvPicPr>
          <p:cNvPr id="7" name="Picture 6">
            <a:extLst>
              <a:ext uri="{FF2B5EF4-FFF2-40B4-BE49-F238E27FC236}">
                <a16:creationId xmlns:a16="http://schemas.microsoft.com/office/drawing/2014/main" id="{05E4285E-909C-BFE4-4E33-FE9989758923}"/>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550181" y="2428916"/>
            <a:ext cx="5252292" cy="5609150"/>
          </a:xfrm>
          <a:prstGeom prst="rect">
            <a:avLst/>
          </a:prstGeom>
        </p:spPr>
      </p:pic>
      <p:pic>
        <p:nvPicPr>
          <p:cNvPr id="5" name="Picture 2" descr="A picture of VivaCity Labs AI sensors that captures traffic data">
            <a:extLst>
              <a:ext uri="{FF2B5EF4-FFF2-40B4-BE49-F238E27FC236}">
                <a16:creationId xmlns:a16="http://schemas.microsoft.com/office/drawing/2014/main" id="{CC01BDF9-6C28-78FC-8F6F-CF00D357884C}"/>
              </a:ext>
            </a:extLst>
          </p:cNvPr>
          <p:cNvPicPr>
            <a:picLocks noChangeAspect="1" noChangeArrowheads="1"/>
          </p:cNvPicPr>
          <p:nvPr/>
        </p:nvPicPr>
        <p:blipFill rotWithShape="1">
          <a:blip r:embed="rId5"/>
          <a:srcRect l="55324"/>
          <a:stretch>
            <a:fillRect/>
          </a:stretch>
        </p:blipFill>
        <p:spPr bwMode="auto">
          <a:xfrm>
            <a:off x="6730626" y="3279444"/>
            <a:ext cx="4819231" cy="4038841"/>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190DB85F-12C3-960B-BB29-23BEAFA27F46}"/>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91940" y="3279444"/>
            <a:ext cx="5224436" cy="4038841"/>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7144C7B9-BC3F-0244-829D-68E581B3A28C}"/>
              </a:ext>
            </a:extLst>
          </p:cNvPr>
          <p:cNvSpPr txBox="1"/>
          <p:nvPr/>
        </p:nvSpPr>
        <p:spPr>
          <a:xfrm>
            <a:off x="508000" y="381000"/>
            <a:ext cx="4785284" cy="769441"/>
          </a:xfrm>
          <a:prstGeom prst="rect">
            <a:avLst/>
          </a:prstGeom>
          <a:noFill/>
        </p:spPr>
        <p:txBody>
          <a:bodyPr vertOverflow="overflow" vert="horz" wrap="none" rtlCol="0" anchor="t">
            <a:spAutoFit/>
          </a:bodyPr>
          <a:lstStyle/>
          <a:p>
            <a:pPr algn="l"/>
            <a:r>
              <a:rPr lang="en-US" sz="4400" b="1">
                <a:solidFill>
                  <a:srgbClr val="254117"/>
                </a:solidFill>
                <a:latin typeface="ITC Avant Garde Gothic"/>
              </a:rPr>
              <a:t>Our Data Source</a:t>
            </a:r>
          </a:p>
        </p:txBody>
      </p:sp>
      <p:cxnSp>
        <p:nvCxnSpPr>
          <p:cNvPr id="11" name="Straight Arrow Connector 10">
            <a:extLst>
              <a:ext uri="{FF2B5EF4-FFF2-40B4-BE49-F238E27FC236}">
                <a16:creationId xmlns:a16="http://schemas.microsoft.com/office/drawing/2014/main" id="{48B31009-C63F-C443-AD5E-5571FEBEB46B}"/>
              </a:ext>
            </a:extLst>
          </p:cNvPr>
          <p:cNvCxnSpPr>
            <a:cxnSpLocks/>
          </p:cNvCxnSpPr>
          <p:nvPr/>
        </p:nvCxnSpPr>
        <p:spPr>
          <a:xfrm>
            <a:off x="508000" y="1150441"/>
            <a:ext cx="4785284" cy="0"/>
          </a:xfrm>
          <a:prstGeom prst="straightConnector1">
            <a:avLst/>
          </a:prstGeom>
          <a:ln w="38100" cap="flat" cmpd="sng" algn="ctr">
            <a:solidFill>
              <a:srgbClr val="619365"/>
            </a:solidFill>
            <a:prstDash val="solid"/>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3A2211E1-6724-FD46-A8D4-64FAF2ACC338}"/>
              </a:ext>
            </a:extLst>
          </p:cNvPr>
          <p:cNvSpPr/>
          <p:nvPr/>
        </p:nvSpPr>
        <p:spPr>
          <a:xfrm>
            <a:off x="639834" y="1893015"/>
            <a:ext cx="681224" cy="691348"/>
          </a:xfrm>
          <a:prstGeom prst="ellipse">
            <a:avLst/>
          </a:prstGeom>
          <a:solidFill>
            <a:srgbClr val="254117"/>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b="1">
                <a:solidFill>
                  <a:srgbClr val="FFFFFF"/>
                </a:solidFill>
                <a:latin typeface="ITC Avant Garde Gothic"/>
              </a:rPr>
              <a:t>1</a:t>
            </a:r>
          </a:p>
        </p:txBody>
      </p:sp>
      <p:sp>
        <p:nvSpPr>
          <p:cNvPr id="15" name="TextBox 14">
            <a:extLst>
              <a:ext uri="{FF2B5EF4-FFF2-40B4-BE49-F238E27FC236}">
                <a16:creationId xmlns:a16="http://schemas.microsoft.com/office/drawing/2014/main" id="{F8421C1D-6A17-3E4E-ACBE-99F05124C84F}"/>
              </a:ext>
            </a:extLst>
          </p:cNvPr>
          <p:cNvSpPr txBox="1"/>
          <p:nvPr/>
        </p:nvSpPr>
        <p:spPr>
          <a:xfrm>
            <a:off x="1650774" y="1976630"/>
            <a:ext cx="1746072" cy="535310"/>
          </a:xfrm>
          <a:prstGeom prst="rect">
            <a:avLst/>
          </a:prstGeom>
          <a:noFill/>
        </p:spPr>
        <p:txBody>
          <a:bodyPr vertOverflow="overflow" vert="horz" wrap="square" rtlCol="0" anchor="t">
            <a:noAutofit/>
          </a:bodyPr>
          <a:lstStyle/>
          <a:p>
            <a:pPr algn="l"/>
            <a:r>
              <a:rPr lang="en-US" sz="3600" b="1">
                <a:solidFill>
                  <a:srgbClr val="254117"/>
                </a:solidFill>
                <a:latin typeface="ITC Avant Garde Gothic"/>
              </a:rPr>
              <a:t>What?</a:t>
            </a:r>
          </a:p>
        </p:txBody>
      </p:sp>
      <p:sp>
        <p:nvSpPr>
          <p:cNvPr id="17" name="TextBox 16">
            <a:extLst>
              <a:ext uri="{FF2B5EF4-FFF2-40B4-BE49-F238E27FC236}">
                <a16:creationId xmlns:a16="http://schemas.microsoft.com/office/drawing/2014/main" id="{8E95D3EC-5ACE-2D4A-A919-E4226784433F}"/>
              </a:ext>
            </a:extLst>
          </p:cNvPr>
          <p:cNvSpPr txBox="1"/>
          <p:nvPr/>
        </p:nvSpPr>
        <p:spPr>
          <a:xfrm>
            <a:off x="7588824" y="1968563"/>
            <a:ext cx="1454263" cy="577117"/>
          </a:xfrm>
          <a:prstGeom prst="rect">
            <a:avLst/>
          </a:prstGeom>
          <a:noFill/>
        </p:spPr>
        <p:txBody>
          <a:bodyPr vertOverflow="overflow" vert="horz" wrap="square" rtlCol="0" anchor="t">
            <a:noAutofit/>
          </a:bodyPr>
          <a:lstStyle/>
          <a:p>
            <a:pPr algn="l"/>
            <a:r>
              <a:rPr lang="en-US" sz="3600" b="1">
                <a:solidFill>
                  <a:srgbClr val="254117"/>
                </a:solidFill>
                <a:latin typeface="ITC Avant Garde Gothic"/>
              </a:rPr>
              <a:t>How?</a:t>
            </a:r>
          </a:p>
        </p:txBody>
      </p:sp>
      <p:sp>
        <p:nvSpPr>
          <p:cNvPr id="19" name="TextBox 18">
            <a:extLst>
              <a:ext uri="{FF2B5EF4-FFF2-40B4-BE49-F238E27FC236}">
                <a16:creationId xmlns:a16="http://schemas.microsoft.com/office/drawing/2014/main" id="{637777FD-7E26-804D-B7DC-7D9CEB0FEFBC}"/>
              </a:ext>
            </a:extLst>
          </p:cNvPr>
          <p:cNvSpPr txBox="1"/>
          <p:nvPr/>
        </p:nvSpPr>
        <p:spPr>
          <a:xfrm>
            <a:off x="13843886" y="1949070"/>
            <a:ext cx="1962442" cy="579238"/>
          </a:xfrm>
          <a:prstGeom prst="rect">
            <a:avLst/>
          </a:prstGeom>
          <a:noFill/>
        </p:spPr>
        <p:txBody>
          <a:bodyPr vertOverflow="overflow" vert="horz" wrap="square" rtlCol="0" anchor="t">
            <a:noAutofit/>
          </a:bodyPr>
          <a:lstStyle/>
          <a:p>
            <a:pPr algn="l"/>
            <a:r>
              <a:rPr lang="en-US" sz="3600" b="1">
                <a:solidFill>
                  <a:srgbClr val="254117"/>
                </a:solidFill>
                <a:latin typeface="ITC Avant Garde Gothic"/>
              </a:rPr>
              <a:t>Where?</a:t>
            </a:r>
          </a:p>
        </p:txBody>
      </p:sp>
      <p:sp>
        <p:nvSpPr>
          <p:cNvPr id="22" name="TextBox 21">
            <a:extLst>
              <a:ext uri="{FF2B5EF4-FFF2-40B4-BE49-F238E27FC236}">
                <a16:creationId xmlns:a16="http://schemas.microsoft.com/office/drawing/2014/main" id="{33832599-6FAB-F247-A9D7-391E85D114DB}"/>
              </a:ext>
            </a:extLst>
          </p:cNvPr>
          <p:cNvSpPr txBox="1"/>
          <p:nvPr/>
        </p:nvSpPr>
        <p:spPr>
          <a:xfrm>
            <a:off x="558799" y="8279665"/>
            <a:ext cx="5252292" cy="388028"/>
          </a:xfrm>
          <a:prstGeom prst="rect">
            <a:avLst/>
          </a:prstGeom>
          <a:noFill/>
        </p:spPr>
        <p:txBody>
          <a:bodyPr vertOverflow="overflow" vert="horz" wrap="square" rtlCol="0" anchor="t">
            <a:noAutofit/>
          </a:bodyPr>
          <a:lstStyle/>
          <a:p>
            <a:pPr algn="ctr">
              <a:buNone/>
            </a:pPr>
            <a:r>
              <a:rPr lang="en-US" sz="2800" b="1">
                <a:solidFill>
                  <a:srgbClr val="444444"/>
                </a:solidFill>
                <a:latin typeface="TT Fors"/>
              </a:rPr>
              <a:t>Vivacity’s camera sensors </a:t>
            </a:r>
            <a:r>
              <a:rPr lang="en-US" sz="1600" b="1">
                <a:solidFill>
                  <a:srgbClr val="444444"/>
                </a:solidFill>
                <a:latin typeface="TT Fors"/>
              </a:rPr>
              <a:t>[5]</a:t>
            </a:r>
            <a:endParaRPr lang="en-US" sz="2800" b="1">
              <a:solidFill>
                <a:srgbClr val="444444"/>
              </a:solidFill>
              <a:latin typeface="TT Fors"/>
            </a:endParaRPr>
          </a:p>
        </p:txBody>
      </p:sp>
      <p:sp>
        <p:nvSpPr>
          <p:cNvPr id="23" name="TextBox 22">
            <a:extLst>
              <a:ext uri="{FF2B5EF4-FFF2-40B4-BE49-F238E27FC236}">
                <a16:creationId xmlns:a16="http://schemas.microsoft.com/office/drawing/2014/main" id="{2052217D-5EB0-6446-A7CC-5848FBAD7906}"/>
              </a:ext>
            </a:extLst>
          </p:cNvPr>
          <p:cNvSpPr txBox="1"/>
          <p:nvPr/>
        </p:nvSpPr>
        <p:spPr>
          <a:xfrm>
            <a:off x="6514097" y="8279665"/>
            <a:ext cx="5252292" cy="388028"/>
          </a:xfrm>
          <a:prstGeom prst="rect">
            <a:avLst/>
          </a:prstGeom>
          <a:noFill/>
        </p:spPr>
        <p:txBody>
          <a:bodyPr vertOverflow="overflow" vert="horz" wrap="square" rtlCol="0" anchor="t">
            <a:noAutofit/>
          </a:bodyPr>
          <a:lstStyle/>
          <a:p>
            <a:pPr algn="ctr">
              <a:buNone/>
            </a:pPr>
            <a:r>
              <a:rPr lang="en-US" sz="2800" b="1">
                <a:solidFill>
                  <a:srgbClr val="444444"/>
                </a:solidFill>
                <a:latin typeface="TT Fors"/>
              </a:rPr>
              <a:t>AI classification</a:t>
            </a:r>
          </a:p>
        </p:txBody>
      </p:sp>
      <p:sp>
        <p:nvSpPr>
          <p:cNvPr id="24" name="TextBox 23">
            <a:extLst>
              <a:ext uri="{FF2B5EF4-FFF2-40B4-BE49-F238E27FC236}">
                <a16:creationId xmlns:a16="http://schemas.microsoft.com/office/drawing/2014/main" id="{978DBAEF-2167-2649-8889-08312E60FFE5}"/>
              </a:ext>
            </a:extLst>
          </p:cNvPr>
          <p:cNvSpPr txBox="1"/>
          <p:nvPr/>
        </p:nvSpPr>
        <p:spPr>
          <a:xfrm>
            <a:off x="12550181" y="8276374"/>
            <a:ext cx="5252292" cy="391319"/>
          </a:xfrm>
          <a:prstGeom prst="rect">
            <a:avLst/>
          </a:prstGeom>
          <a:noFill/>
        </p:spPr>
        <p:txBody>
          <a:bodyPr vertOverflow="overflow" vert="horz" wrap="square" rtlCol="0" anchor="t">
            <a:noAutofit/>
          </a:bodyPr>
          <a:lstStyle/>
          <a:p>
            <a:pPr algn="ctr">
              <a:buNone/>
            </a:pPr>
            <a:r>
              <a:rPr lang="en-US" sz="2800" b="1">
                <a:solidFill>
                  <a:srgbClr val="444444"/>
                </a:solidFill>
                <a:latin typeface="TT Fors"/>
              </a:rPr>
              <a:t>58 deployed across Bristol </a:t>
            </a:r>
            <a:r>
              <a:rPr lang="en-US" sz="1600" b="1">
                <a:solidFill>
                  <a:srgbClr val="444444"/>
                </a:solidFill>
                <a:latin typeface="TT Fors"/>
              </a:rPr>
              <a:t>[6] </a:t>
            </a:r>
            <a:endParaRPr lang="en-US" sz="2800" b="1">
              <a:solidFill>
                <a:srgbClr val="444444"/>
              </a:solidFill>
              <a:latin typeface="TT Fors"/>
            </a:endParaRPr>
          </a:p>
        </p:txBody>
      </p:sp>
      <p:sp>
        <p:nvSpPr>
          <p:cNvPr id="2" name="Oval 1">
            <a:extLst>
              <a:ext uri="{FF2B5EF4-FFF2-40B4-BE49-F238E27FC236}">
                <a16:creationId xmlns:a16="http://schemas.microsoft.com/office/drawing/2014/main" id="{3B79E1DF-3057-CCEA-5B34-9DAF9FDD89F7}"/>
              </a:ext>
            </a:extLst>
          </p:cNvPr>
          <p:cNvSpPr/>
          <p:nvPr/>
        </p:nvSpPr>
        <p:spPr>
          <a:xfrm>
            <a:off x="6577884" y="1893016"/>
            <a:ext cx="681224" cy="691348"/>
          </a:xfrm>
          <a:prstGeom prst="ellipse">
            <a:avLst/>
          </a:prstGeom>
          <a:solidFill>
            <a:srgbClr val="254117"/>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b="1">
                <a:solidFill>
                  <a:srgbClr val="FFFFFF"/>
                </a:solidFill>
                <a:latin typeface="ITC Avant Garde Gothic"/>
              </a:rPr>
              <a:t>2</a:t>
            </a:r>
          </a:p>
        </p:txBody>
      </p:sp>
      <p:sp>
        <p:nvSpPr>
          <p:cNvPr id="6" name="Oval 5">
            <a:extLst>
              <a:ext uri="{FF2B5EF4-FFF2-40B4-BE49-F238E27FC236}">
                <a16:creationId xmlns:a16="http://schemas.microsoft.com/office/drawing/2014/main" id="{EF5F4DF5-76DA-554C-C8AA-A0370E6CDC86}"/>
              </a:ext>
            </a:extLst>
          </p:cNvPr>
          <p:cNvSpPr/>
          <p:nvPr/>
        </p:nvSpPr>
        <p:spPr>
          <a:xfrm>
            <a:off x="12763276" y="1893015"/>
            <a:ext cx="681224" cy="691348"/>
          </a:xfrm>
          <a:prstGeom prst="ellipse">
            <a:avLst/>
          </a:prstGeom>
          <a:solidFill>
            <a:srgbClr val="254117"/>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b="1">
                <a:solidFill>
                  <a:srgbClr val="FFFFFF"/>
                </a:solidFill>
                <a:latin typeface="ITC Avant Garde Gothic"/>
              </a:rPr>
              <a:t>3</a:t>
            </a:r>
          </a:p>
        </p:txBody>
      </p:sp>
      <p:sp>
        <p:nvSpPr>
          <p:cNvPr id="8" name="TextBox 7">
            <a:extLst>
              <a:ext uri="{FF2B5EF4-FFF2-40B4-BE49-F238E27FC236}">
                <a16:creationId xmlns:a16="http://schemas.microsoft.com/office/drawing/2014/main" id="{9C619591-2006-AE43-B3F8-EE9223766FFF}"/>
              </a:ext>
            </a:extLst>
          </p:cNvPr>
          <p:cNvSpPr txBox="1"/>
          <p:nvPr/>
        </p:nvSpPr>
        <p:spPr>
          <a:xfrm>
            <a:off x="360463" y="9389930"/>
            <a:ext cx="16146585" cy="1143000"/>
          </a:xfrm>
          <a:prstGeom prst="rect">
            <a:avLst/>
          </a:prstGeom>
          <a:noFill/>
        </p:spPr>
        <p:txBody>
          <a:bodyPr vertOverflow="overflow" vert="horz" wrap="square" rtlCol="0" anchor="t">
            <a:noAutofit/>
          </a:bodyPr>
          <a:lstStyle/>
          <a:p>
            <a:r>
              <a:rPr lang="en-US" sz="2000">
                <a:solidFill>
                  <a:srgbClr val="444444"/>
                </a:solidFill>
                <a:latin typeface="TT Fors"/>
              </a:rPr>
              <a:t>[5] Vivacity Labs, </a:t>
            </a:r>
            <a:r>
              <a:rPr lang="en-US" sz="2000" i="1">
                <a:solidFill>
                  <a:srgbClr val="444444"/>
                </a:solidFill>
                <a:latin typeface="TT Fors"/>
              </a:rPr>
              <a:t>Sensor Platform Technical Brochure </a:t>
            </a:r>
          </a:p>
          <a:p>
            <a:r>
              <a:rPr lang="en-US" sz="2000">
                <a:solidFill>
                  <a:srgbClr val="444444"/>
                </a:solidFill>
                <a:latin typeface="TT Fors"/>
              </a:rPr>
              <a:t>[6] Tong &amp; Bode, </a:t>
            </a:r>
            <a:r>
              <a:rPr lang="en-US" sz="2000" i="1">
                <a:solidFill>
                  <a:srgbClr val="444444"/>
                </a:solidFill>
                <a:latin typeface="TT Fors"/>
              </a:rPr>
              <a:t>Hourly Traffic Counts… </a:t>
            </a:r>
            <a:r>
              <a:rPr lang="en-US" sz="2000">
                <a:solidFill>
                  <a:srgbClr val="444444"/>
                </a:solidFill>
                <a:latin typeface="TT Fors"/>
              </a:rPr>
              <a:t>Bristol, UK (</a:t>
            </a:r>
            <a:r>
              <a:rPr lang="en-US" sz="2000" err="1">
                <a:solidFill>
                  <a:srgbClr val="444444"/>
                </a:solidFill>
                <a:latin typeface="TT Fors"/>
              </a:rPr>
              <a:t>Zenodo</a:t>
            </a:r>
            <a:r>
              <a:rPr lang="en-US" sz="2000">
                <a:solidFill>
                  <a:srgbClr val="444444"/>
                </a:solidFill>
                <a:latin typeface="TT Fors"/>
              </a:rPr>
              <a:t>).</a:t>
            </a:r>
          </a:p>
        </p:txBody>
      </p:sp>
    </p:spTree>
    <p:custDataLst>
      <p:tags r:id="rId1"/>
    </p:custDataLst>
    <p:extLst>
      <p:ext uri="{BB962C8B-B14F-4D97-AF65-F5344CB8AC3E}">
        <p14:creationId xmlns:p14="http://schemas.microsoft.com/office/powerpoint/2010/main" val="3067895592"/>
      </p:ext>
    </p:extLst>
  </p:cSld>
  <p:clrMapOvr>
    <a:masterClrMapping/>
  </p:clrMapOvr>
  <mc:AlternateContent xmlns:mc="http://schemas.openxmlformats.org/markup-compatibility/2006" xmlns:p14="http://schemas.microsoft.com/office/powerpoint/2010/main">
    <mc:Choice Requires="p14">
      <p:transition p14:dur="0" advTm="16735"/>
    </mc:Choice>
    <mc:Fallback xmlns="">
      <p:transition advTm="16735"/>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7F2200-6A8B-5463-800A-052EB3B88809}"/>
            </a:ext>
          </a:extLst>
        </p:cNvPr>
        <p:cNvGrpSpPr/>
        <p:nvPr/>
      </p:nvGrpSpPr>
      <p:grpSpPr>
        <a:xfrm>
          <a:off x="0" y="0"/>
          <a:ext cx="0" cy="0"/>
          <a:chOff x="0" y="0"/>
          <a:chExt cx="0" cy="0"/>
        </a:xfrm>
      </p:grpSpPr>
      <p:sp>
        <p:nvSpPr>
          <p:cNvPr id="12" name="StudySection">
            <a:extLst>
              <a:ext uri="{FF2B5EF4-FFF2-40B4-BE49-F238E27FC236}">
                <a16:creationId xmlns:a16="http://schemas.microsoft.com/office/drawing/2014/main" id="{842D2F03-4F3B-AEAE-B4D4-94918498BEE4}"/>
              </a:ext>
            </a:extLst>
          </p:cNvPr>
          <p:cNvSpPr/>
          <p:nvPr/>
        </p:nvSpPr>
        <p:spPr>
          <a:xfrm>
            <a:off x="12440148" y="1941320"/>
            <a:ext cx="5487391" cy="7440860"/>
          </a:xfrm>
          <a:prstGeom prst="roundRect">
            <a:avLst>
              <a:gd name="adj" fmla="val 3000"/>
            </a:avLst>
          </a:prstGeom>
          <a:solidFill>
            <a:srgbClr val="E8F0E4"/>
          </a:solidFill>
          <a:ln>
            <a:noFill/>
          </a:ln>
        </p:spPr>
        <p:txBody>
          <a:bodyPr wrap="square" lIns="180000" tIns="126000" rIns="180000" bIns="126000" anchor="t"/>
          <a:lstStyle/>
          <a:p>
            <a:pPr algn="ctr">
              <a:buNone/>
            </a:pPr>
            <a:endParaRPr lang="en-GB" sz="1800"/>
          </a:p>
        </p:txBody>
      </p:sp>
      <p:sp>
        <p:nvSpPr>
          <p:cNvPr id="9" name="StudySection">
            <a:extLst>
              <a:ext uri="{FF2B5EF4-FFF2-40B4-BE49-F238E27FC236}">
                <a16:creationId xmlns:a16="http://schemas.microsoft.com/office/drawing/2014/main" id="{7F9230DD-7F2A-499C-35DB-D160AF488E79}"/>
              </a:ext>
            </a:extLst>
          </p:cNvPr>
          <p:cNvSpPr/>
          <p:nvPr/>
        </p:nvSpPr>
        <p:spPr>
          <a:xfrm>
            <a:off x="6396547" y="1919882"/>
            <a:ext cx="5487391" cy="7317919"/>
          </a:xfrm>
          <a:prstGeom prst="roundRect">
            <a:avLst>
              <a:gd name="adj" fmla="val 3000"/>
            </a:avLst>
          </a:prstGeom>
          <a:solidFill>
            <a:srgbClr val="E8F0E4"/>
          </a:solidFill>
          <a:ln>
            <a:noFill/>
          </a:ln>
        </p:spPr>
        <p:txBody>
          <a:bodyPr wrap="square" lIns="180000" tIns="126000" rIns="180000" bIns="126000" anchor="t"/>
          <a:lstStyle/>
          <a:p>
            <a:pPr algn="ctr">
              <a:buNone/>
            </a:pPr>
            <a:endParaRPr lang="en-GB" sz="1800"/>
          </a:p>
        </p:txBody>
      </p:sp>
      <p:sp>
        <p:nvSpPr>
          <p:cNvPr id="4" name="StudySection">
            <a:extLst>
              <a:ext uri="{FF2B5EF4-FFF2-40B4-BE49-F238E27FC236}">
                <a16:creationId xmlns:a16="http://schemas.microsoft.com/office/drawing/2014/main" id="{22CFEE4E-273F-7708-7FD7-DE5F96B8A695}"/>
              </a:ext>
            </a:extLst>
          </p:cNvPr>
          <p:cNvSpPr/>
          <p:nvPr/>
        </p:nvSpPr>
        <p:spPr>
          <a:xfrm>
            <a:off x="360463" y="1941320"/>
            <a:ext cx="5487391" cy="7296482"/>
          </a:xfrm>
          <a:prstGeom prst="roundRect">
            <a:avLst>
              <a:gd name="adj" fmla="val 3000"/>
            </a:avLst>
          </a:prstGeom>
          <a:solidFill>
            <a:srgbClr val="E8F0E4"/>
          </a:solidFill>
          <a:ln>
            <a:noFill/>
          </a:ln>
        </p:spPr>
        <p:txBody>
          <a:bodyPr wrap="square" lIns="180000" tIns="126000" rIns="180000" bIns="126000" anchor="t"/>
          <a:lstStyle/>
          <a:p>
            <a:pPr algn="ctr">
              <a:buNone/>
            </a:pPr>
            <a:endParaRPr lang="en-GB" sz="1800"/>
          </a:p>
        </p:txBody>
      </p:sp>
      <p:sp>
        <p:nvSpPr>
          <p:cNvPr id="10" name="TextBox 9">
            <a:extLst>
              <a:ext uri="{FF2B5EF4-FFF2-40B4-BE49-F238E27FC236}">
                <a16:creationId xmlns:a16="http://schemas.microsoft.com/office/drawing/2014/main" id="{F03D8652-E09A-5D37-229C-641CEF7C6CF8}"/>
              </a:ext>
            </a:extLst>
          </p:cNvPr>
          <p:cNvSpPr txBox="1"/>
          <p:nvPr/>
        </p:nvSpPr>
        <p:spPr>
          <a:xfrm>
            <a:off x="508000" y="381000"/>
            <a:ext cx="7720383" cy="923330"/>
          </a:xfrm>
          <a:prstGeom prst="rect">
            <a:avLst/>
          </a:prstGeom>
          <a:noFill/>
        </p:spPr>
        <p:txBody>
          <a:bodyPr vertOverflow="overflow" vert="horz" wrap="none" rtlCol="0" anchor="t">
            <a:spAutoFit/>
          </a:bodyPr>
          <a:lstStyle/>
          <a:p>
            <a:pPr algn="l"/>
            <a:r>
              <a:rPr lang="en-US" sz="5400" b="1">
                <a:solidFill>
                  <a:srgbClr val="254117"/>
                </a:solidFill>
                <a:latin typeface="ITC Avant Garde Gothic"/>
              </a:rPr>
              <a:t>Limitations of the Data</a:t>
            </a:r>
          </a:p>
        </p:txBody>
      </p:sp>
      <p:cxnSp>
        <p:nvCxnSpPr>
          <p:cNvPr id="11" name="Straight Arrow Connector 10">
            <a:extLst>
              <a:ext uri="{FF2B5EF4-FFF2-40B4-BE49-F238E27FC236}">
                <a16:creationId xmlns:a16="http://schemas.microsoft.com/office/drawing/2014/main" id="{1E98612D-F47F-C08F-A0C3-EE0326676D08}"/>
              </a:ext>
            </a:extLst>
          </p:cNvPr>
          <p:cNvCxnSpPr>
            <a:cxnSpLocks/>
          </p:cNvCxnSpPr>
          <p:nvPr/>
        </p:nvCxnSpPr>
        <p:spPr>
          <a:xfrm>
            <a:off x="508000" y="1150441"/>
            <a:ext cx="7982857" cy="0"/>
          </a:xfrm>
          <a:prstGeom prst="straightConnector1">
            <a:avLst/>
          </a:prstGeom>
          <a:ln w="38100" cap="flat" cmpd="sng" algn="ctr">
            <a:solidFill>
              <a:srgbClr val="619365"/>
            </a:solidFill>
            <a:prstDash val="solid"/>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3436B4BB-0CAB-EEA2-E90E-6DF996940600}"/>
              </a:ext>
            </a:extLst>
          </p:cNvPr>
          <p:cNvSpPr/>
          <p:nvPr/>
        </p:nvSpPr>
        <p:spPr>
          <a:xfrm>
            <a:off x="639834" y="2183711"/>
            <a:ext cx="681224" cy="691348"/>
          </a:xfrm>
          <a:prstGeom prst="ellipse">
            <a:avLst/>
          </a:prstGeom>
          <a:solidFill>
            <a:srgbClr val="254117"/>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b="1">
                <a:solidFill>
                  <a:srgbClr val="FFFFFF"/>
                </a:solidFill>
                <a:latin typeface="ITC Avant Garde Gothic"/>
              </a:rPr>
              <a:t>1</a:t>
            </a:r>
          </a:p>
        </p:txBody>
      </p:sp>
      <p:sp>
        <p:nvSpPr>
          <p:cNvPr id="15" name="TextBox 14">
            <a:extLst>
              <a:ext uri="{FF2B5EF4-FFF2-40B4-BE49-F238E27FC236}">
                <a16:creationId xmlns:a16="http://schemas.microsoft.com/office/drawing/2014/main" id="{EFF0ED9F-321E-62E8-74E6-1200CE07227A}"/>
              </a:ext>
            </a:extLst>
          </p:cNvPr>
          <p:cNvSpPr txBox="1"/>
          <p:nvPr/>
        </p:nvSpPr>
        <p:spPr>
          <a:xfrm>
            <a:off x="1600429" y="2253084"/>
            <a:ext cx="3219609" cy="535310"/>
          </a:xfrm>
          <a:prstGeom prst="rect">
            <a:avLst/>
          </a:prstGeom>
          <a:noFill/>
        </p:spPr>
        <p:txBody>
          <a:bodyPr vertOverflow="overflow" vert="horz" wrap="square" rtlCol="0" anchor="t">
            <a:noAutofit/>
          </a:bodyPr>
          <a:lstStyle/>
          <a:p>
            <a:pPr algn="l"/>
            <a:r>
              <a:rPr lang="en-US" sz="3600" b="1">
                <a:solidFill>
                  <a:srgbClr val="254117"/>
                </a:solidFill>
                <a:latin typeface="ITC Avant Garde Gothic"/>
              </a:rPr>
              <a:t>Darkness</a:t>
            </a:r>
          </a:p>
        </p:txBody>
      </p:sp>
      <p:sp>
        <p:nvSpPr>
          <p:cNvPr id="17" name="TextBox 16">
            <a:extLst>
              <a:ext uri="{FF2B5EF4-FFF2-40B4-BE49-F238E27FC236}">
                <a16:creationId xmlns:a16="http://schemas.microsoft.com/office/drawing/2014/main" id="{33BE31D0-B506-3149-A1B6-688003A9F560}"/>
              </a:ext>
            </a:extLst>
          </p:cNvPr>
          <p:cNvSpPr txBox="1"/>
          <p:nvPr/>
        </p:nvSpPr>
        <p:spPr>
          <a:xfrm>
            <a:off x="7472317" y="2267326"/>
            <a:ext cx="3335850" cy="577117"/>
          </a:xfrm>
          <a:prstGeom prst="rect">
            <a:avLst/>
          </a:prstGeom>
          <a:noFill/>
        </p:spPr>
        <p:txBody>
          <a:bodyPr vertOverflow="overflow" vert="horz" wrap="square" rtlCol="0" anchor="t">
            <a:noAutofit/>
          </a:bodyPr>
          <a:lstStyle/>
          <a:p>
            <a:pPr algn="l"/>
            <a:r>
              <a:rPr lang="en-US" sz="3600" b="1">
                <a:solidFill>
                  <a:srgbClr val="254117"/>
                </a:solidFill>
                <a:latin typeface="ITC Avant Garde Gothic"/>
              </a:rPr>
              <a:t>Rain/Fog</a:t>
            </a:r>
          </a:p>
        </p:txBody>
      </p:sp>
      <p:sp>
        <p:nvSpPr>
          <p:cNvPr id="2" name="Oval 1">
            <a:extLst>
              <a:ext uri="{FF2B5EF4-FFF2-40B4-BE49-F238E27FC236}">
                <a16:creationId xmlns:a16="http://schemas.microsoft.com/office/drawing/2014/main" id="{59E72381-F035-8C3E-F0BC-2F7AA9D83CBC}"/>
              </a:ext>
            </a:extLst>
          </p:cNvPr>
          <p:cNvSpPr/>
          <p:nvPr/>
        </p:nvSpPr>
        <p:spPr>
          <a:xfrm>
            <a:off x="6577884" y="2183712"/>
            <a:ext cx="681224" cy="691348"/>
          </a:xfrm>
          <a:prstGeom prst="ellipse">
            <a:avLst/>
          </a:prstGeom>
          <a:solidFill>
            <a:srgbClr val="254117"/>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b="1">
                <a:solidFill>
                  <a:srgbClr val="FFFFFF"/>
                </a:solidFill>
                <a:latin typeface="ITC Avant Garde Gothic"/>
              </a:rPr>
              <a:t>2</a:t>
            </a:r>
          </a:p>
        </p:txBody>
      </p:sp>
      <p:sp>
        <p:nvSpPr>
          <p:cNvPr id="6" name="Oval 5">
            <a:extLst>
              <a:ext uri="{FF2B5EF4-FFF2-40B4-BE49-F238E27FC236}">
                <a16:creationId xmlns:a16="http://schemas.microsoft.com/office/drawing/2014/main" id="{C6D3C4D7-AB44-01FD-CBBA-8D3ACC94BDC5}"/>
              </a:ext>
            </a:extLst>
          </p:cNvPr>
          <p:cNvSpPr/>
          <p:nvPr/>
        </p:nvSpPr>
        <p:spPr>
          <a:xfrm>
            <a:off x="12763276" y="2183711"/>
            <a:ext cx="681224" cy="691348"/>
          </a:xfrm>
          <a:prstGeom prst="ellipse">
            <a:avLst/>
          </a:prstGeom>
          <a:solidFill>
            <a:srgbClr val="254117"/>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wrap="none" rtlCol="0" anchor="ctr" anchorCtr="0">
            <a:noAutofit/>
          </a:bodyPr>
          <a:lstStyle/>
          <a:p>
            <a:pPr algn="ctr"/>
            <a:r>
              <a:rPr lang="en-US" b="1">
                <a:solidFill>
                  <a:srgbClr val="FFFFFF"/>
                </a:solidFill>
                <a:latin typeface="ITC Avant Garde Gothic"/>
              </a:rPr>
              <a:t>3</a:t>
            </a:r>
          </a:p>
        </p:txBody>
      </p:sp>
      <p:pic>
        <p:nvPicPr>
          <p:cNvPr id="13" name="Picture 12">
            <a:extLst>
              <a:ext uri="{FF2B5EF4-FFF2-40B4-BE49-F238E27FC236}">
                <a16:creationId xmlns:a16="http://schemas.microsoft.com/office/drawing/2014/main" id="{A631C88F-B7A6-63CC-834F-98EF02BC8755}"/>
              </a:ext>
            </a:extLst>
          </p:cNvPr>
          <p:cNvPicPr>
            <a:picLocks noChangeAspect="1"/>
          </p:cNvPicPr>
          <p:nvPr/>
        </p:nvPicPr>
        <p:blipFill>
          <a:blip r:embed="rId3"/>
          <a:stretch>
            <a:fillRect/>
          </a:stretch>
        </p:blipFill>
        <p:spPr>
          <a:xfrm>
            <a:off x="665758" y="3395327"/>
            <a:ext cx="4876800" cy="4086225"/>
          </a:xfrm>
          <a:prstGeom prst="rect">
            <a:avLst/>
          </a:prstGeom>
        </p:spPr>
      </p:pic>
      <p:sp>
        <p:nvSpPr>
          <p:cNvPr id="16" name="TextBox 4">
            <a:extLst>
              <a:ext uri="{FF2B5EF4-FFF2-40B4-BE49-F238E27FC236}">
                <a16:creationId xmlns:a16="http://schemas.microsoft.com/office/drawing/2014/main" id="{0F7F7B30-9E2E-CB21-2999-AAC3C05561EA}"/>
              </a:ext>
            </a:extLst>
          </p:cNvPr>
          <p:cNvSpPr txBox="1"/>
          <p:nvPr/>
        </p:nvSpPr>
        <p:spPr>
          <a:xfrm>
            <a:off x="508000" y="1348393"/>
            <a:ext cx="11655660" cy="487313"/>
          </a:xfrm>
          <a:prstGeom prst="rect">
            <a:avLst/>
          </a:prstGeom>
        </p:spPr>
        <p:txBody>
          <a:bodyPr wrap="square" lIns="0" tIns="0" rIns="0" bIns="0" rtlCol="0" anchor="t">
            <a:spAutoFit/>
          </a:bodyPr>
          <a:lstStyle/>
          <a:p>
            <a:pPr marL="0" lvl="0" indent="0" algn="l">
              <a:lnSpc>
                <a:spcPts val="3839"/>
              </a:lnSpc>
              <a:spcBef>
                <a:spcPct val="0"/>
              </a:spcBef>
            </a:pPr>
            <a:r>
              <a:rPr lang="en-US" sz="3199" u="none" strike="noStrike" spc="-95">
                <a:solidFill>
                  <a:srgbClr val="619365"/>
                </a:solidFill>
                <a:latin typeface="ITC Avant Garde Gothic"/>
                <a:ea typeface="ITC Avant Garde Gothic"/>
                <a:cs typeface="ITC Avant Garde Gothic"/>
                <a:sym typeface="ITC Avant Garde Gothic"/>
              </a:rPr>
              <a:t>Accuracy of the sensor counts are not 100% accurate</a:t>
            </a:r>
            <a:r>
              <a:rPr lang="en-US" u="none" strike="noStrike" spc="-95">
                <a:solidFill>
                  <a:srgbClr val="619365"/>
                </a:solidFill>
                <a:latin typeface="ITC Avant Garde Gothic"/>
                <a:ea typeface="ITC Avant Garde Gothic"/>
                <a:cs typeface="ITC Avant Garde Gothic"/>
                <a:sym typeface="ITC Avant Garde Gothic"/>
              </a:rPr>
              <a:t>[7]</a:t>
            </a:r>
            <a:endParaRPr lang="en-US" sz="3199" u="none" strike="noStrike" spc="-95">
              <a:solidFill>
                <a:srgbClr val="619365"/>
              </a:solidFill>
              <a:latin typeface="ITC Avant Garde Gothic"/>
              <a:ea typeface="ITC Avant Garde Gothic"/>
              <a:cs typeface="ITC Avant Garde Gothic"/>
              <a:sym typeface="ITC Avant Garde Gothic"/>
            </a:endParaRPr>
          </a:p>
        </p:txBody>
      </p:sp>
      <p:pic>
        <p:nvPicPr>
          <p:cNvPr id="30" name="Picture 29">
            <a:extLst>
              <a:ext uri="{FF2B5EF4-FFF2-40B4-BE49-F238E27FC236}">
                <a16:creationId xmlns:a16="http://schemas.microsoft.com/office/drawing/2014/main" id="{00CDB986-0913-2D06-4834-0A27E61FF079}"/>
              </a:ext>
            </a:extLst>
          </p:cNvPr>
          <p:cNvPicPr>
            <a:picLocks noChangeAspect="1"/>
          </p:cNvPicPr>
          <p:nvPr/>
        </p:nvPicPr>
        <p:blipFill>
          <a:blip r:embed="rId4"/>
          <a:stretch>
            <a:fillRect/>
          </a:stretch>
        </p:blipFill>
        <p:spPr>
          <a:xfrm>
            <a:off x="6696778" y="3386840"/>
            <a:ext cx="4886929" cy="4094712"/>
          </a:xfrm>
          <a:prstGeom prst="rect">
            <a:avLst/>
          </a:prstGeom>
        </p:spPr>
      </p:pic>
      <p:pic>
        <p:nvPicPr>
          <p:cNvPr id="33" name="Picture 32">
            <a:extLst>
              <a:ext uri="{FF2B5EF4-FFF2-40B4-BE49-F238E27FC236}">
                <a16:creationId xmlns:a16="http://schemas.microsoft.com/office/drawing/2014/main" id="{A497552B-BF1C-0F23-44FF-665A2D68E6F1}"/>
              </a:ext>
            </a:extLst>
          </p:cNvPr>
          <p:cNvPicPr>
            <a:picLocks noChangeAspect="1"/>
          </p:cNvPicPr>
          <p:nvPr/>
        </p:nvPicPr>
        <p:blipFill>
          <a:blip r:embed="rId5"/>
          <a:srcRect r="34848"/>
          <a:stretch>
            <a:fillRect/>
          </a:stretch>
        </p:blipFill>
        <p:spPr>
          <a:xfrm>
            <a:off x="12732862" y="3395327"/>
            <a:ext cx="4886929" cy="4094712"/>
          </a:xfrm>
          <a:prstGeom prst="rect">
            <a:avLst/>
          </a:prstGeom>
        </p:spPr>
      </p:pic>
      <p:sp>
        <p:nvSpPr>
          <p:cNvPr id="34" name="TextBox 33">
            <a:extLst>
              <a:ext uri="{FF2B5EF4-FFF2-40B4-BE49-F238E27FC236}">
                <a16:creationId xmlns:a16="http://schemas.microsoft.com/office/drawing/2014/main" id="{EF959DE0-C982-9740-8F25-CB2E46631F13}"/>
              </a:ext>
            </a:extLst>
          </p:cNvPr>
          <p:cNvSpPr txBox="1"/>
          <p:nvPr/>
        </p:nvSpPr>
        <p:spPr>
          <a:xfrm>
            <a:off x="13668372" y="2267326"/>
            <a:ext cx="3732089" cy="577117"/>
          </a:xfrm>
          <a:prstGeom prst="rect">
            <a:avLst/>
          </a:prstGeom>
          <a:noFill/>
        </p:spPr>
        <p:txBody>
          <a:bodyPr vertOverflow="overflow" vert="horz" wrap="square" rtlCol="0" anchor="t">
            <a:noAutofit/>
          </a:bodyPr>
          <a:lstStyle/>
          <a:p>
            <a:pPr algn="l"/>
            <a:r>
              <a:rPr lang="en-US" sz="3600" b="1">
                <a:solidFill>
                  <a:srgbClr val="254117"/>
                </a:solidFill>
                <a:latin typeface="ITC Avant Garde Gothic"/>
              </a:rPr>
              <a:t>Crowd Density</a:t>
            </a:r>
          </a:p>
        </p:txBody>
      </p:sp>
      <p:sp>
        <p:nvSpPr>
          <p:cNvPr id="8" name="TextBox 7">
            <a:extLst>
              <a:ext uri="{FF2B5EF4-FFF2-40B4-BE49-F238E27FC236}">
                <a16:creationId xmlns:a16="http://schemas.microsoft.com/office/drawing/2014/main" id="{79D4A6F9-C5B8-70B8-0BF3-CE71130B6D83}"/>
              </a:ext>
            </a:extLst>
          </p:cNvPr>
          <p:cNvSpPr txBox="1"/>
          <p:nvPr/>
        </p:nvSpPr>
        <p:spPr>
          <a:xfrm>
            <a:off x="360463" y="9714610"/>
            <a:ext cx="16146585" cy="1143000"/>
          </a:xfrm>
          <a:prstGeom prst="rect">
            <a:avLst/>
          </a:prstGeom>
          <a:noFill/>
        </p:spPr>
        <p:txBody>
          <a:bodyPr vertOverflow="overflow" vert="horz" wrap="square" rtlCol="0" anchor="t">
            <a:noAutofit/>
          </a:bodyPr>
          <a:lstStyle/>
          <a:p>
            <a:r>
              <a:rPr lang="en-US" sz="2000">
                <a:solidFill>
                  <a:srgbClr val="444444"/>
                </a:solidFill>
                <a:latin typeface="TT Fors"/>
              </a:rPr>
              <a:t>[7] Cambridgeshire County Council Research Group. (2022). Vivacity Sensor Performance Monitoring: June 2022 data.</a:t>
            </a:r>
          </a:p>
        </p:txBody>
      </p:sp>
    </p:spTree>
    <p:extLst>
      <p:ext uri="{BB962C8B-B14F-4D97-AF65-F5344CB8AC3E}">
        <p14:creationId xmlns:p14="http://schemas.microsoft.com/office/powerpoint/2010/main" val="1140078829"/>
      </p:ext>
    </p:extLst>
  </p:cSld>
  <p:clrMapOvr>
    <a:masterClrMapping/>
  </p:clrMapOvr>
  <mc:AlternateContent xmlns:mc="http://schemas.openxmlformats.org/markup-compatibility/2006" xmlns:p14="http://schemas.microsoft.com/office/powerpoint/2010/main">
    <mc:Choice Requires="p14">
      <p:transition p14:dur="0" advTm="29595"/>
    </mc:Choice>
    <mc:Fallback xmlns="">
      <p:transition advTm="29595"/>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666750" y="659606"/>
            <a:ext cx="8324850" cy="1077218"/>
          </a:xfrm>
          <a:prstGeom prst="rect">
            <a:avLst/>
          </a:prstGeom>
        </p:spPr>
        <p:txBody>
          <a:bodyPr lIns="0" tIns="0" rIns="0" bIns="0" rtlCol="0" anchor="t">
            <a:spAutoFit/>
          </a:bodyPr>
          <a:lstStyle/>
          <a:p>
            <a:pPr marL="0" lvl="0" indent="0" algn="l">
              <a:lnSpc>
                <a:spcPts val="8000"/>
              </a:lnSpc>
              <a:spcBef>
                <a:spcPct val="0"/>
              </a:spcBef>
            </a:pPr>
            <a:r>
              <a:rPr lang="en-US" sz="8000" u="none" strike="noStrike" spc="-240">
                <a:solidFill>
                  <a:srgbClr val="254117"/>
                </a:solidFill>
                <a:latin typeface="ITC Avant Garde Gothic"/>
                <a:ea typeface="ITC Avant Garde Gothic"/>
                <a:cs typeface="ITC Avant Garde Gothic"/>
                <a:sym typeface="ITC Avant Garde Gothic"/>
              </a:rPr>
              <a:t>Data Processing</a:t>
            </a:r>
          </a:p>
        </p:txBody>
      </p:sp>
      <p:sp>
        <p:nvSpPr>
          <p:cNvPr id="4" name="TextBox 4"/>
          <p:cNvSpPr txBox="1"/>
          <p:nvPr/>
        </p:nvSpPr>
        <p:spPr>
          <a:xfrm>
            <a:off x="666750" y="2021606"/>
            <a:ext cx="8324850" cy="488532"/>
          </a:xfrm>
          <a:prstGeom prst="rect">
            <a:avLst/>
          </a:prstGeom>
        </p:spPr>
        <p:txBody>
          <a:bodyPr lIns="0" tIns="0" rIns="0" bIns="0" rtlCol="0" anchor="t">
            <a:spAutoFit/>
          </a:bodyPr>
          <a:lstStyle/>
          <a:p>
            <a:pPr marL="0" lvl="0" indent="0" algn="l">
              <a:lnSpc>
                <a:spcPts val="3839"/>
              </a:lnSpc>
              <a:spcBef>
                <a:spcPct val="0"/>
              </a:spcBef>
            </a:pPr>
            <a:r>
              <a:rPr lang="en-US" sz="3199" u="none" strike="noStrike" spc="-95">
                <a:solidFill>
                  <a:srgbClr val="619365"/>
                </a:solidFill>
                <a:latin typeface="ITC Avant Garde Gothic"/>
                <a:ea typeface="ITC Avant Garde Gothic"/>
                <a:cs typeface="ITC Avant Garde Gothic"/>
                <a:sym typeface="ITC Avant Garde Gothic"/>
              </a:rPr>
              <a:t>Grouping Sensors by Location</a:t>
            </a:r>
          </a:p>
        </p:txBody>
      </p:sp>
      <p:pic>
        <p:nvPicPr>
          <p:cNvPr id="7" name="Picture 6">
            <a:extLst>
              <a:ext uri="{FF2B5EF4-FFF2-40B4-BE49-F238E27FC236}">
                <a16:creationId xmlns:a16="http://schemas.microsoft.com/office/drawing/2014/main" id="{1CD04590-2852-67E5-F446-C6E8B0B903A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0210800" y="190500"/>
            <a:ext cx="7772400" cy="8661400"/>
          </a:xfrm>
          <a:prstGeom prst="rect">
            <a:avLst/>
          </a:prstGeom>
        </p:spPr>
      </p:pic>
      <p:pic>
        <p:nvPicPr>
          <p:cNvPr id="6" name="Picture 5">
            <a:extLst>
              <a:ext uri="{FF2B5EF4-FFF2-40B4-BE49-F238E27FC236}">
                <a16:creationId xmlns:a16="http://schemas.microsoft.com/office/drawing/2014/main" id="{5668ADE6-D5C6-1C3B-4DA7-F9B0C597B868}"/>
              </a:ext>
            </a:extLst>
          </p:cNvPr>
          <p:cNvPicPr>
            <a:picLocks noChangeAspect="1"/>
          </p:cNvPicPr>
          <p:nvPr/>
        </p:nvPicPr>
        <p:blipFill>
          <a:blip r:embed="rId4">
            <a:extLst>
              <a:ext uri="{28A0092B-C50C-407E-A947-70E740481C1C}">
                <a14:useLocalDpi xmlns:a14="http://schemas.microsoft.com/office/drawing/2010/main" val="0"/>
              </a:ext>
            </a:extLst>
          </a:blip>
          <a:srcRect t="19008"/>
          <a:stretch>
            <a:fillRect/>
          </a:stretch>
        </p:blipFill>
        <p:spPr>
          <a:xfrm>
            <a:off x="666750" y="3240741"/>
            <a:ext cx="8760375" cy="4138853"/>
          </a:xfrm>
          <a:prstGeom prst="rect">
            <a:avLst/>
          </a:prstGeom>
        </p:spPr>
      </p:pic>
      <p:sp>
        <p:nvSpPr>
          <p:cNvPr id="15" name="TextBox 14">
            <a:extLst>
              <a:ext uri="{FF2B5EF4-FFF2-40B4-BE49-F238E27FC236}">
                <a16:creationId xmlns:a16="http://schemas.microsoft.com/office/drawing/2014/main" id="{94045518-3066-2BCD-F769-33D74AFD663C}"/>
              </a:ext>
            </a:extLst>
          </p:cNvPr>
          <p:cNvSpPr txBox="1"/>
          <p:nvPr/>
        </p:nvSpPr>
        <p:spPr>
          <a:xfrm>
            <a:off x="544643" y="8045141"/>
            <a:ext cx="9666157" cy="478977"/>
          </a:xfrm>
          <a:prstGeom prst="rect">
            <a:avLst/>
          </a:prstGeom>
          <a:noFill/>
        </p:spPr>
        <p:txBody>
          <a:bodyPr wrap="square">
            <a:spAutoFit/>
          </a:bodyPr>
          <a:lstStyle/>
          <a:p>
            <a:pPr>
              <a:lnSpc>
                <a:spcPts val="2940"/>
              </a:lnSpc>
              <a:spcBef>
                <a:spcPct val="0"/>
              </a:spcBef>
            </a:pPr>
            <a:r>
              <a:rPr lang="en-US" sz="2800" b="1" u="none" strike="noStrike">
                <a:solidFill>
                  <a:srgbClr val="254117"/>
                </a:solidFill>
                <a:latin typeface="TT Fors"/>
                <a:ea typeface="TT Fors"/>
                <a:cs typeface="TT Fors"/>
                <a:sym typeface="TT Fors"/>
              </a:rPr>
              <a:t>See Technical note PDF for detail on how we did this.</a:t>
            </a:r>
          </a:p>
        </p:txBody>
      </p:sp>
    </p:spTree>
    <p:extLst>
      <p:ext uri="{BB962C8B-B14F-4D97-AF65-F5344CB8AC3E}">
        <p14:creationId xmlns:p14="http://schemas.microsoft.com/office/powerpoint/2010/main" val="1419280031"/>
      </p:ext>
    </p:extLst>
  </p:cSld>
  <p:clrMapOvr>
    <a:masterClrMapping/>
  </p:clrMapOvr>
  <mc:AlternateContent xmlns:mc="http://schemas.openxmlformats.org/markup-compatibility/2006" xmlns:p14="http://schemas.microsoft.com/office/powerpoint/2010/main">
    <mc:Choice Requires="p14">
      <p:transition p14:dur="0" advTm="22665"/>
    </mc:Choice>
    <mc:Fallback xmlns="">
      <p:transition advTm="22665"/>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666750" y="659606"/>
            <a:ext cx="8324850" cy="1077218"/>
          </a:xfrm>
          <a:prstGeom prst="rect">
            <a:avLst/>
          </a:prstGeom>
        </p:spPr>
        <p:txBody>
          <a:bodyPr lIns="0" tIns="0" rIns="0" bIns="0" rtlCol="0" anchor="t">
            <a:spAutoFit/>
          </a:bodyPr>
          <a:lstStyle/>
          <a:p>
            <a:pPr marL="0" lvl="0" indent="0" algn="l">
              <a:lnSpc>
                <a:spcPts val="8000"/>
              </a:lnSpc>
              <a:spcBef>
                <a:spcPct val="0"/>
              </a:spcBef>
            </a:pPr>
            <a:r>
              <a:rPr lang="en-US" sz="8000" u="none" strike="noStrike" spc="-240">
                <a:solidFill>
                  <a:srgbClr val="254117"/>
                </a:solidFill>
                <a:latin typeface="ITC Avant Garde Gothic"/>
                <a:ea typeface="ITC Avant Garde Gothic"/>
                <a:cs typeface="ITC Avant Garde Gothic"/>
                <a:sym typeface="ITC Avant Garde Gothic"/>
              </a:rPr>
              <a:t>Data Processing</a:t>
            </a:r>
          </a:p>
        </p:txBody>
      </p:sp>
      <p:sp>
        <p:nvSpPr>
          <p:cNvPr id="4" name="TextBox 4"/>
          <p:cNvSpPr txBox="1"/>
          <p:nvPr/>
        </p:nvSpPr>
        <p:spPr>
          <a:xfrm>
            <a:off x="666750" y="2021606"/>
            <a:ext cx="8324850" cy="488532"/>
          </a:xfrm>
          <a:prstGeom prst="rect">
            <a:avLst/>
          </a:prstGeom>
        </p:spPr>
        <p:txBody>
          <a:bodyPr lIns="0" tIns="0" rIns="0" bIns="0" rtlCol="0" anchor="t">
            <a:spAutoFit/>
          </a:bodyPr>
          <a:lstStyle/>
          <a:p>
            <a:pPr marL="0" lvl="0" indent="0" algn="l">
              <a:lnSpc>
                <a:spcPts val="3839"/>
              </a:lnSpc>
              <a:spcBef>
                <a:spcPct val="0"/>
              </a:spcBef>
            </a:pPr>
            <a:r>
              <a:rPr lang="en-US" sz="3199" u="none" strike="noStrike" spc="-95">
                <a:solidFill>
                  <a:srgbClr val="619365"/>
                </a:solidFill>
                <a:latin typeface="ITC Avant Garde Gothic"/>
                <a:ea typeface="ITC Avant Garde Gothic"/>
                <a:cs typeface="ITC Avant Garde Gothic"/>
                <a:sym typeface="ITC Avant Garde Gothic"/>
              </a:rPr>
              <a:t>Addressing Missing Values</a:t>
            </a:r>
          </a:p>
        </p:txBody>
      </p:sp>
      <p:sp>
        <p:nvSpPr>
          <p:cNvPr id="5" name="TextBox 5"/>
          <p:cNvSpPr txBox="1"/>
          <p:nvPr/>
        </p:nvSpPr>
        <p:spPr>
          <a:xfrm>
            <a:off x="666750" y="3416109"/>
            <a:ext cx="9848850" cy="6397264"/>
          </a:xfrm>
          <a:prstGeom prst="rect">
            <a:avLst/>
          </a:prstGeom>
        </p:spPr>
        <p:txBody>
          <a:bodyPr wrap="square" lIns="0" tIns="0" rIns="0" bIns="0" rtlCol="0" anchor="t">
            <a:spAutoFit/>
          </a:bodyPr>
          <a:lstStyle/>
          <a:p>
            <a:pPr marL="342900" indent="-342900">
              <a:buFont typeface="Arial" panose="020B0604020202020204" pitchFamily="34" charset="0"/>
              <a:buChar char="•"/>
            </a:pPr>
            <a:endParaRPr lang="en-US" sz="3600" u="none" strike="noStrike">
              <a:solidFill>
                <a:srgbClr val="254117"/>
              </a:solidFill>
              <a:latin typeface="TT Fors"/>
              <a:ea typeface="TT Fors"/>
              <a:cs typeface="TT Fors"/>
              <a:sym typeface="TT Fors"/>
            </a:endParaRPr>
          </a:p>
          <a:p>
            <a:pPr marL="457200" indent="-457200">
              <a:buFont typeface="Arial" panose="020B0604020202020204" pitchFamily="34" charset="0"/>
              <a:buChar char="•"/>
            </a:pPr>
            <a:r>
              <a:rPr lang="en-US" sz="4400" u="none" strike="noStrike">
                <a:solidFill>
                  <a:srgbClr val="254117"/>
                </a:solidFill>
                <a:latin typeface="TT Fors"/>
                <a:ea typeface="TT Fors"/>
                <a:cs typeface="TT Fors"/>
                <a:sym typeface="TT Fors"/>
              </a:rPr>
              <a:t>Removed sensors with 7+ consecutive zero-count days across pedestrians, and cyclists.</a:t>
            </a:r>
          </a:p>
          <a:p>
            <a:pPr>
              <a:spcBef>
                <a:spcPct val="0"/>
              </a:spcBef>
            </a:pPr>
            <a:endParaRPr lang="en-US" sz="4400" u="none" strike="noStrike">
              <a:solidFill>
                <a:srgbClr val="254117"/>
              </a:solidFill>
              <a:latin typeface="TT Fors"/>
              <a:ea typeface="TT Fors"/>
              <a:cs typeface="TT Fors"/>
              <a:sym typeface="TT Fors"/>
            </a:endParaRPr>
          </a:p>
          <a:p>
            <a:pPr marL="457200" indent="-457200">
              <a:spcBef>
                <a:spcPct val="0"/>
              </a:spcBef>
              <a:buFont typeface="Arial" panose="020B0604020202020204" pitchFamily="34" charset="0"/>
              <a:buChar char="•"/>
            </a:pPr>
            <a:r>
              <a:rPr lang="en-US" sz="4400" u="none" strike="noStrike">
                <a:solidFill>
                  <a:srgbClr val="254117"/>
                </a:solidFill>
                <a:latin typeface="TT Fors"/>
                <a:ea typeface="TT Fors"/>
                <a:cs typeface="TT Fors"/>
                <a:sym typeface="TT Fors"/>
              </a:rPr>
              <a:t>Reduced </a:t>
            </a:r>
            <a:r>
              <a:rPr lang="en-US" sz="4400">
                <a:solidFill>
                  <a:srgbClr val="254117"/>
                </a:solidFill>
                <a:latin typeface="TT Fors"/>
                <a:ea typeface="TT Fors"/>
                <a:cs typeface="TT Fors"/>
                <a:sym typeface="TT Fors"/>
              </a:rPr>
              <a:t>b</a:t>
            </a:r>
            <a:r>
              <a:rPr lang="en-US" sz="4400" u="none" strike="noStrike">
                <a:solidFill>
                  <a:srgbClr val="254117"/>
                </a:solidFill>
                <a:latin typeface="TT Fors"/>
                <a:ea typeface="TT Fors"/>
                <a:cs typeface="TT Fors"/>
                <a:sym typeface="TT Fors"/>
              </a:rPr>
              <a:t>ias </a:t>
            </a:r>
            <a:endParaRPr lang="en-US" sz="4400">
              <a:solidFill>
                <a:srgbClr val="254117"/>
              </a:solidFill>
              <a:latin typeface="TT Fors"/>
              <a:ea typeface="TT Fors"/>
              <a:cs typeface="TT Fors"/>
              <a:sym typeface="TT Fors"/>
            </a:endParaRPr>
          </a:p>
          <a:p>
            <a:pPr>
              <a:spcBef>
                <a:spcPct val="0"/>
              </a:spcBef>
            </a:pPr>
            <a:endParaRPr lang="en-US" sz="4400">
              <a:solidFill>
                <a:srgbClr val="254117"/>
              </a:solidFill>
              <a:latin typeface="TT Fors"/>
              <a:ea typeface="TT Fors"/>
              <a:cs typeface="TT Fors"/>
              <a:sym typeface="TT Fors"/>
            </a:endParaRPr>
          </a:p>
          <a:p>
            <a:pPr marL="457200" indent="-457200">
              <a:spcBef>
                <a:spcPct val="0"/>
              </a:spcBef>
              <a:buFont typeface="Arial" panose="020B0604020202020204" pitchFamily="34" charset="0"/>
              <a:buChar char="•"/>
            </a:pPr>
            <a:r>
              <a:rPr lang="en-US" sz="4400" u="none" strike="noStrike">
                <a:solidFill>
                  <a:srgbClr val="254117"/>
                </a:solidFill>
                <a:latin typeface="TT Fors"/>
                <a:ea typeface="TT Fors"/>
                <a:cs typeface="TT Fors"/>
                <a:sym typeface="TT Fors"/>
              </a:rPr>
              <a:t>Increased accuracy </a:t>
            </a:r>
          </a:p>
          <a:p>
            <a:pPr>
              <a:lnSpc>
                <a:spcPts val="2940"/>
              </a:lnSpc>
              <a:spcBef>
                <a:spcPct val="0"/>
              </a:spcBef>
            </a:pPr>
            <a:br>
              <a:rPr lang="en-US" sz="3200" u="none" strike="noStrike">
                <a:solidFill>
                  <a:srgbClr val="254117"/>
                </a:solidFill>
                <a:latin typeface="TT Fors"/>
                <a:ea typeface="TT Fors"/>
                <a:cs typeface="TT Fors"/>
                <a:sym typeface="TT Fors"/>
              </a:rPr>
            </a:br>
            <a:endParaRPr lang="en-US" sz="3200" u="none" strike="noStrike">
              <a:solidFill>
                <a:srgbClr val="254117"/>
              </a:solidFill>
              <a:latin typeface="TT Fors"/>
              <a:ea typeface="TT Fors"/>
              <a:cs typeface="TT Fors"/>
              <a:sym typeface="TT Fors"/>
            </a:endParaRPr>
          </a:p>
          <a:p>
            <a:pPr lvl="0" algn="l">
              <a:lnSpc>
                <a:spcPts val="2940"/>
              </a:lnSpc>
              <a:spcBef>
                <a:spcPct val="0"/>
              </a:spcBef>
            </a:pPr>
            <a:r>
              <a:rPr lang="en-US" sz="2100" u="none" strike="noStrike">
                <a:solidFill>
                  <a:srgbClr val="254117"/>
                </a:solidFill>
                <a:latin typeface="TT Fors"/>
                <a:ea typeface="TT Fors"/>
                <a:cs typeface="TT Fors"/>
                <a:sym typeface="TT Fors"/>
              </a:rPr>
              <a:t> </a:t>
            </a:r>
          </a:p>
        </p:txBody>
      </p:sp>
      <p:pic>
        <p:nvPicPr>
          <p:cNvPr id="7" name="Picture 6">
            <a:extLst>
              <a:ext uri="{FF2B5EF4-FFF2-40B4-BE49-F238E27FC236}">
                <a16:creationId xmlns:a16="http://schemas.microsoft.com/office/drawing/2014/main" id="{1CD04590-2852-67E5-F446-C6E8B0B903A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0210800" y="190500"/>
            <a:ext cx="7772400" cy="8661400"/>
          </a:xfrm>
          <a:prstGeom prst="rect">
            <a:avLst/>
          </a:prstGeom>
        </p:spPr>
      </p:pic>
    </p:spTree>
    <p:extLst>
      <p:ext uri="{BB962C8B-B14F-4D97-AF65-F5344CB8AC3E}">
        <p14:creationId xmlns:p14="http://schemas.microsoft.com/office/powerpoint/2010/main" val="4190217657"/>
      </p:ext>
    </p:extLst>
  </p:cSld>
  <p:clrMapOvr>
    <a:masterClrMapping/>
  </p:clrMapOvr>
  <mc:AlternateContent xmlns:mc="http://schemas.openxmlformats.org/markup-compatibility/2006" xmlns:p14="http://schemas.microsoft.com/office/powerpoint/2010/main">
    <mc:Choice Requires="p14">
      <p:transition p14:dur="0" advTm="13465"/>
    </mc:Choice>
    <mc:Fallback xmlns="">
      <p:transition advTm="13465"/>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BF88E2-FD1C-5CA0-5AE9-97D8A1030653}"/>
            </a:ext>
          </a:extLst>
        </p:cNvPr>
        <p:cNvGrpSpPr/>
        <p:nvPr/>
      </p:nvGrpSpPr>
      <p:grpSpPr>
        <a:xfrm>
          <a:off x="0" y="0"/>
          <a:ext cx="0" cy="0"/>
          <a:chOff x="0" y="0"/>
          <a:chExt cx="0" cy="0"/>
        </a:xfrm>
      </p:grpSpPr>
      <p:sp>
        <p:nvSpPr>
          <p:cNvPr id="3" name="TextBox 3">
            <a:extLst>
              <a:ext uri="{FF2B5EF4-FFF2-40B4-BE49-F238E27FC236}">
                <a16:creationId xmlns:a16="http://schemas.microsoft.com/office/drawing/2014/main" id="{55FD6773-5A8E-913C-6CAB-56B46CF786B3}"/>
              </a:ext>
            </a:extLst>
          </p:cNvPr>
          <p:cNvSpPr txBox="1"/>
          <p:nvPr/>
        </p:nvSpPr>
        <p:spPr>
          <a:xfrm>
            <a:off x="666750" y="659606"/>
            <a:ext cx="8324850" cy="1077218"/>
          </a:xfrm>
          <a:prstGeom prst="rect">
            <a:avLst/>
          </a:prstGeom>
        </p:spPr>
        <p:txBody>
          <a:bodyPr lIns="0" tIns="0" rIns="0" bIns="0" rtlCol="0" anchor="t">
            <a:spAutoFit/>
          </a:bodyPr>
          <a:lstStyle/>
          <a:p>
            <a:pPr marL="0" lvl="0" indent="0" algn="l">
              <a:lnSpc>
                <a:spcPts val="8000"/>
              </a:lnSpc>
              <a:spcBef>
                <a:spcPct val="0"/>
              </a:spcBef>
            </a:pPr>
            <a:r>
              <a:rPr lang="en-US" sz="8000" u="none" strike="noStrike" spc="-240">
                <a:solidFill>
                  <a:srgbClr val="254117"/>
                </a:solidFill>
                <a:latin typeface="ITC Avant Garde Gothic"/>
                <a:ea typeface="ITC Avant Garde Gothic"/>
                <a:cs typeface="ITC Avant Garde Gothic"/>
                <a:sym typeface="ITC Avant Garde Gothic"/>
              </a:rPr>
              <a:t>Data Processing</a:t>
            </a:r>
          </a:p>
        </p:txBody>
      </p:sp>
      <p:sp>
        <p:nvSpPr>
          <p:cNvPr id="4" name="TextBox 4">
            <a:extLst>
              <a:ext uri="{FF2B5EF4-FFF2-40B4-BE49-F238E27FC236}">
                <a16:creationId xmlns:a16="http://schemas.microsoft.com/office/drawing/2014/main" id="{32503BF2-2FA6-F628-FEF2-14CE60BE9D74}"/>
              </a:ext>
            </a:extLst>
          </p:cNvPr>
          <p:cNvSpPr txBox="1"/>
          <p:nvPr/>
        </p:nvSpPr>
        <p:spPr>
          <a:xfrm>
            <a:off x="666750" y="2021606"/>
            <a:ext cx="8324850" cy="488532"/>
          </a:xfrm>
          <a:prstGeom prst="rect">
            <a:avLst/>
          </a:prstGeom>
        </p:spPr>
        <p:txBody>
          <a:bodyPr lIns="0" tIns="0" rIns="0" bIns="0" rtlCol="0" anchor="t">
            <a:spAutoFit/>
          </a:bodyPr>
          <a:lstStyle/>
          <a:p>
            <a:pPr marL="0" lvl="0" indent="0" algn="l">
              <a:lnSpc>
                <a:spcPts val="3839"/>
              </a:lnSpc>
              <a:spcBef>
                <a:spcPct val="0"/>
              </a:spcBef>
            </a:pPr>
            <a:r>
              <a:rPr lang="en-US" sz="3199" u="none" strike="noStrike" spc="-95">
                <a:solidFill>
                  <a:srgbClr val="619365"/>
                </a:solidFill>
                <a:latin typeface="ITC Avant Garde Gothic"/>
                <a:ea typeface="ITC Avant Garde Gothic"/>
                <a:cs typeface="ITC Avant Garde Gothic"/>
                <a:sym typeface="ITC Avant Garde Gothic"/>
              </a:rPr>
              <a:t>Addressing Missing Values</a:t>
            </a:r>
          </a:p>
        </p:txBody>
      </p:sp>
      <p:pic>
        <p:nvPicPr>
          <p:cNvPr id="7" name="Picture 6">
            <a:extLst>
              <a:ext uri="{FF2B5EF4-FFF2-40B4-BE49-F238E27FC236}">
                <a16:creationId xmlns:a16="http://schemas.microsoft.com/office/drawing/2014/main" id="{E0716619-6FDE-82F6-123C-1417A054FD83}"/>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0210800" y="162791"/>
            <a:ext cx="7772400" cy="8661400"/>
          </a:xfrm>
          <a:prstGeom prst="rect">
            <a:avLst/>
          </a:prstGeom>
        </p:spPr>
      </p:pic>
      <p:sp>
        <p:nvSpPr>
          <p:cNvPr id="2" name="TextBox 1">
            <a:extLst>
              <a:ext uri="{FF2B5EF4-FFF2-40B4-BE49-F238E27FC236}">
                <a16:creationId xmlns:a16="http://schemas.microsoft.com/office/drawing/2014/main" id="{E40B00C8-B311-CBA7-67B1-6C67B4B421A1}"/>
              </a:ext>
            </a:extLst>
          </p:cNvPr>
          <p:cNvSpPr txBox="1"/>
          <p:nvPr/>
        </p:nvSpPr>
        <p:spPr>
          <a:xfrm>
            <a:off x="6091707" y="7379594"/>
            <a:ext cx="184731" cy="369332"/>
          </a:xfrm>
          <a:prstGeom prst="rect">
            <a:avLst/>
          </a:prstGeom>
          <a:noFill/>
        </p:spPr>
        <p:txBody>
          <a:bodyPr wrap="none" rtlCol="0">
            <a:spAutoFit/>
          </a:bodyPr>
          <a:lstStyle/>
          <a:p>
            <a:endParaRPr lang="en-US"/>
          </a:p>
        </p:txBody>
      </p:sp>
      <p:pic>
        <p:nvPicPr>
          <p:cNvPr id="6" name="Picture 5">
            <a:extLst>
              <a:ext uri="{FF2B5EF4-FFF2-40B4-BE49-F238E27FC236}">
                <a16:creationId xmlns:a16="http://schemas.microsoft.com/office/drawing/2014/main" id="{992D2C4A-6AEB-3E8B-3856-FCC3424C30B5}"/>
              </a:ext>
            </a:extLst>
          </p:cNvPr>
          <p:cNvPicPr>
            <a:picLocks noChangeAspect="1"/>
          </p:cNvPicPr>
          <p:nvPr/>
        </p:nvPicPr>
        <p:blipFill>
          <a:blip r:embed="rId4">
            <a:extLst>
              <a:ext uri="{28A0092B-C50C-407E-A947-70E740481C1C}">
                <a14:useLocalDpi xmlns:a14="http://schemas.microsoft.com/office/drawing/2010/main" val="0"/>
              </a:ext>
            </a:extLst>
          </a:blip>
          <a:srcRect t="19753"/>
          <a:stretch>
            <a:fillRect/>
          </a:stretch>
        </p:blipFill>
        <p:spPr>
          <a:xfrm>
            <a:off x="476922" y="3535126"/>
            <a:ext cx="9917867" cy="4029134"/>
          </a:xfrm>
          <a:prstGeom prst="rect">
            <a:avLst/>
          </a:prstGeom>
        </p:spPr>
      </p:pic>
    </p:spTree>
    <p:extLst>
      <p:ext uri="{BB962C8B-B14F-4D97-AF65-F5344CB8AC3E}">
        <p14:creationId xmlns:p14="http://schemas.microsoft.com/office/powerpoint/2010/main" val="2199074343"/>
      </p:ext>
    </p:extLst>
  </p:cSld>
  <p:clrMapOvr>
    <a:masterClrMapping/>
  </p:clrMapOvr>
  <mc:AlternateContent xmlns:mc="http://schemas.openxmlformats.org/markup-compatibility/2006" xmlns:p14="http://schemas.microsoft.com/office/powerpoint/2010/main">
    <mc:Choice Requires="p14">
      <p:transition p14:dur="0" advTm="17006"/>
    </mc:Choice>
    <mc:Fallback xmlns="">
      <p:transition advTm="17006"/>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629F7-C46F-2136-4EB2-0E8C70997FA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FF58A52-5EA6-B944-B857-C1A7328BEBAA}"/>
              </a:ext>
            </a:extLst>
          </p:cNvPr>
          <p:cNvSpPr txBox="1"/>
          <p:nvPr/>
        </p:nvSpPr>
        <p:spPr>
          <a:xfrm>
            <a:off x="659041" y="505557"/>
            <a:ext cx="12700000" cy="923330"/>
          </a:xfrm>
          <a:prstGeom prst="rect">
            <a:avLst/>
          </a:prstGeom>
          <a:noFill/>
        </p:spPr>
        <p:txBody>
          <a:bodyPr vertOverflow="overflow" vert="horz" wrap="square" rtlCol="0" anchor="t">
            <a:spAutoFit/>
          </a:bodyPr>
          <a:lstStyle/>
          <a:p>
            <a:pPr algn="l"/>
            <a:r>
              <a:rPr lang="en-US" sz="5400">
                <a:solidFill>
                  <a:srgbClr val="254117"/>
                </a:solidFill>
                <a:latin typeface="ITC Avant Garde Gothic"/>
              </a:rPr>
              <a:t>Case-Control Method</a:t>
            </a:r>
          </a:p>
        </p:txBody>
      </p:sp>
      <p:sp>
        <p:nvSpPr>
          <p:cNvPr id="5" name="TextBox 4">
            <a:extLst>
              <a:ext uri="{FF2B5EF4-FFF2-40B4-BE49-F238E27FC236}">
                <a16:creationId xmlns:a16="http://schemas.microsoft.com/office/drawing/2014/main" id="{BCE37FE2-131A-E043-8041-05E3618368BE}"/>
              </a:ext>
            </a:extLst>
          </p:cNvPr>
          <p:cNvSpPr txBox="1"/>
          <p:nvPr/>
        </p:nvSpPr>
        <p:spPr>
          <a:xfrm>
            <a:off x="673100" y="1714500"/>
            <a:ext cx="12700000" cy="523220"/>
          </a:xfrm>
          <a:prstGeom prst="rect">
            <a:avLst/>
          </a:prstGeom>
          <a:noFill/>
        </p:spPr>
        <p:txBody>
          <a:bodyPr vertOverflow="overflow" vert="horz" wrap="square" rtlCol="0" anchor="t">
            <a:spAutoFit/>
          </a:bodyPr>
          <a:lstStyle/>
          <a:p>
            <a:pPr algn="l"/>
            <a:r>
              <a:rPr lang="en-US" sz="2800">
                <a:solidFill>
                  <a:srgbClr val="619365"/>
                </a:solidFill>
                <a:latin typeface="ITC Avant Garde Gothic"/>
              </a:rPr>
              <a:t>Case-control design and odds ratio calculation</a:t>
            </a:r>
          </a:p>
        </p:txBody>
      </p:sp>
      <p:sp>
        <p:nvSpPr>
          <p:cNvPr id="50" name="Accent Line"/>
          <p:cNvSpPr/>
          <p:nvPr/>
        </p:nvSpPr>
        <p:spPr>
          <a:xfrm>
            <a:off x="685800" y="2194560"/>
            <a:ext cx="17526000" cy="0"/>
          </a:xfrm>
          <a:prstGeom prst="line">
            <a:avLst/>
          </a:prstGeom>
          <a:ln w="25400">
            <a:solidFill>
              <a:srgbClr val="619365"/>
            </a:solidFill>
          </a:ln>
        </p:spPr>
        <p:txBody>
          <a:bodyPr/>
          <a:lstStyle/>
          <a:p>
            <a:endParaRPr lang="en-US"/>
          </a:p>
        </p:txBody>
      </p:sp>
      <p:sp>
        <p:nvSpPr>
          <p:cNvPr id="80" name="Card1_CaseHours"/>
          <p:cNvSpPr/>
          <p:nvPr/>
        </p:nvSpPr>
        <p:spPr>
          <a:xfrm>
            <a:off x="659041" y="3294345"/>
            <a:ext cx="8153400" cy="5563772"/>
          </a:xfrm>
          <a:prstGeom prst="roundRect">
            <a:avLst>
              <a:gd name="adj" fmla="val 5000"/>
            </a:avLst>
          </a:prstGeom>
          <a:solidFill>
            <a:srgbClr val="EAF2EA"/>
          </a:solidFill>
          <a:ln w="0">
            <a:noFill/>
          </a:ln>
        </p:spPr>
        <p:txBody>
          <a:bodyPr wrap="square" lIns="144000" tIns="900000" rIns="144000" bIns="108000" anchor="t"/>
          <a:lstStyle/>
          <a:p>
            <a:pPr marL="514350" indent="-514350" algn="l">
              <a:spcBef>
                <a:spcPts val="0"/>
              </a:spcBef>
              <a:spcAft>
                <a:spcPts val="200"/>
              </a:spcAft>
              <a:buAutoNum type="arabicPeriod"/>
            </a:pPr>
            <a:r>
              <a:rPr lang="en-US" sz="4000" b="1">
                <a:solidFill>
                  <a:srgbClr val="619365"/>
                </a:solidFill>
                <a:latin typeface="ITC Avant Garde Gothic"/>
              </a:rPr>
              <a:t>Case Hours</a:t>
            </a:r>
          </a:p>
          <a:p>
            <a:pPr algn="l">
              <a:spcBef>
                <a:spcPts val="0"/>
              </a:spcBef>
              <a:spcAft>
                <a:spcPts val="200"/>
              </a:spcAft>
            </a:pPr>
            <a:endParaRPr lang="en-US" sz="3200" b="1">
              <a:solidFill>
                <a:srgbClr val="619365"/>
              </a:solidFill>
              <a:latin typeface="ITC Avant Garde Gothic"/>
            </a:endParaRPr>
          </a:p>
          <a:p>
            <a:pPr marL="228600" indent="-228600">
              <a:spcBef>
                <a:spcPts val="150"/>
              </a:spcBef>
              <a:spcAft>
                <a:spcPts val="80"/>
              </a:spcAft>
              <a:buFont typeface="Arial"/>
              <a:buChar char="•"/>
            </a:pPr>
            <a:r>
              <a:rPr lang="en-US" sz="3200">
                <a:solidFill>
                  <a:srgbClr val="254117"/>
                </a:solidFill>
                <a:latin typeface="TT Fors"/>
              </a:rPr>
              <a:t>Hours switch between light and dark throughout the year</a:t>
            </a:r>
          </a:p>
          <a:p>
            <a:pPr marL="685800" lvl="1" indent="-228600">
              <a:spcBef>
                <a:spcPts val="150"/>
              </a:spcBef>
              <a:spcAft>
                <a:spcPts val="80"/>
              </a:spcAft>
              <a:buFont typeface="Arial"/>
              <a:buChar char="•"/>
            </a:pPr>
            <a:r>
              <a:rPr lang="en-US" sz="3200" b="1">
                <a:solidFill>
                  <a:srgbClr val="254117"/>
                </a:solidFill>
                <a:latin typeface="TT Fors"/>
              </a:rPr>
              <a:t>AM: </a:t>
            </a:r>
            <a:r>
              <a:rPr lang="en-US" sz="3200">
                <a:solidFill>
                  <a:srgbClr val="254117"/>
                </a:solidFill>
                <a:latin typeface="TT Fors"/>
              </a:rPr>
              <a:t>05:00–07:59</a:t>
            </a:r>
          </a:p>
          <a:p>
            <a:pPr marL="685800" lvl="1" indent="-228600">
              <a:spcBef>
                <a:spcPts val="150"/>
              </a:spcBef>
              <a:spcAft>
                <a:spcPts val="80"/>
              </a:spcAft>
              <a:buFont typeface="Arial"/>
              <a:buChar char="•"/>
            </a:pPr>
            <a:r>
              <a:rPr lang="en-US" sz="3200" b="1">
                <a:solidFill>
                  <a:srgbClr val="254117"/>
                </a:solidFill>
                <a:latin typeface="TT Fors"/>
              </a:rPr>
              <a:t>PM: </a:t>
            </a:r>
            <a:r>
              <a:rPr lang="en-US" sz="3200">
                <a:solidFill>
                  <a:srgbClr val="254117"/>
                </a:solidFill>
                <a:latin typeface="TT Fors"/>
              </a:rPr>
              <a:t>17:00–19:59</a:t>
            </a:r>
          </a:p>
          <a:p>
            <a:pPr marL="228600" indent="-228600">
              <a:spcBef>
                <a:spcPts val="150"/>
              </a:spcBef>
              <a:spcAft>
                <a:spcPts val="80"/>
              </a:spcAft>
              <a:buFont typeface="Arial"/>
              <a:buChar char="•"/>
            </a:pPr>
            <a:r>
              <a:rPr lang="en-US" sz="3200">
                <a:solidFill>
                  <a:srgbClr val="254117"/>
                </a:solidFill>
                <a:latin typeface="TT Fors"/>
              </a:rPr>
              <a:t>Twilight excluded (solar alt. 0° to −6°)</a:t>
            </a:r>
          </a:p>
        </p:txBody>
      </p:sp>
      <p:sp>
        <p:nvSpPr>
          <p:cNvPr id="81" name="Card2_ControlHours"/>
          <p:cNvSpPr/>
          <p:nvPr/>
        </p:nvSpPr>
        <p:spPr>
          <a:xfrm>
            <a:off x="9655172" y="3312740"/>
            <a:ext cx="8153400" cy="5545373"/>
          </a:xfrm>
          <a:prstGeom prst="roundRect">
            <a:avLst>
              <a:gd name="adj" fmla="val 5000"/>
            </a:avLst>
          </a:prstGeom>
          <a:solidFill>
            <a:srgbClr val="EAF2EA"/>
          </a:solidFill>
          <a:ln w="0">
            <a:noFill/>
          </a:ln>
        </p:spPr>
        <p:txBody>
          <a:bodyPr wrap="square" lIns="144000" tIns="900000" rIns="144000" bIns="108000" anchor="t"/>
          <a:lstStyle/>
          <a:p>
            <a:pPr algn="l">
              <a:spcBef>
                <a:spcPts val="0"/>
              </a:spcBef>
              <a:spcAft>
                <a:spcPts val="200"/>
              </a:spcAft>
              <a:buNone/>
            </a:pPr>
            <a:r>
              <a:rPr lang="en-US" sz="4000" b="1">
                <a:solidFill>
                  <a:srgbClr val="619365"/>
                </a:solidFill>
                <a:latin typeface="ITC Avant Garde Gothic"/>
              </a:rPr>
              <a:t>2. Control Hours</a:t>
            </a:r>
          </a:p>
          <a:p>
            <a:pPr algn="l">
              <a:spcBef>
                <a:spcPts val="0"/>
              </a:spcBef>
              <a:spcAft>
                <a:spcPts val="200"/>
              </a:spcAft>
              <a:buNone/>
            </a:pPr>
            <a:endParaRPr lang="en-US" sz="3200" b="1">
              <a:solidFill>
                <a:srgbClr val="619365"/>
              </a:solidFill>
              <a:latin typeface="ITC Avant Garde Gothic"/>
            </a:endParaRPr>
          </a:p>
          <a:p>
            <a:pPr marL="228600" indent="-228600">
              <a:spcBef>
                <a:spcPts val="150"/>
              </a:spcBef>
              <a:spcAft>
                <a:spcPts val="80"/>
              </a:spcAft>
              <a:buFont typeface="Arial"/>
              <a:buChar char="•"/>
            </a:pPr>
            <a:r>
              <a:rPr lang="en-US" sz="3200">
                <a:solidFill>
                  <a:srgbClr val="254117"/>
                </a:solidFill>
                <a:latin typeface="TT Fors"/>
              </a:rPr>
              <a:t>Hours always light or always dark year-round</a:t>
            </a:r>
          </a:p>
          <a:p>
            <a:pPr marL="228600" indent="-228600">
              <a:spcBef>
                <a:spcPts val="150"/>
              </a:spcBef>
              <a:spcAft>
                <a:spcPts val="80"/>
              </a:spcAft>
              <a:buFont typeface="Arial"/>
              <a:buChar char="•"/>
            </a:pPr>
            <a:endParaRPr lang="en-US" sz="3200">
              <a:solidFill>
                <a:srgbClr val="254117"/>
              </a:solidFill>
              <a:latin typeface="TT Fors"/>
            </a:endParaRPr>
          </a:p>
          <a:p>
            <a:pPr marL="228600" indent="-228600">
              <a:spcBef>
                <a:spcPts val="150"/>
              </a:spcBef>
              <a:spcAft>
                <a:spcPts val="80"/>
              </a:spcAft>
              <a:buFont typeface="Arial"/>
              <a:buChar char="•"/>
            </a:pPr>
            <a:r>
              <a:rPr lang="en-US" sz="3200">
                <a:solidFill>
                  <a:srgbClr val="254117"/>
                </a:solidFill>
                <a:latin typeface="TT Fors"/>
              </a:rPr>
              <a:t>11:00 </a:t>
            </a:r>
            <a:r>
              <a:rPr lang="en-US" sz="3200" b="1">
                <a:solidFill>
                  <a:srgbClr val="254117"/>
                </a:solidFill>
                <a:latin typeface="TT Fors"/>
              </a:rPr>
              <a:t>PM</a:t>
            </a:r>
            <a:r>
              <a:rPr lang="en-US" sz="3200">
                <a:solidFill>
                  <a:srgbClr val="254117"/>
                </a:solidFill>
                <a:latin typeface="TT Fors"/>
              </a:rPr>
              <a:t> – 2:00 </a:t>
            </a:r>
            <a:r>
              <a:rPr lang="en-US" sz="3200" b="1">
                <a:solidFill>
                  <a:srgbClr val="254117"/>
                </a:solidFill>
                <a:latin typeface="TT Fors"/>
              </a:rPr>
              <a:t>PM (Next Day)</a:t>
            </a:r>
          </a:p>
        </p:txBody>
      </p:sp>
      <p:pic>
        <p:nvPicPr>
          <p:cNvPr id="84" name="Graphic 84" descr="Case hours - light shifts seasonally"/>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0333" y="3312741"/>
            <a:ext cx="854024" cy="854024"/>
          </a:xfrm>
          <a:prstGeom prst="rect">
            <a:avLst/>
          </a:prstGeom>
        </p:spPr>
      </p:pic>
      <p:pic>
        <p:nvPicPr>
          <p:cNvPr id="85" name="Graphic 85" descr="Control hours - fixed baseline"/>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00590" y="3378264"/>
            <a:ext cx="854024" cy="854024"/>
          </a:xfrm>
          <a:prstGeom prst="rect">
            <a:avLst/>
          </a:prstGeom>
        </p:spPr>
      </p:pic>
    </p:spTree>
    <p:extLst>
      <p:ext uri="{BB962C8B-B14F-4D97-AF65-F5344CB8AC3E}">
        <p14:creationId xmlns:p14="http://schemas.microsoft.com/office/powerpoint/2010/main" val="1761361782"/>
      </p:ext>
    </p:extLst>
  </p:cSld>
  <p:clrMapOvr>
    <a:masterClrMapping/>
  </p:clrMapOvr>
  <mc:AlternateContent xmlns:mc="http://schemas.openxmlformats.org/markup-compatibility/2006" xmlns:p14="http://schemas.microsoft.com/office/powerpoint/2010/main">
    <mc:Choice Requires="p14">
      <p:transition p14:dur="0" advTm="26810"/>
    </mc:Choice>
    <mc:Fallback xmlns="">
      <p:transition advTm="2681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98DA8D-D741-D138-30AF-0C9FBD20590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9E316C5-9BFB-3940-152D-622536212EF2}"/>
              </a:ext>
            </a:extLst>
          </p:cNvPr>
          <p:cNvSpPr txBox="1"/>
          <p:nvPr/>
        </p:nvSpPr>
        <p:spPr>
          <a:xfrm>
            <a:off x="659041" y="483255"/>
            <a:ext cx="12700000" cy="923330"/>
          </a:xfrm>
          <a:prstGeom prst="rect">
            <a:avLst/>
          </a:prstGeom>
          <a:noFill/>
        </p:spPr>
        <p:txBody>
          <a:bodyPr vertOverflow="overflow" vert="horz" wrap="square" rtlCol="0" anchor="t">
            <a:spAutoFit/>
          </a:bodyPr>
          <a:lstStyle/>
          <a:p>
            <a:pPr algn="l"/>
            <a:r>
              <a:rPr lang="en-US" sz="5400">
                <a:solidFill>
                  <a:srgbClr val="254117"/>
                </a:solidFill>
                <a:latin typeface="ITC Avant Garde Gothic"/>
              </a:rPr>
              <a:t>Case-Control Method</a:t>
            </a:r>
          </a:p>
        </p:txBody>
      </p:sp>
      <p:sp>
        <p:nvSpPr>
          <p:cNvPr id="5" name="TextBox 4">
            <a:extLst>
              <a:ext uri="{FF2B5EF4-FFF2-40B4-BE49-F238E27FC236}">
                <a16:creationId xmlns:a16="http://schemas.microsoft.com/office/drawing/2014/main" id="{AA2AAD60-E34E-0304-455E-58B3AC34AC97}"/>
              </a:ext>
            </a:extLst>
          </p:cNvPr>
          <p:cNvSpPr txBox="1"/>
          <p:nvPr/>
        </p:nvSpPr>
        <p:spPr>
          <a:xfrm>
            <a:off x="673100" y="1714500"/>
            <a:ext cx="12700000" cy="523220"/>
          </a:xfrm>
          <a:prstGeom prst="rect">
            <a:avLst/>
          </a:prstGeom>
          <a:noFill/>
        </p:spPr>
        <p:txBody>
          <a:bodyPr vertOverflow="overflow" vert="horz" wrap="square" rtlCol="0" anchor="t">
            <a:spAutoFit/>
          </a:bodyPr>
          <a:lstStyle/>
          <a:p>
            <a:pPr algn="l"/>
            <a:r>
              <a:rPr lang="en-US" sz="2800">
                <a:solidFill>
                  <a:srgbClr val="619365"/>
                </a:solidFill>
                <a:latin typeface="ITC Avant Garde Gothic"/>
              </a:rPr>
              <a:t>Case-control design and odds ratio calculation</a:t>
            </a:r>
          </a:p>
        </p:txBody>
      </p:sp>
      <p:sp>
        <p:nvSpPr>
          <p:cNvPr id="50" name="Accent Line">
            <a:extLst>
              <a:ext uri="{FF2B5EF4-FFF2-40B4-BE49-F238E27FC236}">
                <a16:creationId xmlns:a16="http://schemas.microsoft.com/office/drawing/2014/main" id="{E866571B-06E9-5BD7-31E6-769023F3F893}"/>
              </a:ext>
            </a:extLst>
          </p:cNvPr>
          <p:cNvSpPr/>
          <p:nvPr/>
        </p:nvSpPr>
        <p:spPr>
          <a:xfrm>
            <a:off x="685800" y="2194560"/>
            <a:ext cx="17526000" cy="0"/>
          </a:xfrm>
          <a:prstGeom prst="line">
            <a:avLst/>
          </a:prstGeom>
          <a:ln w="25400">
            <a:solidFill>
              <a:srgbClr val="619365"/>
            </a:solidFill>
          </a:ln>
        </p:spPr>
        <p:txBody>
          <a:bodyPr/>
          <a:lstStyle/>
          <a:p>
            <a:endParaRPr lang="en-US"/>
          </a:p>
        </p:txBody>
      </p:sp>
      <p:grpSp>
        <p:nvGrpSpPr>
          <p:cNvPr id="8" name="Group 7">
            <a:extLst>
              <a:ext uri="{FF2B5EF4-FFF2-40B4-BE49-F238E27FC236}">
                <a16:creationId xmlns:a16="http://schemas.microsoft.com/office/drawing/2014/main" id="{04820097-20A7-58A2-863A-E507507C1CC4}"/>
              </a:ext>
            </a:extLst>
          </p:cNvPr>
          <p:cNvGrpSpPr/>
          <p:nvPr/>
        </p:nvGrpSpPr>
        <p:grpSpPr>
          <a:xfrm>
            <a:off x="659041" y="2795732"/>
            <a:ext cx="16979900" cy="2850496"/>
            <a:chOff x="659041" y="2795732"/>
            <a:chExt cx="16979900" cy="2850496"/>
          </a:xfrm>
        </p:grpSpPr>
        <p:sp>
          <p:nvSpPr>
            <p:cNvPr id="83" name="EqBg">
              <a:extLst>
                <a:ext uri="{FF2B5EF4-FFF2-40B4-BE49-F238E27FC236}">
                  <a16:creationId xmlns:a16="http://schemas.microsoft.com/office/drawing/2014/main" id="{9840ED72-0F19-1236-5334-91B387A41247}"/>
                </a:ext>
              </a:extLst>
            </p:cNvPr>
            <p:cNvSpPr/>
            <p:nvPr/>
          </p:nvSpPr>
          <p:spPr>
            <a:xfrm>
              <a:off x="659041" y="2839528"/>
              <a:ext cx="16979900" cy="2730500"/>
            </a:xfrm>
            <a:prstGeom prst="roundRect">
              <a:avLst>
                <a:gd name="adj" fmla="val 6000"/>
              </a:avLst>
            </a:prstGeom>
            <a:solidFill>
              <a:srgbClr val="254117"/>
            </a:solidFill>
            <a:ln w="0">
              <a:noFill/>
            </a:ln>
          </p:spPr>
          <p:txBody>
            <a:bodyPr wrap="square" lIns="0" tIns="0" rIns="0" bIns="0" anchor="ctr"/>
            <a:lstStyle/>
            <a:p>
              <a:endParaRPr lang="en-US">
                <a:solidFill>
                  <a:srgbClr val="254117"/>
                </a:solidFill>
              </a:endParaRPr>
            </a:p>
          </p:txBody>
        </p:sp>
        <p:sp>
          <p:nvSpPr>
            <p:cNvPr id="90" name="EqLeft">
              <a:extLst>
                <a:ext uri="{FF2B5EF4-FFF2-40B4-BE49-F238E27FC236}">
                  <a16:creationId xmlns:a16="http://schemas.microsoft.com/office/drawing/2014/main" id="{0FF57582-E9C2-5914-AF68-603199BAE2A7}"/>
                </a:ext>
              </a:extLst>
            </p:cNvPr>
            <p:cNvSpPr txBox="1"/>
            <p:nvPr/>
          </p:nvSpPr>
          <p:spPr>
            <a:xfrm>
              <a:off x="700833" y="2915728"/>
              <a:ext cx="7878233" cy="2730500"/>
            </a:xfrm>
            <a:prstGeom prst="rect">
              <a:avLst/>
            </a:prstGeom>
            <a:noFill/>
          </p:spPr>
          <p:txBody>
            <a:bodyPr wrap="square" lIns="144000" tIns="72000" rIns="72000" bIns="72000" anchor="t"/>
            <a:lstStyle/>
            <a:p>
              <a:pPr algn="l">
                <a:spcBef>
                  <a:spcPts val="0"/>
                </a:spcBef>
                <a:spcAft>
                  <a:spcPts val="200"/>
                </a:spcAft>
                <a:buNone/>
              </a:pPr>
              <a:r>
                <a:rPr lang="en-US" sz="2400">
                  <a:solidFill>
                    <a:srgbClr val="A8CFA8"/>
                  </a:solidFill>
                  <a:latin typeface="ITC Avant Garde Gothic"/>
                </a:rPr>
                <a:t>Odds Ratio Equation </a:t>
              </a:r>
              <a:r>
                <a:rPr lang="en-US" sz="1200">
                  <a:solidFill>
                    <a:srgbClr val="A8CFA8"/>
                  </a:solidFill>
                  <a:latin typeface="ITC Avant Garde Gothic"/>
                </a:rPr>
                <a:t>[8] </a:t>
              </a:r>
            </a:p>
            <a:p>
              <a:pPr algn="l">
                <a:spcBef>
                  <a:spcPts val="0"/>
                </a:spcBef>
                <a:spcAft>
                  <a:spcPts val="200"/>
                </a:spcAft>
                <a:buNone/>
              </a:pPr>
              <a:endParaRPr lang="en-US" sz="2000">
                <a:solidFill>
                  <a:srgbClr val="A8CFA8"/>
                </a:solidFill>
                <a:latin typeface="ITC Avant Garde Gothic"/>
              </a:endParaRPr>
            </a:p>
            <a:p>
              <a:pPr algn="l">
                <a:spcBef>
                  <a:spcPts val="0"/>
                </a:spcBef>
                <a:spcAft>
                  <a:spcPts val="200"/>
                </a:spcAft>
                <a:buNone/>
              </a:pPr>
              <a:endParaRPr lang="en-US" sz="2000">
                <a:solidFill>
                  <a:srgbClr val="A8CFA8"/>
                </a:solidFill>
                <a:latin typeface="ITC Avant Garde Gothic"/>
              </a:endParaRPr>
            </a:p>
            <a:p>
              <a:pPr algn="l">
                <a:spcBef>
                  <a:spcPts val="0"/>
                </a:spcBef>
                <a:spcAft>
                  <a:spcPts val="0"/>
                </a:spcAft>
                <a:buNone/>
              </a:pPr>
              <a:r>
                <a:rPr lang="en-US" sz="4000" b="1">
                  <a:solidFill>
                    <a:srgbClr val="FFFFFF"/>
                  </a:solidFill>
                  <a:latin typeface="Cambria Math"/>
                </a:rPr>
                <a:t>	OR = (A / B) / (C / D)</a:t>
              </a:r>
            </a:p>
          </p:txBody>
        </p:sp>
        <p:sp>
          <p:nvSpPr>
            <p:cNvPr id="91" name="EqDivider">
              <a:extLst>
                <a:ext uri="{FF2B5EF4-FFF2-40B4-BE49-F238E27FC236}">
                  <a16:creationId xmlns:a16="http://schemas.microsoft.com/office/drawing/2014/main" id="{6E70A4BA-B99E-FA24-6725-DD4AF430D1CB}"/>
                </a:ext>
              </a:extLst>
            </p:cNvPr>
            <p:cNvSpPr/>
            <p:nvPr/>
          </p:nvSpPr>
          <p:spPr>
            <a:xfrm>
              <a:off x="9108233" y="3157028"/>
              <a:ext cx="12700" cy="2095500"/>
            </a:xfrm>
            <a:prstGeom prst="rect">
              <a:avLst/>
            </a:prstGeom>
            <a:solidFill>
              <a:srgbClr val="619365"/>
            </a:solidFill>
            <a:ln w="0">
              <a:noFill/>
            </a:ln>
          </p:spPr>
          <p:txBody>
            <a:bodyPr/>
            <a:lstStyle/>
            <a:p>
              <a:endParaRPr lang="en-US"/>
            </a:p>
          </p:txBody>
        </p:sp>
        <p:sp>
          <p:nvSpPr>
            <p:cNvPr id="92" name="EqVars">
              <a:extLst>
                <a:ext uri="{FF2B5EF4-FFF2-40B4-BE49-F238E27FC236}">
                  <a16:creationId xmlns:a16="http://schemas.microsoft.com/office/drawing/2014/main" id="{33754AF4-78F9-84CE-0FCA-0A5DBFCA0DF3}"/>
                </a:ext>
              </a:extLst>
            </p:cNvPr>
            <p:cNvSpPr txBox="1"/>
            <p:nvPr/>
          </p:nvSpPr>
          <p:spPr>
            <a:xfrm>
              <a:off x="10133930" y="2795732"/>
              <a:ext cx="6891868" cy="2730500"/>
            </a:xfrm>
            <a:prstGeom prst="rect">
              <a:avLst/>
            </a:prstGeom>
            <a:noFill/>
          </p:spPr>
          <p:txBody>
            <a:bodyPr wrap="square" lIns="108000" tIns="72000" rIns="72000" bIns="72000" anchor="ctr"/>
            <a:lstStyle/>
            <a:p>
              <a:pPr algn="l">
                <a:spcBef>
                  <a:spcPts val="0"/>
                </a:spcBef>
                <a:spcAft>
                  <a:spcPts val="250"/>
                </a:spcAft>
                <a:buNone/>
              </a:pPr>
              <a:r>
                <a:rPr lang="en-US" sz="3600" b="1">
                  <a:solidFill>
                    <a:srgbClr val="FFFFFF"/>
                  </a:solidFill>
                  <a:latin typeface="Cambria Math"/>
                </a:rPr>
                <a:t>	</a:t>
              </a:r>
              <a:r>
                <a:rPr lang="en-US" sz="3200" b="1">
                  <a:solidFill>
                    <a:srgbClr val="FFFFFF"/>
                  </a:solidFill>
                  <a:latin typeface="Cambria Math"/>
                </a:rPr>
                <a:t>A</a:t>
              </a:r>
              <a:r>
                <a:rPr lang="en-US" sz="2000">
                  <a:solidFill>
                    <a:srgbClr val="A8CFA8"/>
                  </a:solidFill>
                  <a:latin typeface="TT Fors"/>
                </a:rPr>
                <a:t>  Count in case hour when </a:t>
              </a:r>
              <a:r>
                <a:rPr lang="en-US" sz="2000" b="1">
                  <a:solidFill>
                    <a:srgbClr val="FFFFFF"/>
                  </a:solidFill>
                  <a:latin typeface="TT Fors"/>
                </a:rPr>
                <a:t>light</a:t>
              </a:r>
            </a:p>
            <a:p>
              <a:pPr algn="l">
                <a:spcBef>
                  <a:spcPts val="0"/>
                </a:spcBef>
                <a:spcAft>
                  <a:spcPts val="250"/>
                </a:spcAft>
                <a:buNone/>
              </a:pPr>
              <a:r>
                <a:rPr lang="en-US" sz="3200" b="1">
                  <a:solidFill>
                    <a:srgbClr val="FFFFFF"/>
                  </a:solidFill>
                  <a:latin typeface="Cambria Math"/>
                </a:rPr>
                <a:t>	B</a:t>
              </a:r>
              <a:r>
                <a:rPr lang="en-US" sz="2000">
                  <a:solidFill>
                    <a:srgbClr val="A8CFA8"/>
                  </a:solidFill>
                  <a:latin typeface="TT Fors"/>
                </a:rPr>
                <a:t>  Count in case hour when </a:t>
              </a:r>
              <a:r>
                <a:rPr lang="en-US" sz="2000" b="1">
                  <a:solidFill>
                    <a:srgbClr val="FFFFFF"/>
                  </a:solidFill>
                  <a:latin typeface="TT Fors"/>
                </a:rPr>
                <a:t>dark</a:t>
              </a:r>
            </a:p>
            <a:p>
              <a:pPr algn="l">
                <a:spcBef>
                  <a:spcPts val="0"/>
                </a:spcBef>
                <a:spcAft>
                  <a:spcPts val="250"/>
                </a:spcAft>
                <a:buNone/>
              </a:pPr>
              <a:r>
                <a:rPr lang="en-US" sz="3200" b="1">
                  <a:solidFill>
                    <a:srgbClr val="FFFFFF"/>
                  </a:solidFill>
                  <a:latin typeface="Cambria Math"/>
                </a:rPr>
                <a:t>	C</a:t>
              </a:r>
              <a:r>
                <a:rPr lang="en-US" sz="2000">
                  <a:solidFill>
                    <a:srgbClr val="A8CFA8"/>
                  </a:solidFill>
                  <a:latin typeface="TT Fors"/>
                </a:rPr>
                <a:t>  Count in control hour when </a:t>
              </a:r>
              <a:r>
                <a:rPr lang="en-US" sz="2000" b="1">
                  <a:solidFill>
                    <a:srgbClr val="FFFFFF"/>
                  </a:solidFill>
                  <a:latin typeface="TT Fors"/>
                </a:rPr>
                <a:t>light</a:t>
              </a:r>
            </a:p>
            <a:p>
              <a:pPr algn="l">
                <a:spcBef>
                  <a:spcPts val="0"/>
                </a:spcBef>
                <a:spcAft>
                  <a:spcPts val="0"/>
                </a:spcAft>
                <a:buNone/>
              </a:pPr>
              <a:r>
                <a:rPr lang="en-US" sz="3200" b="1">
                  <a:solidFill>
                    <a:srgbClr val="FFFFFF"/>
                  </a:solidFill>
                  <a:latin typeface="Cambria Math"/>
                </a:rPr>
                <a:t>	D</a:t>
              </a:r>
              <a:r>
                <a:rPr lang="en-US" sz="2000">
                  <a:solidFill>
                    <a:srgbClr val="A8CFA8"/>
                  </a:solidFill>
                  <a:latin typeface="TT Fors"/>
                </a:rPr>
                <a:t>  Count in control hour when </a:t>
              </a:r>
              <a:r>
                <a:rPr lang="en-US" sz="2000" b="1">
                  <a:solidFill>
                    <a:srgbClr val="FFFFFF"/>
                  </a:solidFill>
                  <a:latin typeface="TT Fors"/>
                </a:rPr>
                <a:t>dark</a:t>
              </a:r>
            </a:p>
          </p:txBody>
        </p:sp>
      </p:grpSp>
      <p:sp>
        <p:nvSpPr>
          <p:cNvPr id="3" name="EqBg">
            <a:extLst>
              <a:ext uri="{FF2B5EF4-FFF2-40B4-BE49-F238E27FC236}">
                <a16:creationId xmlns:a16="http://schemas.microsoft.com/office/drawing/2014/main" id="{740DA212-8599-5BDA-7700-681E85611716}"/>
              </a:ext>
            </a:extLst>
          </p:cNvPr>
          <p:cNvSpPr/>
          <p:nvPr/>
        </p:nvSpPr>
        <p:spPr>
          <a:xfrm>
            <a:off x="659041" y="6291970"/>
            <a:ext cx="16979900" cy="2730500"/>
          </a:xfrm>
          <a:prstGeom prst="roundRect">
            <a:avLst>
              <a:gd name="adj" fmla="val 6000"/>
            </a:avLst>
          </a:prstGeom>
          <a:solidFill>
            <a:srgbClr val="254117"/>
          </a:solidFill>
          <a:ln w="0">
            <a:noFill/>
          </a:ln>
        </p:spPr>
        <p:txBody>
          <a:bodyPr wrap="square" lIns="0" tIns="0" rIns="0" bIns="0" anchor="ctr"/>
          <a:lstStyle/>
          <a:p>
            <a:endParaRPr lang="en-US">
              <a:solidFill>
                <a:srgbClr val="254117"/>
              </a:solidFill>
            </a:endParaRPr>
          </a:p>
        </p:txBody>
      </p:sp>
      <p:sp>
        <p:nvSpPr>
          <p:cNvPr id="4" name="EqLeft">
            <a:extLst>
              <a:ext uri="{FF2B5EF4-FFF2-40B4-BE49-F238E27FC236}">
                <a16:creationId xmlns:a16="http://schemas.microsoft.com/office/drawing/2014/main" id="{E627132D-6BCB-A7E5-FC7E-D1B47A5C403E}"/>
              </a:ext>
            </a:extLst>
          </p:cNvPr>
          <p:cNvSpPr txBox="1"/>
          <p:nvPr/>
        </p:nvSpPr>
        <p:spPr>
          <a:xfrm>
            <a:off x="741591" y="6368170"/>
            <a:ext cx="7878233" cy="2730500"/>
          </a:xfrm>
          <a:prstGeom prst="rect">
            <a:avLst/>
          </a:prstGeom>
          <a:noFill/>
        </p:spPr>
        <p:txBody>
          <a:bodyPr wrap="square" lIns="144000" tIns="72000" rIns="72000" bIns="72000" anchor="t"/>
          <a:lstStyle/>
          <a:p>
            <a:pPr algn="l">
              <a:spcBef>
                <a:spcPts val="0"/>
              </a:spcBef>
              <a:spcAft>
                <a:spcPts val="100"/>
              </a:spcAft>
              <a:buNone/>
            </a:pPr>
            <a:r>
              <a:rPr lang="en-US" sz="2400">
                <a:solidFill>
                  <a:srgbClr val="A8CFA8"/>
                </a:solidFill>
                <a:latin typeface="ITC Avant Garde Gothic"/>
              </a:rPr>
              <a:t>Pooled Mantel-Haenszel OR</a:t>
            </a:r>
            <a:r>
              <a:rPr lang="en-US" sz="1400">
                <a:solidFill>
                  <a:srgbClr val="A8CFA8"/>
                </a:solidFill>
                <a:latin typeface="ITC Avant Garde Gothic"/>
              </a:rPr>
              <a:t> [8][9]</a:t>
            </a:r>
            <a:endParaRPr lang="en-US" sz="2400">
              <a:solidFill>
                <a:srgbClr val="A8CFA8"/>
              </a:solidFill>
              <a:latin typeface="ITC Avant Garde Gothic"/>
            </a:endParaRPr>
          </a:p>
          <a:p>
            <a:pPr algn="l">
              <a:spcBef>
                <a:spcPts val="0"/>
              </a:spcBef>
              <a:spcAft>
                <a:spcPts val="100"/>
              </a:spcAft>
              <a:buNone/>
            </a:pPr>
            <a:endParaRPr lang="en-US" sz="2400">
              <a:solidFill>
                <a:srgbClr val="A8CFA8"/>
              </a:solidFill>
              <a:latin typeface="ITC Avant Garde Gothic"/>
            </a:endParaRPr>
          </a:p>
          <a:p>
            <a:pPr algn="l">
              <a:lnSpc>
                <a:spcPts val="800"/>
              </a:lnSpc>
              <a:spcBef>
                <a:spcPts val="200"/>
              </a:spcBef>
              <a:spcAft>
                <a:spcPts val="0"/>
              </a:spcAft>
              <a:buNone/>
            </a:pPr>
            <a:endParaRPr lang="en-US" sz="1400">
              <a:solidFill>
                <a:srgbClr val="A8CFA8"/>
              </a:solidFill>
              <a:latin typeface="ITC Avant Garde Gothic"/>
            </a:endParaRPr>
          </a:p>
          <a:p>
            <a:pPr algn="l">
              <a:lnSpc>
                <a:spcPts val="3200"/>
              </a:lnSpc>
              <a:spcBef>
                <a:spcPts val="0"/>
              </a:spcBef>
              <a:spcAft>
                <a:spcPts val="0"/>
              </a:spcAft>
              <a:buNone/>
            </a:pPr>
            <a:r>
              <a:rPr lang="en-US" sz="2800" b="1">
                <a:solidFill>
                  <a:srgbClr val="FFFFFF"/>
                </a:solidFill>
                <a:latin typeface="Cambria Math"/>
              </a:rPr>
              <a:t>    </a:t>
            </a:r>
            <a:r>
              <a:rPr lang="en-US" sz="4000" b="1">
                <a:solidFill>
                  <a:srgbClr val="FFFFFF"/>
                </a:solidFill>
                <a:latin typeface="Cambria Math"/>
              </a:rPr>
              <a:t>               	     </a:t>
            </a:r>
            <a:r>
              <a:rPr lang="en-US" sz="4000" b="1" err="1">
                <a:solidFill>
                  <a:srgbClr val="FFFFFF"/>
                </a:solidFill>
                <a:latin typeface="Cambria Math"/>
              </a:rPr>
              <a:t>Σ</a:t>
            </a:r>
            <a:r>
              <a:rPr lang="en-US" sz="4000" b="1">
                <a:solidFill>
                  <a:srgbClr val="FFFFFF"/>
                </a:solidFill>
                <a:latin typeface="Cambria Math"/>
              </a:rPr>
              <a:t>(A∙D / N)</a:t>
            </a:r>
          </a:p>
          <a:p>
            <a:pPr algn="l">
              <a:lnSpc>
                <a:spcPts val="2400"/>
              </a:lnSpc>
              <a:spcBef>
                <a:spcPts val="0"/>
              </a:spcBef>
              <a:spcAft>
                <a:spcPts val="0"/>
              </a:spcAft>
              <a:buNone/>
            </a:pPr>
            <a:r>
              <a:rPr lang="en-US" sz="3200" b="1">
                <a:solidFill>
                  <a:srgbClr val="FFFFFF"/>
                </a:solidFill>
                <a:latin typeface="Cambria Math"/>
              </a:rPr>
              <a:t>	</a:t>
            </a:r>
            <a:r>
              <a:rPr lang="en-US" sz="4000" b="1">
                <a:solidFill>
                  <a:srgbClr val="FFFFFF"/>
                </a:solidFill>
                <a:latin typeface="Cambria Math"/>
              </a:rPr>
              <a:t>MHᵂOR</a:t>
            </a:r>
            <a:r>
              <a:rPr lang="en-US" sz="3200" b="1">
                <a:solidFill>
                  <a:srgbClr val="FFFFFF"/>
                </a:solidFill>
                <a:latin typeface="Cambria Math"/>
              </a:rPr>
              <a:t>  = ─────────</a:t>
            </a:r>
          </a:p>
          <a:p>
            <a:pPr algn="l">
              <a:lnSpc>
                <a:spcPts val="3200"/>
              </a:lnSpc>
              <a:spcBef>
                <a:spcPts val="0"/>
              </a:spcBef>
              <a:spcAft>
                <a:spcPts val="0"/>
              </a:spcAft>
              <a:buNone/>
            </a:pPr>
            <a:r>
              <a:rPr lang="en-US" sz="4000" b="1">
                <a:solidFill>
                  <a:srgbClr val="FFFFFF"/>
                </a:solidFill>
                <a:latin typeface="Cambria Math"/>
              </a:rPr>
              <a:t>                  	     </a:t>
            </a:r>
            <a:r>
              <a:rPr lang="en-US" sz="4000" b="1" err="1">
                <a:solidFill>
                  <a:srgbClr val="FFFFFF"/>
                </a:solidFill>
                <a:latin typeface="Cambria Math"/>
              </a:rPr>
              <a:t>Σ</a:t>
            </a:r>
            <a:r>
              <a:rPr lang="en-US" sz="4000" b="1">
                <a:solidFill>
                  <a:srgbClr val="FFFFFF"/>
                </a:solidFill>
                <a:latin typeface="Cambria Math"/>
              </a:rPr>
              <a:t>(B∙C / N)</a:t>
            </a:r>
          </a:p>
        </p:txBody>
      </p:sp>
      <p:sp>
        <p:nvSpPr>
          <p:cNvPr id="6" name="EqDivider">
            <a:extLst>
              <a:ext uri="{FF2B5EF4-FFF2-40B4-BE49-F238E27FC236}">
                <a16:creationId xmlns:a16="http://schemas.microsoft.com/office/drawing/2014/main" id="{8171D0E1-82B9-95B0-5DBB-83BC52406C8E}"/>
              </a:ext>
            </a:extLst>
          </p:cNvPr>
          <p:cNvSpPr/>
          <p:nvPr/>
        </p:nvSpPr>
        <p:spPr>
          <a:xfrm>
            <a:off x="9108233" y="6609470"/>
            <a:ext cx="12700" cy="2095500"/>
          </a:xfrm>
          <a:prstGeom prst="rect">
            <a:avLst/>
          </a:prstGeom>
          <a:solidFill>
            <a:srgbClr val="619365"/>
          </a:solidFill>
          <a:ln w="0">
            <a:noFill/>
          </a:ln>
        </p:spPr>
        <p:txBody>
          <a:bodyPr/>
          <a:lstStyle/>
          <a:p>
            <a:endParaRPr lang="en-US"/>
          </a:p>
        </p:txBody>
      </p:sp>
      <p:sp>
        <p:nvSpPr>
          <p:cNvPr id="7" name="EqVars">
            <a:extLst>
              <a:ext uri="{FF2B5EF4-FFF2-40B4-BE49-F238E27FC236}">
                <a16:creationId xmlns:a16="http://schemas.microsoft.com/office/drawing/2014/main" id="{3C89E983-3BA5-2C77-1206-E74CDD0689CB}"/>
              </a:ext>
            </a:extLst>
          </p:cNvPr>
          <p:cNvSpPr txBox="1"/>
          <p:nvPr/>
        </p:nvSpPr>
        <p:spPr>
          <a:xfrm>
            <a:off x="10133930" y="6248174"/>
            <a:ext cx="6891868" cy="2730500"/>
          </a:xfrm>
          <a:prstGeom prst="rect">
            <a:avLst/>
          </a:prstGeom>
          <a:noFill/>
        </p:spPr>
        <p:txBody>
          <a:bodyPr wrap="square" lIns="108000" tIns="72000" rIns="72000" bIns="72000" anchor="ctr"/>
          <a:lstStyle/>
          <a:p>
            <a:pPr algn="l">
              <a:spcBef>
                <a:spcPts val="200"/>
              </a:spcBef>
              <a:spcAft>
                <a:spcPts val="300"/>
              </a:spcAft>
              <a:buNone/>
            </a:pPr>
            <a:r>
              <a:rPr lang="en-US" sz="3200" b="1">
                <a:solidFill>
                  <a:srgbClr val="FFFFFF"/>
                </a:solidFill>
                <a:latin typeface="Cambria Math"/>
              </a:rPr>
              <a:t>A, B, C, D  </a:t>
            </a:r>
            <a:r>
              <a:rPr lang="en-US" sz="2000">
                <a:solidFill>
                  <a:srgbClr val="A8CFA8"/>
                </a:solidFill>
                <a:latin typeface="TT Fors"/>
              </a:rPr>
              <a:t>Per-pair 2×2 table cells</a:t>
            </a:r>
          </a:p>
          <a:p>
            <a:pPr algn="l">
              <a:spcBef>
                <a:spcPts val="0"/>
              </a:spcBef>
              <a:spcAft>
                <a:spcPts val="300"/>
              </a:spcAft>
              <a:buNone/>
            </a:pPr>
            <a:r>
              <a:rPr lang="en-US" sz="3200" b="1">
                <a:solidFill>
                  <a:srgbClr val="FFFFFF"/>
                </a:solidFill>
                <a:latin typeface="Cambria Math"/>
              </a:rPr>
              <a:t>N</a:t>
            </a:r>
            <a:r>
              <a:rPr lang="en-US" sz="2000">
                <a:solidFill>
                  <a:srgbClr val="A8CFA8"/>
                </a:solidFill>
                <a:latin typeface="TT Fors"/>
              </a:rPr>
              <a:t>  =  A + B + C + D</a:t>
            </a:r>
          </a:p>
          <a:p>
            <a:pPr algn="l">
              <a:spcBef>
                <a:spcPts val="0"/>
              </a:spcBef>
              <a:spcAft>
                <a:spcPts val="0"/>
              </a:spcAft>
              <a:buNone/>
            </a:pPr>
            <a:r>
              <a:rPr lang="en-US" sz="3200" b="1" err="1">
                <a:solidFill>
                  <a:srgbClr val="FFFFFF"/>
                </a:solidFill>
                <a:latin typeface="Cambria Math"/>
              </a:rPr>
              <a:t>Σ</a:t>
            </a:r>
            <a:r>
              <a:rPr lang="en-US" sz="2400">
                <a:solidFill>
                  <a:srgbClr val="A8CFA8"/>
                </a:solidFill>
                <a:latin typeface="TT Fors"/>
              </a:rPr>
              <a:t> </a:t>
            </a:r>
            <a:r>
              <a:rPr lang="en-US" sz="2000">
                <a:solidFill>
                  <a:srgbClr val="A8CFA8"/>
                </a:solidFill>
                <a:latin typeface="TT Fors"/>
              </a:rPr>
              <a:t> Over all valid hour pairs</a:t>
            </a:r>
          </a:p>
        </p:txBody>
      </p:sp>
      <p:sp>
        <p:nvSpPr>
          <p:cNvPr id="13" name="TextBox 12">
            <a:extLst>
              <a:ext uri="{FF2B5EF4-FFF2-40B4-BE49-F238E27FC236}">
                <a16:creationId xmlns:a16="http://schemas.microsoft.com/office/drawing/2014/main" id="{74C2D740-6B35-5A09-9D9E-4C546F17DDDE}"/>
              </a:ext>
            </a:extLst>
          </p:cNvPr>
          <p:cNvSpPr txBox="1"/>
          <p:nvPr/>
        </p:nvSpPr>
        <p:spPr>
          <a:xfrm>
            <a:off x="363398" y="9285117"/>
            <a:ext cx="16662400" cy="830997"/>
          </a:xfrm>
          <a:prstGeom prst="rect">
            <a:avLst/>
          </a:prstGeom>
          <a:noFill/>
        </p:spPr>
        <p:txBody>
          <a:bodyPr wrap="square">
            <a:spAutoFit/>
          </a:bodyPr>
          <a:lstStyle/>
          <a:p>
            <a:r>
              <a:rPr lang="en-US" sz="2400">
                <a:solidFill>
                  <a:srgbClr val="4A7A4E"/>
                </a:solidFill>
                <a:latin typeface="TT Fors"/>
              </a:rPr>
              <a:t>[8] Fotios et al. (2024), odds-ratio sensitivity </a:t>
            </a:r>
          </a:p>
          <a:p>
            <a:r>
              <a:rPr lang="en-US" sz="2400">
                <a:solidFill>
                  <a:srgbClr val="4A7A4E"/>
                </a:solidFill>
                <a:latin typeface="TT Fors"/>
              </a:rPr>
              <a:t>[9] Mantel, N. and Haenszel, W. (1959) Journal of the National Cancer Institute, 22(4), 719-748.</a:t>
            </a:r>
            <a:endParaRPr lang="en-US" sz="2400"/>
          </a:p>
        </p:txBody>
      </p:sp>
    </p:spTree>
    <p:extLst>
      <p:ext uri="{BB962C8B-B14F-4D97-AF65-F5344CB8AC3E}">
        <p14:creationId xmlns:p14="http://schemas.microsoft.com/office/powerpoint/2010/main" val="2727964360"/>
      </p:ext>
    </p:extLst>
  </p:cSld>
  <p:clrMapOvr>
    <a:masterClrMapping/>
  </p:clrMapOvr>
  <mc:AlternateContent xmlns:mc="http://schemas.openxmlformats.org/markup-compatibility/2006" xmlns:p14="http://schemas.microsoft.com/office/powerpoint/2010/main">
    <mc:Choice Requires="p14">
      <p:transition p14:dur="0" advTm="47995"/>
    </mc:Choice>
    <mc:Fallback xmlns="">
      <p:transition advTm="47995"/>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629F7-C46F-2136-4EB2-0E8C70997FA6}"/>
            </a:ext>
          </a:extLst>
        </p:cNvPr>
        <p:cNvGrpSpPr/>
        <p:nvPr/>
      </p:nvGrpSpPr>
      <p:grpSpPr>
        <a:xfrm>
          <a:off x="0" y="0"/>
          <a:ext cx="0" cy="0"/>
          <a:chOff x="0" y="0"/>
          <a:chExt cx="0" cy="0"/>
        </a:xfrm>
      </p:grpSpPr>
      <p:sp>
        <p:nvSpPr>
          <p:cNvPr id="2" name="Title"/>
          <p:cNvSpPr/>
          <p:nvPr/>
        </p:nvSpPr>
        <p:spPr>
          <a:xfrm>
            <a:off x="609600" y="457200"/>
            <a:ext cx="11430000" cy="812800"/>
          </a:xfrm>
          <a:prstGeom prst="rect">
            <a:avLst/>
          </a:prstGeom>
          <a:noFill/>
        </p:spPr>
        <p:txBody>
          <a:bodyPr lIns="91440" tIns="45720" rIns="91440" bIns="45720" anchor="b"/>
          <a:lstStyle/>
          <a:p>
            <a:r>
              <a:rPr lang="en-US" sz="4400">
                <a:solidFill>
                  <a:srgbClr val="254117"/>
                </a:solidFill>
                <a:latin typeface="ITC Avant Garde Gothic"/>
              </a:rPr>
              <a:t>Generalised Linear Model: Why?</a:t>
            </a:r>
          </a:p>
        </p:txBody>
      </p:sp>
      <p:sp>
        <p:nvSpPr>
          <p:cNvPr id="4" name="Line"/>
          <p:cNvSpPr/>
          <p:nvPr/>
        </p:nvSpPr>
        <p:spPr>
          <a:xfrm>
            <a:off x="609600" y="1803400"/>
            <a:ext cx="17068800" cy="25400"/>
          </a:xfrm>
          <a:prstGeom prst="rect">
            <a:avLst/>
          </a:prstGeom>
          <a:solidFill>
            <a:srgbClr val="619365"/>
          </a:solidFill>
          <a:ln>
            <a:noFill/>
          </a:ln>
        </p:spPr>
        <p:txBody>
          <a:bodyPr/>
          <a:lstStyle/>
          <a:p>
            <a:endParaRPr/>
          </a:p>
        </p:txBody>
      </p:sp>
      <p:sp>
        <p:nvSpPr>
          <p:cNvPr id="36" name="TextBox 35">
            <a:extLst>
              <a:ext uri="{FF2B5EF4-FFF2-40B4-BE49-F238E27FC236}">
                <a16:creationId xmlns:a16="http://schemas.microsoft.com/office/drawing/2014/main" id="{1E3593F0-E213-0E92-0E03-05B8885E681C}"/>
              </a:ext>
            </a:extLst>
          </p:cNvPr>
          <p:cNvSpPr txBox="1"/>
          <p:nvPr/>
        </p:nvSpPr>
        <p:spPr>
          <a:xfrm>
            <a:off x="612913" y="2575891"/>
            <a:ext cx="13893727" cy="59093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571500" indent="-571500">
              <a:buFont typeface="Arial" panose="020B0604020202020204" pitchFamily="34" charset="0"/>
              <a:buChar char="•"/>
            </a:pPr>
            <a:r>
              <a:rPr lang="en-GB" sz="3600">
                <a:solidFill>
                  <a:schemeClr val="accent3">
                    <a:lumMod val="49000"/>
                  </a:schemeClr>
                </a:solidFill>
                <a:latin typeface="ITC Avant Garde Gothic"/>
                <a:ea typeface="Calibri"/>
                <a:cs typeface="Calibri"/>
              </a:rPr>
              <a:t>Outcome = pedestrian counts (discrete and non negative)</a:t>
            </a:r>
          </a:p>
          <a:p>
            <a:pPr marL="571500" indent="-571500">
              <a:buFont typeface="Arial" panose="020B0604020202020204" pitchFamily="34" charset="0"/>
              <a:buChar char="•"/>
            </a:pPr>
            <a:endParaRPr lang="en-GB" sz="3600">
              <a:solidFill>
                <a:schemeClr val="accent3">
                  <a:lumMod val="49000"/>
                </a:schemeClr>
              </a:solidFill>
              <a:latin typeface="ITC Avant Garde Gothic"/>
              <a:ea typeface="Calibri"/>
              <a:cs typeface="Calibri"/>
            </a:endParaRPr>
          </a:p>
          <a:p>
            <a:pPr marL="571500" indent="-571500">
              <a:buFont typeface="Arial" panose="020B0604020202020204" pitchFamily="34" charset="0"/>
              <a:buChar char="•"/>
            </a:pPr>
            <a:r>
              <a:rPr lang="en-GB" sz="3600">
                <a:solidFill>
                  <a:schemeClr val="accent3">
                    <a:lumMod val="49000"/>
                  </a:schemeClr>
                </a:solidFill>
                <a:latin typeface="ITC Avant Garde Gothic"/>
                <a:ea typeface="Calibri"/>
                <a:cs typeface="Calibri"/>
              </a:rPr>
              <a:t>Data is </a:t>
            </a:r>
            <a:r>
              <a:rPr lang="en-GB" sz="3600" err="1">
                <a:solidFill>
                  <a:schemeClr val="accent3">
                    <a:lumMod val="49000"/>
                  </a:schemeClr>
                </a:solidFill>
                <a:latin typeface="ITC Avant Garde Gothic"/>
                <a:ea typeface="Calibri"/>
                <a:cs typeface="Calibri"/>
              </a:rPr>
              <a:t>overdispersed</a:t>
            </a:r>
            <a:r>
              <a:rPr lang="en-GB" sz="3600">
                <a:solidFill>
                  <a:schemeClr val="accent3">
                    <a:lumMod val="49000"/>
                  </a:schemeClr>
                </a:solidFill>
                <a:latin typeface="ITC Avant Garde Gothic"/>
                <a:ea typeface="Calibri"/>
                <a:cs typeface="Calibri"/>
              </a:rPr>
              <a:t> (variance &gt; mean)</a:t>
            </a:r>
          </a:p>
          <a:p>
            <a:pPr marL="571500" indent="-571500">
              <a:buFont typeface="Arial" panose="020B0604020202020204" pitchFamily="34" charset="0"/>
              <a:buChar char="•"/>
            </a:pPr>
            <a:endParaRPr lang="en-GB" sz="3600">
              <a:solidFill>
                <a:schemeClr val="accent3">
                  <a:lumMod val="49000"/>
                </a:schemeClr>
              </a:solidFill>
              <a:latin typeface="ITC Avant Garde Gothic"/>
              <a:ea typeface="Calibri"/>
              <a:cs typeface="Calibri"/>
            </a:endParaRPr>
          </a:p>
          <a:p>
            <a:pPr marL="571500" indent="-571500">
              <a:buFont typeface="Arial" panose="020B0604020202020204" pitchFamily="34" charset="0"/>
              <a:buChar char="•"/>
            </a:pPr>
            <a:r>
              <a:rPr lang="en-GB" sz="3600">
                <a:solidFill>
                  <a:schemeClr val="accent3">
                    <a:lumMod val="49000"/>
                  </a:schemeClr>
                </a:solidFill>
                <a:latin typeface="ITC Avant Garde Gothic"/>
                <a:ea typeface="Calibri"/>
                <a:cs typeface="Calibri"/>
              </a:rPr>
              <a:t>Includes: time, weather</a:t>
            </a:r>
            <a:r>
              <a:rPr lang="en-GB" sz="1600">
                <a:solidFill>
                  <a:schemeClr val="accent3">
                    <a:lumMod val="49000"/>
                  </a:schemeClr>
                </a:solidFill>
                <a:latin typeface="ITC Avant Garde Gothic"/>
                <a:ea typeface="Calibri"/>
                <a:cs typeface="Calibri"/>
              </a:rPr>
              <a:t>[10][11] </a:t>
            </a:r>
            <a:r>
              <a:rPr lang="en-GB" sz="2800">
                <a:solidFill>
                  <a:schemeClr val="accent3">
                    <a:lumMod val="49000"/>
                  </a:schemeClr>
                </a:solidFill>
                <a:latin typeface="ITC Avant Garde Gothic"/>
                <a:ea typeface="Calibri"/>
                <a:cs typeface="Calibri"/>
              </a:rPr>
              <a:t>,</a:t>
            </a:r>
            <a:r>
              <a:rPr lang="en-GB" sz="3600">
                <a:solidFill>
                  <a:schemeClr val="accent3">
                    <a:lumMod val="49000"/>
                  </a:schemeClr>
                </a:solidFill>
                <a:latin typeface="ITC Avant Garde Gothic"/>
                <a:ea typeface="Calibri"/>
                <a:cs typeface="Calibri"/>
              </a:rPr>
              <a:t>lags, darkness</a:t>
            </a:r>
          </a:p>
          <a:p>
            <a:endParaRPr lang="en-GB" sz="3600">
              <a:solidFill>
                <a:schemeClr val="accent3">
                  <a:lumMod val="49000"/>
                </a:schemeClr>
              </a:solidFill>
              <a:latin typeface="ITC Avant Garde Gothic"/>
              <a:ea typeface="Calibri"/>
              <a:cs typeface="Calibri"/>
            </a:endParaRPr>
          </a:p>
          <a:p>
            <a:pPr marL="571500" indent="-571500">
              <a:buFont typeface="Arial" panose="020B0604020202020204" pitchFamily="34" charset="0"/>
              <a:buChar char="•"/>
            </a:pPr>
            <a:r>
              <a:rPr lang="en-GB" sz="3600">
                <a:solidFill>
                  <a:schemeClr val="accent3">
                    <a:lumMod val="49000"/>
                  </a:schemeClr>
                </a:solidFill>
                <a:latin typeface="ITC Avant Garde Gothic"/>
                <a:ea typeface="Calibri"/>
                <a:cs typeface="Calibri"/>
              </a:rPr>
              <a:t>Interpretable effects (percentage change)</a:t>
            </a:r>
          </a:p>
          <a:p>
            <a:pPr marL="571500" indent="-571500">
              <a:buFont typeface="Arial" panose="020B0604020202020204" pitchFamily="34" charset="0"/>
              <a:buChar char="•"/>
            </a:pPr>
            <a:endParaRPr lang="en-GB" sz="3600">
              <a:solidFill>
                <a:schemeClr val="accent3">
                  <a:lumMod val="49000"/>
                </a:schemeClr>
              </a:solidFill>
              <a:latin typeface="ITC Avant Garde Gothic"/>
              <a:ea typeface="Calibri"/>
              <a:cs typeface="Calibri"/>
            </a:endParaRPr>
          </a:p>
          <a:p>
            <a:pPr marL="571500" indent="-571500">
              <a:buFont typeface="Arial" panose="020B0604020202020204" pitchFamily="34" charset="0"/>
              <a:buChar char="•"/>
            </a:pPr>
            <a:r>
              <a:rPr lang="en-GB" sz="3600">
                <a:solidFill>
                  <a:schemeClr val="accent3">
                    <a:lumMod val="49000"/>
                  </a:schemeClr>
                </a:solidFill>
                <a:latin typeface="ITC Avant Garde Gothic"/>
                <a:ea typeface="Calibri"/>
                <a:cs typeface="Calibri"/>
              </a:rPr>
              <a:t>Link: log(E[ped])</a:t>
            </a:r>
          </a:p>
          <a:p>
            <a:pPr marL="285750" indent="-285750">
              <a:buFont typeface="Wingdings"/>
              <a:buChar char="Ø"/>
            </a:pPr>
            <a:endParaRPr lang="en-GB" sz="3600">
              <a:solidFill>
                <a:srgbClr val="4D6027"/>
              </a:solidFill>
              <a:latin typeface="ITC Avant Garde Gothic"/>
              <a:ea typeface="Calibri"/>
              <a:cs typeface="Calibri"/>
            </a:endParaRPr>
          </a:p>
          <a:p>
            <a:endParaRPr lang="en-GB">
              <a:ea typeface="Calibri"/>
              <a:cs typeface="Calibri"/>
            </a:endParaRPr>
          </a:p>
        </p:txBody>
      </p:sp>
      <p:sp>
        <p:nvSpPr>
          <p:cNvPr id="8" name="TextBox 7">
            <a:extLst>
              <a:ext uri="{FF2B5EF4-FFF2-40B4-BE49-F238E27FC236}">
                <a16:creationId xmlns:a16="http://schemas.microsoft.com/office/drawing/2014/main" id="{1578CD4B-5BEF-5912-F971-8AB69742D730}"/>
              </a:ext>
            </a:extLst>
          </p:cNvPr>
          <p:cNvSpPr txBox="1"/>
          <p:nvPr/>
        </p:nvSpPr>
        <p:spPr>
          <a:xfrm>
            <a:off x="15567102" y="1159727"/>
            <a:ext cx="184731" cy="369332"/>
          </a:xfrm>
          <a:prstGeom prst="rect">
            <a:avLst/>
          </a:prstGeom>
          <a:noFill/>
        </p:spPr>
        <p:txBody>
          <a:bodyPr wrap="none" rtlCol="0">
            <a:spAutoFit/>
          </a:bodyPr>
          <a:lstStyle/>
          <a:p>
            <a:endParaRPr lang="en-US"/>
          </a:p>
        </p:txBody>
      </p:sp>
      <p:sp>
        <p:nvSpPr>
          <p:cNvPr id="3" name="TextBox 2">
            <a:extLst>
              <a:ext uri="{FF2B5EF4-FFF2-40B4-BE49-F238E27FC236}">
                <a16:creationId xmlns:a16="http://schemas.microsoft.com/office/drawing/2014/main" id="{3E4436CE-CF2F-F1AD-6AAD-88FD314DC27C}"/>
              </a:ext>
            </a:extLst>
          </p:cNvPr>
          <p:cNvSpPr txBox="1"/>
          <p:nvPr/>
        </p:nvSpPr>
        <p:spPr>
          <a:xfrm>
            <a:off x="457200" y="8485201"/>
            <a:ext cx="13893727" cy="1600438"/>
          </a:xfrm>
          <a:prstGeom prst="rect">
            <a:avLst/>
          </a:prstGeom>
          <a:noFill/>
        </p:spPr>
        <p:txBody>
          <a:bodyPr wrap="square" rtlCol="0">
            <a:spAutoFit/>
          </a:bodyPr>
          <a:lstStyle/>
          <a:p>
            <a:r>
              <a:rPr lang="en-GB" sz="2000">
                <a:latin typeface="ITC Avant Garde Gothic"/>
                <a:ea typeface="Calibri"/>
                <a:cs typeface="Calibri"/>
              </a:rPr>
              <a:t>[10]Met Office. MIDAS Open: UK hourly weather observation data, v202507. NERC </a:t>
            </a:r>
            <a:r>
              <a:rPr lang="en-GB" sz="2000" err="1">
                <a:latin typeface="ITC Avant Garde Gothic"/>
                <a:ea typeface="Calibri"/>
                <a:cs typeface="Calibri"/>
              </a:rPr>
              <a:t>EDSCentre</a:t>
            </a:r>
            <a:r>
              <a:rPr lang="en-GB" sz="2000">
                <a:latin typeface="ITC Avant Garde Gothic"/>
                <a:ea typeface="Calibri"/>
                <a:cs typeface="Calibri"/>
              </a:rPr>
              <a:t> for Environmental Data Analysis, 2025. </a:t>
            </a:r>
          </a:p>
          <a:p>
            <a:r>
              <a:rPr lang="en-GB" sz="2000">
                <a:latin typeface="ITC Avant Garde Gothic"/>
                <a:ea typeface="Calibri"/>
                <a:cs typeface="Calibri"/>
              </a:rPr>
              <a:t>[11] Met Office. MIDAS Open: UK hourly rainfall data, v202507. NERC EDS Centre </a:t>
            </a:r>
            <a:r>
              <a:rPr lang="en-GB" sz="2000" err="1">
                <a:latin typeface="ITC Avant Garde Gothic"/>
                <a:ea typeface="Calibri"/>
                <a:cs typeface="Calibri"/>
              </a:rPr>
              <a:t>forEnvironmental</a:t>
            </a:r>
            <a:r>
              <a:rPr lang="en-GB" sz="2000">
                <a:latin typeface="ITC Avant Garde Gothic"/>
                <a:ea typeface="Calibri"/>
                <a:cs typeface="Calibri"/>
              </a:rPr>
              <a:t> Data Analysis, 2025</a:t>
            </a:r>
          </a:p>
          <a:p>
            <a:endParaRPr lang="en-GB"/>
          </a:p>
        </p:txBody>
      </p:sp>
    </p:spTree>
    <p:extLst>
      <p:ext uri="{BB962C8B-B14F-4D97-AF65-F5344CB8AC3E}">
        <p14:creationId xmlns:p14="http://schemas.microsoft.com/office/powerpoint/2010/main" val="1810681377"/>
      </p:ext>
    </p:extLst>
  </p:cSld>
  <p:clrMapOvr>
    <a:masterClrMapping/>
  </p:clrMapOvr>
  <mc:AlternateContent xmlns:mc="http://schemas.openxmlformats.org/markup-compatibility/2006" xmlns:p14="http://schemas.microsoft.com/office/powerpoint/2010/main">
    <mc:Choice Requires="p14">
      <p:transition p14:dur="0" advTm="18841"/>
    </mc:Choice>
    <mc:Fallback xmlns="">
      <p:transition advTm="18841"/>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4F324-BD68-4431-3E94-31546560E14B}"/>
            </a:ext>
          </a:extLst>
        </p:cNvPr>
        <p:cNvGrpSpPr/>
        <p:nvPr/>
      </p:nvGrpSpPr>
      <p:grpSpPr>
        <a:xfrm>
          <a:off x="0" y="0"/>
          <a:ext cx="0" cy="0"/>
          <a:chOff x="0" y="0"/>
          <a:chExt cx="0" cy="0"/>
        </a:xfrm>
      </p:grpSpPr>
      <p:sp>
        <p:nvSpPr>
          <p:cNvPr id="2" name="Title">
            <a:extLst>
              <a:ext uri="{FF2B5EF4-FFF2-40B4-BE49-F238E27FC236}">
                <a16:creationId xmlns:a16="http://schemas.microsoft.com/office/drawing/2014/main" id="{C6A13460-D657-0972-60C8-9B27817FCF4E}"/>
              </a:ext>
            </a:extLst>
          </p:cNvPr>
          <p:cNvSpPr/>
          <p:nvPr/>
        </p:nvSpPr>
        <p:spPr>
          <a:xfrm>
            <a:off x="609600" y="457200"/>
            <a:ext cx="11430000" cy="812800"/>
          </a:xfrm>
          <a:prstGeom prst="rect">
            <a:avLst/>
          </a:prstGeom>
          <a:noFill/>
        </p:spPr>
        <p:txBody>
          <a:bodyPr lIns="91440" tIns="45720" rIns="91440" bIns="45720" anchor="b"/>
          <a:lstStyle/>
          <a:p>
            <a:r>
              <a:rPr lang="en-US" sz="4400">
                <a:solidFill>
                  <a:srgbClr val="254117"/>
                </a:solidFill>
                <a:latin typeface="ITC Avant Garde Gothic"/>
              </a:rPr>
              <a:t>GLM: Base Model Specification</a:t>
            </a:r>
          </a:p>
        </p:txBody>
      </p:sp>
      <p:sp>
        <p:nvSpPr>
          <p:cNvPr id="4" name="Line">
            <a:extLst>
              <a:ext uri="{FF2B5EF4-FFF2-40B4-BE49-F238E27FC236}">
                <a16:creationId xmlns:a16="http://schemas.microsoft.com/office/drawing/2014/main" id="{C7AD5F8D-F271-EB8B-F762-1430AF34ED8A}"/>
              </a:ext>
            </a:extLst>
          </p:cNvPr>
          <p:cNvSpPr/>
          <p:nvPr/>
        </p:nvSpPr>
        <p:spPr>
          <a:xfrm>
            <a:off x="609600" y="1803400"/>
            <a:ext cx="17068800" cy="25400"/>
          </a:xfrm>
          <a:prstGeom prst="rect">
            <a:avLst/>
          </a:prstGeom>
          <a:solidFill>
            <a:srgbClr val="619365"/>
          </a:solidFill>
          <a:ln>
            <a:noFill/>
          </a:ln>
        </p:spPr>
        <p:txBody>
          <a:bodyPr/>
          <a:lstStyle/>
          <a:p>
            <a:endParaRPr/>
          </a:p>
        </p:txBody>
      </p:sp>
      <p:sp>
        <p:nvSpPr>
          <p:cNvPr id="10" name="EqPanel">
            <a:extLst>
              <a:ext uri="{FF2B5EF4-FFF2-40B4-BE49-F238E27FC236}">
                <a16:creationId xmlns:a16="http://schemas.microsoft.com/office/drawing/2014/main" id="{CEC973E9-B7F9-9909-CA4F-28D85BD2606C}"/>
              </a:ext>
            </a:extLst>
          </p:cNvPr>
          <p:cNvSpPr/>
          <p:nvPr/>
        </p:nvSpPr>
        <p:spPr>
          <a:xfrm>
            <a:off x="609600" y="2036233"/>
            <a:ext cx="17068800" cy="6214534"/>
          </a:xfrm>
          <a:prstGeom prst="roundRect">
            <a:avLst>
              <a:gd name="adj" fmla="val 8000"/>
            </a:avLst>
          </a:prstGeom>
          <a:solidFill>
            <a:srgbClr val="1A2E1F"/>
          </a:solidFill>
          <a:ln>
            <a:noFill/>
          </a:ln>
        </p:spPr>
        <p:txBody>
          <a:bodyPr/>
          <a:lstStyle/>
          <a:p>
            <a:endParaRPr/>
          </a:p>
        </p:txBody>
      </p:sp>
      <p:sp>
        <p:nvSpPr>
          <p:cNvPr id="11" name="EqLbl">
            <a:extLst>
              <a:ext uri="{FF2B5EF4-FFF2-40B4-BE49-F238E27FC236}">
                <a16:creationId xmlns:a16="http://schemas.microsoft.com/office/drawing/2014/main" id="{665EEA08-427C-B22B-AA5B-FEA9535F5413}"/>
              </a:ext>
            </a:extLst>
          </p:cNvPr>
          <p:cNvSpPr/>
          <p:nvPr/>
        </p:nvSpPr>
        <p:spPr>
          <a:xfrm>
            <a:off x="1016000" y="2235200"/>
            <a:ext cx="5080000" cy="304800"/>
          </a:xfrm>
          <a:prstGeom prst="rect">
            <a:avLst/>
          </a:prstGeom>
          <a:noFill/>
        </p:spPr>
        <p:txBody>
          <a:bodyPr anchor="ctr"/>
          <a:lstStyle/>
          <a:p>
            <a:pPr algn="l"/>
            <a:r>
              <a:rPr lang="en-US" sz="2400">
                <a:solidFill>
                  <a:srgbClr val="A8CFA8"/>
                </a:solidFill>
                <a:latin typeface="ITC Avant Garde Gothic"/>
              </a:rPr>
              <a:t>Model Specification</a:t>
            </a:r>
          </a:p>
        </p:txBody>
      </p:sp>
      <p:sp>
        <p:nvSpPr>
          <p:cNvPr id="12" name="EqL1">
            <a:extLst>
              <a:ext uri="{FF2B5EF4-FFF2-40B4-BE49-F238E27FC236}">
                <a16:creationId xmlns:a16="http://schemas.microsoft.com/office/drawing/2014/main" id="{8148E76C-4E08-2AB2-BC89-5C1C9D86670C}"/>
              </a:ext>
            </a:extLst>
          </p:cNvPr>
          <p:cNvSpPr/>
          <p:nvPr/>
        </p:nvSpPr>
        <p:spPr>
          <a:xfrm>
            <a:off x="1016000" y="3081868"/>
            <a:ext cx="16002000" cy="558800"/>
          </a:xfrm>
          <a:prstGeom prst="rect">
            <a:avLst/>
          </a:prstGeom>
          <a:noFill/>
        </p:spPr>
        <p:txBody>
          <a:bodyPr lIns="91440" tIns="45720" rIns="91440" bIns="45720" anchor="ctr"/>
          <a:lstStyle/>
          <a:p>
            <a:pPr algn="ctr"/>
            <a:r>
              <a:rPr lang="en-US" sz="3200" b="1">
                <a:solidFill>
                  <a:srgbClr val="FFFFFF"/>
                </a:solidFill>
                <a:latin typeface="Cambria Math"/>
              </a:rPr>
              <a:t>log{E(</a:t>
            </a:r>
            <a:r>
              <a:rPr lang="en-US" sz="3200" b="1" err="1">
                <a:solidFill>
                  <a:srgbClr val="FFFFFF"/>
                </a:solidFill>
                <a:latin typeface="Cambria Math"/>
              </a:rPr>
              <a:t>y</a:t>
            </a:r>
            <a:r>
              <a:rPr lang="en-US" sz="2400" b="1" baseline="-25000" err="1">
                <a:solidFill>
                  <a:srgbClr val="FFFFFF"/>
                </a:solidFill>
                <a:latin typeface="Cambria Math"/>
              </a:rPr>
              <a:t>it</a:t>
            </a:r>
            <a:r>
              <a:rPr lang="en-US" sz="3200" b="1">
                <a:solidFill>
                  <a:srgbClr val="FFFFFF"/>
                </a:solidFill>
                <a:latin typeface="Cambria Math"/>
              </a:rPr>
              <a:t>)}  =  β</a:t>
            </a:r>
            <a:r>
              <a:rPr lang="en-US" sz="2400" b="1" baseline="-25000">
                <a:solidFill>
                  <a:srgbClr val="FFFFFF"/>
                </a:solidFill>
                <a:latin typeface="Cambria Math"/>
              </a:rPr>
              <a:t>0</a:t>
            </a:r>
            <a:r>
              <a:rPr lang="en-US" sz="3200" b="1">
                <a:solidFill>
                  <a:srgbClr val="FFFFFF"/>
                </a:solidFill>
                <a:latin typeface="Cambria Math"/>
              </a:rPr>
              <a:t>  +  </a:t>
            </a:r>
            <a:r>
              <a:rPr lang="en-US" sz="3200" b="1">
                <a:solidFill>
                  <a:srgbClr val="A8CFA8"/>
                </a:solidFill>
                <a:latin typeface="Cambria Math"/>
              </a:rPr>
              <a:t>β</a:t>
            </a:r>
            <a:r>
              <a:rPr lang="en-US" sz="2400" b="1" baseline="-25000">
                <a:solidFill>
                  <a:srgbClr val="A8CFA8"/>
                </a:solidFill>
                <a:latin typeface="Cambria Math"/>
              </a:rPr>
              <a:t>1</a:t>
            </a:r>
            <a:r>
              <a:rPr lang="en-US" sz="3200" b="1">
                <a:solidFill>
                  <a:srgbClr val="A8CFA8"/>
                </a:solidFill>
                <a:latin typeface="Cambria Math"/>
              </a:rPr>
              <a:t>Dark</a:t>
            </a:r>
            <a:r>
              <a:rPr lang="en-US" sz="2400" b="1" baseline="-25000">
                <a:solidFill>
                  <a:srgbClr val="A8CFA8"/>
                </a:solidFill>
                <a:latin typeface="Cambria Math"/>
              </a:rPr>
              <a:t>it</a:t>
            </a:r>
            <a:r>
              <a:rPr lang="en-US" sz="3200" b="1">
                <a:solidFill>
                  <a:srgbClr val="FFFFFF"/>
                </a:solidFill>
                <a:latin typeface="Cambria Math"/>
              </a:rPr>
              <a:t>  +  β</a:t>
            </a:r>
            <a:r>
              <a:rPr lang="en-US" sz="2400" b="1" baseline="-25000">
                <a:solidFill>
                  <a:srgbClr val="FFFFFF"/>
                </a:solidFill>
                <a:latin typeface="Cambria Math"/>
              </a:rPr>
              <a:t>2</a:t>
            </a:r>
            <a:r>
              <a:rPr lang="en-US" sz="3200" b="1">
                <a:solidFill>
                  <a:srgbClr val="FFFFFF"/>
                </a:solidFill>
                <a:latin typeface="Cambria Math"/>
              </a:rPr>
              <a:t>Lag1  +  β</a:t>
            </a:r>
            <a:r>
              <a:rPr lang="en-US" sz="2400" b="1" baseline="-25000">
                <a:solidFill>
                  <a:srgbClr val="FFFFFF"/>
                </a:solidFill>
                <a:latin typeface="Cambria Math"/>
              </a:rPr>
              <a:t>3</a:t>
            </a:r>
            <a:r>
              <a:rPr lang="en-US" sz="3200" b="1">
                <a:solidFill>
                  <a:srgbClr val="FFFFFF"/>
                </a:solidFill>
                <a:latin typeface="Cambria Math"/>
              </a:rPr>
              <a:t>Lag24 + </a:t>
            </a:r>
            <a:r>
              <a:rPr lang="en-US" sz="3200" b="1" err="1">
                <a:solidFill>
                  <a:srgbClr val="FFFFFF"/>
                </a:solidFill>
                <a:latin typeface="Cambria Math"/>
              </a:rPr>
              <a:t>γ</a:t>
            </a:r>
            <a:r>
              <a:rPr lang="en-US" sz="2400" b="1" baseline="-25000" err="1">
                <a:solidFill>
                  <a:srgbClr val="FFFFFF"/>
                </a:solidFill>
                <a:latin typeface="Cambria Math"/>
              </a:rPr>
              <a:t>h</a:t>
            </a:r>
            <a:r>
              <a:rPr lang="en-US" sz="3200" b="1">
                <a:solidFill>
                  <a:srgbClr val="FFFFFF"/>
                </a:solidFill>
                <a:latin typeface="Cambria Math"/>
              </a:rPr>
              <a:t>  +  </a:t>
            </a:r>
            <a:r>
              <a:rPr lang="en-US" sz="3200" b="1" err="1">
                <a:solidFill>
                  <a:srgbClr val="FFFFFF"/>
                </a:solidFill>
                <a:latin typeface="Cambria Math"/>
              </a:rPr>
              <a:t>δ</a:t>
            </a:r>
            <a:r>
              <a:rPr lang="en-US" sz="2400" b="1" baseline="-25000" err="1">
                <a:solidFill>
                  <a:srgbClr val="FFFFFF"/>
                </a:solidFill>
                <a:latin typeface="Cambria Math"/>
              </a:rPr>
              <a:t>d</a:t>
            </a:r>
            <a:r>
              <a:rPr lang="en-US" sz="3200" b="1">
                <a:solidFill>
                  <a:srgbClr val="FFFFFF"/>
                </a:solidFill>
                <a:latin typeface="Cambria Math"/>
              </a:rPr>
              <a:t>  +  </a:t>
            </a:r>
            <a:r>
              <a:rPr lang="en-US" sz="3200" b="1" err="1">
                <a:solidFill>
                  <a:srgbClr val="FFFFFF"/>
                </a:solidFill>
                <a:latin typeface="Cambria Math"/>
              </a:rPr>
              <a:t>μ</a:t>
            </a:r>
            <a:r>
              <a:rPr lang="en-US" sz="2400" b="1" baseline="-25000" err="1">
                <a:solidFill>
                  <a:srgbClr val="FFFFFF"/>
                </a:solidFill>
                <a:latin typeface="Cambria Math"/>
              </a:rPr>
              <a:t>m</a:t>
            </a:r>
            <a:r>
              <a:rPr lang="en-US" sz="3200" b="1">
                <a:solidFill>
                  <a:srgbClr val="FFFFFF"/>
                </a:solidFill>
                <a:latin typeface="Cambria Math"/>
              </a:rPr>
              <a:t>  +  </a:t>
            </a:r>
            <a:r>
              <a:rPr lang="en-US" sz="3200" b="1" err="1">
                <a:solidFill>
                  <a:srgbClr val="FFFFFF"/>
                </a:solidFill>
                <a:latin typeface="Cambria Math"/>
              </a:rPr>
              <a:t>θW</a:t>
            </a:r>
            <a:r>
              <a:rPr lang="en-US" sz="2400" b="1" baseline="-25000" err="1">
                <a:solidFill>
                  <a:srgbClr val="FFFFFF"/>
                </a:solidFill>
                <a:latin typeface="Cambria Math"/>
              </a:rPr>
              <a:t>t</a:t>
            </a:r>
            <a:r>
              <a:rPr lang="en-US" sz="3200" b="1">
                <a:solidFill>
                  <a:srgbClr val="FFFFFF"/>
                </a:solidFill>
                <a:latin typeface="Cambria Math"/>
              </a:rPr>
              <a:t>  +  α</a:t>
            </a:r>
            <a:r>
              <a:rPr lang="en-US" sz="2400" b="1" baseline="-25000" err="1">
                <a:solidFill>
                  <a:srgbClr val="FFFFFF"/>
                </a:solidFill>
                <a:latin typeface="Cambria Math"/>
              </a:rPr>
              <a:t>i</a:t>
            </a:r>
            <a:r>
              <a:rPr lang="en-US" sz="2400" b="1" baseline="-25000">
                <a:solidFill>
                  <a:srgbClr val="FFFFFF"/>
                </a:solidFill>
                <a:latin typeface="Cambria Math"/>
              </a:rPr>
              <a:t> </a:t>
            </a:r>
          </a:p>
        </p:txBody>
      </p:sp>
      <p:sp>
        <p:nvSpPr>
          <p:cNvPr id="14" name="KeyLbl">
            <a:extLst>
              <a:ext uri="{FF2B5EF4-FFF2-40B4-BE49-F238E27FC236}">
                <a16:creationId xmlns:a16="http://schemas.microsoft.com/office/drawing/2014/main" id="{00CDEBA0-DDBE-E7B7-15FD-421D5E682F7D}"/>
              </a:ext>
            </a:extLst>
          </p:cNvPr>
          <p:cNvSpPr/>
          <p:nvPr/>
        </p:nvSpPr>
        <p:spPr>
          <a:xfrm>
            <a:off x="871940" y="4529924"/>
            <a:ext cx="15764681" cy="3723741"/>
          </a:xfrm>
          <a:prstGeom prst="rect">
            <a:avLst/>
          </a:prstGeom>
          <a:noFill/>
        </p:spPr>
        <p:txBody>
          <a:bodyPr lIns="91440" tIns="45720" rIns="91440" bIns="45720" anchor="ctr"/>
          <a:lstStyle/>
          <a:p>
            <a:pPr algn="l">
              <a:spcBef>
                <a:spcPts val="0"/>
              </a:spcBef>
              <a:spcAft>
                <a:spcPts val="100"/>
              </a:spcAft>
            </a:pPr>
            <a:r>
              <a:rPr lang="en-US" sz="2400" b="1" err="1">
                <a:solidFill>
                  <a:srgbClr val="A8CFA8"/>
                </a:solidFill>
                <a:latin typeface="Cambria Math"/>
              </a:rPr>
              <a:t>y</a:t>
            </a:r>
            <a:r>
              <a:rPr lang="en-US" b="1" baseline="-25000" err="1">
                <a:solidFill>
                  <a:srgbClr val="A8CFA8"/>
                </a:solidFill>
                <a:latin typeface="Cambria Math"/>
              </a:rPr>
              <a:t>it</a:t>
            </a:r>
            <a:r>
              <a:rPr lang="en-US" sz="2400">
                <a:solidFill>
                  <a:srgbClr val="FFFFFF"/>
                </a:solidFill>
                <a:latin typeface="TT Fors"/>
              </a:rPr>
              <a:t>  Hourly pedestrian or cyclist count at sensor </a:t>
            </a:r>
            <a:r>
              <a:rPr lang="en-US" sz="2400" i="1" err="1">
                <a:solidFill>
                  <a:srgbClr val="FFFFFF"/>
                </a:solidFill>
                <a:latin typeface="Cambria Math"/>
              </a:rPr>
              <a:t>i</a:t>
            </a:r>
            <a:r>
              <a:rPr lang="en-US" sz="2400">
                <a:solidFill>
                  <a:srgbClr val="FFFFFF"/>
                </a:solidFill>
                <a:latin typeface="TT Fors"/>
              </a:rPr>
              <a:t> in hour </a:t>
            </a:r>
            <a:r>
              <a:rPr lang="en-US" sz="2400" i="1">
                <a:solidFill>
                  <a:srgbClr val="FFFFFF"/>
                </a:solidFill>
                <a:latin typeface="Cambria Math"/>
              </a:rPr>
              <a:t>t</a:t>
            </a:r>
            <a:endParaRPr lang="en-US" sz="2400">
              <a:solidFill>
                <a:srgbClr val="FFFFFF"/>
              </a:solidFill>
              <a:latin typeface="TT Fors"/>
            </a:endParaRPr>
          </a:p>
          <a:p>
            <a:pPr algn="l">
              <a:spcBef>
                <a:spcPts val="0"/>
              </a:spcBef>
              <a:spcAft>
                <a:spcPts val="100"/>
              </a:spcAft>
            </a:pPr>
            <a:r>
              <a:rPr lang="en-US" sz="2400" b="1">
                <a:solidFill>
                  <a:srgbClr val="A8CFA8"/>
                </a:solidFill>
                <a:latin typeface="Cambria Math"/>
              </a:rPr>
              <a:t>Lag1, Lag24</a:t>
            </a:r>
            <a:r>
              <a:rPr lang="en-US" sz="2400">
                <a:solidFill>
                  <a:srgbClr val="FFFFFF"/>
                </a:solidFill>
                <a:latin typeface="TT Fors"/>
              </a:rPr>
              <a:t>  Count at same sensor 1 h and 24 h ago (captures short-run autocorrelation)</a:t>
            </a:r>
          </a:p>
          <a:p>
            <a:pPr algn="l">
              <a:spcBef>
                <a:spcPts val="0"/>
              </a:spcBef>
              <a:spcAft>
                <a:spcPts val="100"/>
              </a:spcAft>
            </a:pPr>
            <a:r>
              <a:rPr lang="en-US" sz="2400" b="1" err="1">
                <a:solidFill>
                  <a:srgbClr val="A8CFA8"/>
                </a:solidFill>
                <a:latin typeface="Cambria Math"/>
              </a:rPr>
              <a:t>γ</a:t>
            </a:r>
            <a:r>
              <a:rPr lang="en-US" b="1" baseline="-25000" err="1">
                <a:solidFill>
                  <a:srgbClr val="A8CFA8"/>
                </a:solidFill>
                <a:latin typeface="Cambria Math"/>
              </a:rPr>
              <a:t>h</a:t>
            </a:r>
            <a:r>
              <a:rPr lang="en-US" sz="2400">
                <a:solidFill>
                  <a:srgbClr val="FFFFFF"/>
                </a:solidFill>
                <a:latin typeface="TT Fors"/>
              </a:rPr>
              <a:t>  </a:t>
            </a:r>
            <a:r>
              <a:rPr lang="en-US" sz="2400" b="1" err="1">
                <a:solidFill>
                  <a:srgbClr val="A8CFA8"/>
                </a:solidFill>
                <a:latin typeface="Cambria Math"/>
              </a:rPr>
              <a:t>δ</a:t>
            </a:r>
            <a:r>
              <a:rPr lang="en-US" b="1" baseline="-25000" err="1">
                <a:solidFill>
                  <a:srgbClr val="A8CFA8"/>
                </a:solidFill>
                <a:latin typeface="Cambria Math"/>
              </a:rPr>
              <a:t>d</a:t>
            </a:r>
            <a:r>
              <a:rPr lang="en-US" sz="2400">
                <a:solidFill>
                  <a:srgbClr val="FFFFFF"/>
                </a:solidFill>
                <a:latin typeface="TT Fors"/>
              </a:rPr>
              <a:t>  </a:t>
            </a:r>
            <a:r>
              <a:rPr lang="en-US" sz="2400" b="1" err="1">
                <a:solidFill>
                  <a:srgbClr val="A8CFA8"/>
                </a:solidFill>
                <a:latin typeface="Cambria Math"/>
              </a:rPr>
              <a:t>μ</a:t>
            </a:r>
            <a:r>
              <a:rPr lang="en-US" b="1" baseline="-25000" err="1">
                <a:solidFill>
                  <a:srgbClr val="A8CFA8"/>
                </a:solidFill>
                <a:latin typeface="Cambria Math"/>
              </a:rPr>
              <a:t>m</a:t>
            </a:r>
            <a:r>
              <a:rPr lang="en-US" sz="2400">
                <a:solidFill>
                  <a:srgbClr val="FFFFFF"/>
                </a:solidFill>
                <a:latin typeface="TT Fors"/>
              </a:rPr>
              <a:t>  Hour-of-day, day-of-week, and month fixed effects          </a:t>
            </a:r>
          </a:p>
          <a:p>
            <a:pPr>
              <a:spcAft>
                <a:spcPts val="100"/>
              </a:spcAft>
            </a:pPr>
            <a:r>
              <a:rPr lang="en-US" sz="2400" b="1">
                <a:solidFill>
                  <a:srgbClr val="A8CFA8"/>
                </a:solidFill>
                <a:latin typeface="Cambria Math"/>
              </a:rPr>
              <a:t>α</a:t>
            </a:r>
            <a:r>
              <a:rPr lang="en-US" b="1" baseline="-25000" err="1">
                <a:solidFill>
                  <a:srgbClr val="A8CFA8"/>
                </a:solidFill>
                <a:latin typeface="Cambria Math"/>
              </a:rPr>
              <a:t>i</a:t>
            </a:r>
            <a:r>
              <a:rPr lang="en-US" sz="2400">
                <a:solidFill>
                  <a:srgbClr val="FFFFFF"/>
                </a:solidFill>
                <a:latin typeface="TT Fors"/>
              </a:rPr>
              <a:t>  Sensor fixed effect: absorbs all time-invariant location differences (footfall level, </a:t>
            </a:r>
            <a:r>
              <a:rPr lang="en-US" sz="2400" err="1">
                <a:solidFill>
                  <a:srgbClr val="FFFFFF"/>
                </a:solidFill>
                <a:latin typeface="TT Fors"/>
              </a:rPr>
              <a:t>neighbourhood</a:t>
            </a:r>
            <a:r>
              <a:rPr lang="en-US" sz="2400">
                <a:solidFill>
                  <a:srgbClr val="FFFFFF"/>
                </a:solidFill>
                <a:latin typeface="TT Fors"/>
              </a:rPr>
              <a:t> type, infrastructure)</a:t>
            </a:r>
          </a:p>
          <a:p>
            <a:r>
              <a:rPr lang="en-US" sz="2400" b="1" err="1">
                <a:solidFill>
                  <a:srgbClr val="A8CFA8"/>
                </a:solidFill>
                <a:latin typeface="Cambria Math"/>
              </a:rPr>
              <a:t>θW</a:t>
            </a:r>
            <a:r>
              <a:rPr lang="en-US" b="1" baseline="-25000" err="1">
                <a:solidFill>
                  <a:srgbClr val="A8CFA8"/>
                </a:solidFill>
                <a:latin typeface="Cambria Math"/>
              </a:rPr>
              <a:t>t</a:t>
            </a:r>
            <a:r>
              <a:rPr lang="en-US" sz="2400">
                <a:solidFill>
                  <a:srgbClr val="FFFFFF"/>
                </a:solidFill>
                <a:latin typeface="TT Fors"/>
              </a:rPr>
              <a:t>  Temperature, wind speed, rainfall in hour </a:t>
            </a:r>
            <a:r>
              <a:rPr lang="en-US" sz="2400" i="1">
                <a:solidFill>
                  <a:srgbClr val="FFFFFF"/>
                </a:solidFill>
                <a:latin typeface="Cambria Math"/>
              </a:rPr>
              <a:t>t</a:t>
            </a:r>
            <a:endParaRPr lang="en-US" sz="2400" i="1">
              <a:solidFill>
                <a:srgbClr val="FFFFFF"/>
              </a:solidFill>
              <a:latin typeface="Cambria Math"/>
              <a:ea typeface="Cambria Math"/>
            </a:endParaRPr>
          </a:p>
          <a:p>
            <a:r>
              <a:rPr lang="en-US" sz="2400" b="1" err="1">
                <a:solidFill>
                  <a:srgbClr val="A8CFA8"/>
                </a:solidFill>
                <a:latin typeface="Cambria Math"/>
              </a:rPr>
              <a:t>Dark</a:t>
            </a:r>
            <a:r>
              <a:rPr lang="en-US" b="1" baseline="-25000" err="1">
                <a:solidFill>
                  <a:srgbClr val="A8CFA8"/>
                </a:solidFill>
                <a:latin typeface="Cambria Math"/>
              </a:rPr>
              <a:t>it</a:t>
            </a:r>
            <a:r>
              <a:rPr lang="en-US" sz="2400">
                <a:solidFill>
                  <a:srgbClr val="FFFFFF"/>
                </a:solidFill>
                <a:latin typeface="TT Fors"/>
              </a:rPr>
              <a:t>  Binary: 1 if sun is below horizon (civil twilight excluded), 0 if daylight</a:t>
            </a:r>
          </a:p>
          <a:p>
            <a:endParaRPr lang="en-US" sz="2400">
              <a:solidFill>
                <a:srgbClr val="FFFFFF"/>
              </a:solidFill>
              <a:latin typeface="TT Fors"/>
            </a:endParaRPr>
          </a:p>
          <a:p>
            <a:endParaRPr lang="en-US" sz="2400">
              <a:solidFill>
                <a:srgbClr val="FFFFFF"/>
              </a:solidFill>
              <a:latin typeface="TT Fors"/>
            </a:endParaRPr>
          </a:p>
          <a:p>
            <a:r>
              <a:rPr lang="en-US" sz="2400" i="1">
                <a:solidFill>
                  <a:schemeClr val="bg1">
                    <a:lumMod val="85000"/>
                  </a:schemeClr>
                </a:solidFill>
                <a:latin typeface="TT Fors"/>
              </a:rPr>
              <a:t>[12] Negative Binomial Regression: Second Edition</a:t>
            </a:r>
            <a:r>
              <a:rPr lang="en-US" sz="2400">
                <a:solidFill>
                  <a:schemeClr val="bg1">
                    <a:lumMod val="85000"/>
                  </a:schemeClr>
                </a:solidFill>
                <a:latin typeface="TT Fors"/>
              </a:rPr>
              <a:t>, </a:t>
            </a:r>
            <a:r>
              <a:rPr lang="en-US" sz="2400" i="1">
                <a:solidFill>
                  <a:schemeClr val="bg1">
                    <a:lumMod val="85000"/>
                  </a:schemeClr>
                </a:solidFill>
                <a:latin typeface="TT Fors"/>
              </a:rPr>
              <a:t>by Joseph M. </a:t>
            </a:r>
            <a:r>
              <a:rPr lang="en-US" sz="2400" i="1" err="1">
                <a:solidFill>
                  <a:schemeClr val="bg1">
                    <a:lumMod val="85000"/>
                  </a:schemeClr>
                </a:solidFill>
                <a:latin typeface="TT Fors"/>
              </a:rPr>
              <a:t>Hilbe</a:t>
            </a:r>
            <a:endParaRPr lang="en-US" sz="2400" i="1">
              <a:solidFill>
                <a:schemeClr val="bg1">
                  <a:lumMod val="85000"/>
                </a:schemeClr>
              </a:solidFill>
              <a:latin typeface="TT Fors"/>
            </a:endParaRPr>
          </a:p>
          <a:p>
            <a:endParaRPr lang="en-US" sz="2400">
              <a:solidFill>
                <a:srgbClr val="FFFFFF"/>
              </a:solidFill>
              <a:latin typeface="TT Fors"/>
            </a:endParaRPr>
          </a:p>
          <a:p>
            <a:endParaRPr lang="en-US" sz="2400">
              <a:solidFill>
                <a:srgbClr val="FFFFFF"/>
              </a:solidFill>
              <a:latin typeface="TT Fors"/>
            </a:endParaRPr>
          </a:p>
        </p:txBody>
      </p:sp>
    </p:spTree>
    <p:extLst>
      <p:ext uri="{BB962C8B-B14F-4D97-AF65-F5344CB8AC3E}">
        <p14:creationId xmlns:p14="http://schemas.microsoft.com/office/powerpoint/2010/main" val="3970088257"/>
      </p:ext>
    </p:extLst>
  </p:cSld>
  <p:clrMapOvr>
    <a:masterClrMapping/>
  </p:clrMapOvr>
  <mc:AlternateContent xmlns:mc="http://schemas.openxmlformats.org/markup-compatibility/2006" xmlns:p14="http://schemas.microsoft.com/office/powerpoint/2010/main">
    <mc:Choice Requires="p14">
      <p:transition p14:dur="0" advTm="17440"/>
    </mc:Choice>
    <mc:Fallback xmlns="">
      <p:transition advTm="1744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629F7-C46F-2136-4EB2-0E8C70997FA6}"/>
            </a:ext>
          </a:extLst>
        </p:cNvPr>
        <p:cNvGrpSpPr/>
        <p:nvPr/>
      </p:nvGrpSpPr>
      <p:grpSpPr>
        <a:xfrm>
          <a:off x="0" y="0"/>
          <a:ext cx="0" cy="0"/>
          <a:chOff x="0" y="0"/>
          <a:chExt cx="0" cy="0"/>
        </a:xfrm>
      </p:grpSpPr>
      <p:sp>
        <p:nvSpPr>
          <p:cNvPr id="2" name="Title"/>
          <p:cNvSpPr/>
          <p:nvPr/>
        </p:nvSpPr>
        <p:spPr>
          <a:xfrm>
            <a:off x="605840" y="578516"/>
            <a:ext cx="11430000" cy="660400"/>
          </a:xfrm>
          <a:prstGeom prst="rect">
            <a:avLst/>
          </a:prstGeom>
          <a:noFill/>
        </p:spPr>
        <p:txBody>
          <a:bodyPr lIns="91440" tIns="45720" rIns="91440" bIns="45720" anchor="b"/>
          <a:lstStyle/>
          <a:p>
            <a:pPr algn="l"/>
            <a:r>
              <a:rPr lang="en-US" sz="4400">
                <a:solidFill>
                  <a:srgbClr val="254117"/>
                </a:solidFill>
                <a:latin typeface="ITC Avant Garde Gothic"/>
              </a:rPr>
              <a:t>GLM: Base Model Components</a:t>
            </a:r>
          </a:p>
        </p:txBody>
      </p:sp>
      <p:sp>
        <p:nvSpPr>
          <p:cNvPr id="4" name="Line"/>
          <p:cNvSpPr/>
          <p:nvPr/>
        </p:nvSpPr>
        <p:spPr>
          <a:xfrm>
            <a:off x="609600" y="1397000"/>
            <a:ext cx="17068800" cy="25400"/>
          </a:xfrm>
          <a:prstGeom prst="rect">
            <a:avLst/>
          </a:prstGeom>
          <a:solidFill>
            <a:srgbClr val="619365"/>
          </a:solidFill>
          <a:ln>
            <a:noFill/>
          </a:ln>
        </p:spPr>
        <p:txBody>
          <a:bodyPr/>
          <a:lstStyle/>
          <a:p>
            <a:endParaRPr/>
          </a:p>
        </p:txBody>
      </p:sp>
      <p:sp>
        <p:nvSpPr>
          <p:cNvPr id="7" name="TextBox 6">
            <a:extLst>
              <a:ext uri="{FF2B5EF4-FFF2-40B4-BE49-F238E27FC236}">
                <a16:creationId xmlns:a16="http://schemas.microsoft.com/office/drawing/2014/main" id="{1BF83AB4-0B08-03B7-15D1-E73C8CC4CE16}"/>
              </a:ext>
            </a:extLst>
          </p:cNvPr>
          <p:cNvSpPr txBox="1"/>
          <p:nvPr/>
        </p:nvSpPr>
        <p:spPr>
          <a:xfrm>
            <a:off x="605840" y="2398969"/>
            <a:ext cx="8802327" cy="48320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GB" sz="2800">
                <a:latin typeface="ITC Avant Garde Gothic"/>
                <a:ea typeface="Calibri"/>
                <a:cs typeface="Calibri"/>
              </a:rPr>
              <a:t>Time (hour, day, season) → patterns</a:t>
            </a:r>
          </a:p>
          <a:p>
            <a:pPr marL="285750" indent="-285750" algn="l">
              <a:buFont typeface="Arial"/>
              <a:buChar char="•"/>
            </a:pPr>
            <a:endParaRPr lang="en-GB" sz="2800">
              <a:latin typeface="ITC Avant Garde Gothic"/>
              <a:ea typeface="Calibri"/>
              <a:cs typeface="Calibri"/>
            </a:endParaRPr>
          </a:p>
          <a:p>
            <a:pPr marL="285750" indent="-285750">
              <a:buFont typeface="Arial"/>
              <a:buChar char="•"/>
            </a:pPr>
            <a:endParaRPr lang="en-GB" sz="2800">
              <a:latin typeface="ITC Avant Garde Gothic"/>
              <a:ea typeface="Calibri"/>
              <a:cs typeface="Calibri"/>
            </a:endParaRPr>
          </a:p>
          <a:p>
            <a:pPr marL="285750" indent="-285750">
              <a:buFont typeface="Arial"/>
              <a:buChar char="•"/>
            </a:pPr>
            <a:r>
              <a:rPr lang="en-GB" sz="2800">
                <a:latin typeface="ITC Avant Garde Gothic"/>
                <a:ea typeface="Calibri"/>
                <a:cs typeface="Calibri"/>
              </a:rPr>
              <a:t>Lag variables → capture short-term autocorrelation</a:t>
            </a:r>
          </a:p>
          <a:p>
            <a:pPr marL="285750" indent="-285750">
              <a:buFont typeface="Arial"/>
              <a:buChar char="•"/>
            </a:pPr>
            <a:endParaRPr lang="en-GB" sz="2800">
              <a:latin typeface="ITC Avant Garde Gothic"/>
              <a:ea typeface="Calibri"/>
              <a:cs typeface="Calibri"/>
            </a:endParaRPr>
          </a:p>
          <a:p>
            <a:pPr marL="285750" indent="-285750">
              <a:buFont typeface="Arial"/>
              <a:buChar char="•"/>
            </a:pPr>
            <a:endParaRPr lang="en-GB" sz="2800">
              <a:latin typeface="ITC Avant Garde Gothic"/>
              <a:ea typeface="Calibri"/>
              <a:cs typeface="Calibri"/>
            </a:endParaRPr>
          </a:p>
          <a:p>
            <a:pPr marL="285750" indent="-285750">
              <a:buFont typeface="Arial"/>
              <a:buChar char="•"/>
            </a:pPr>
            <a:r>
              <a:rPr lang="en-GB" sz="2800">
                <a:latin typeface="ITC Avant Garde Gothic"/>
                <a:ea typeface="Calibri"/>
                <a:cs typeface="Calibri"/>
              </a:rPr>
              <a:t>Weather → affects activity</a:t>
            </a:r>
          </a:p>
          <a:p>
            <a:pPr marL="285750" indent="-285750">
              <a:buFont typeface="Arial"/>
              <a:buChar char="•"/>
            </a:pPr>
            <a:endParaRPr lang="en-GB" sz="2800">
              <a:latin typeface="ITC Avant Garde Gothic"/>
              <a:ea typeface="Calibri"/>
              <a:cs typeface="Calibri"/>
            </a:endParaRPr>
          </a:p>
          <a:p>
            <a:pPr marL="285750" indent="-285750">
              <a:buFont typeface="Arial"/>
              <a:buChar char="•"/>
            </a:pPr>
            <a:endParaRPr lang="en-GB" sz="2800">
              <a:latin typeface="ITC Avant Garde Gothic"/>
              <a:ea typeface="Calibri"/>
              <a:cs typeface="Calibri"/>
            </a:endParaRPr>
          </a:p>
          <a:p>
            <a:pPr marL="285750" indent="-285750">
              <a:buFont typeface="Arial"/>
              <a:buChar char="•"/>
            </a:pPr>
            <a:r>
              <a:rPr lang="en-GB" sz="2800">
                <a:latin typeface="ITC Avant Garde Gothic"/>
                <a:ea typeface="Calibri"/>
                <a:cs typeface="Calibri"/>
              </a:rPr>
              <a:t>Darkness → main variable</a:t>
            </a:r>
          </a:p>
        </p:txBody>
      </p:sp>
    </p:spTree>
    <p:extLst>
      <p:ext uri="{BB962C8B-B14F-4D97-AF65-F5344CB8AC3E}">
        <p14:creationId xmlns:p14="http://schemas.microsoft.com/office/powerpoint/2010/main" val="3186043295"/>
      </p:ext>
    </p:extLst>
  </p:cSld>
  <p:clrMapOvr>
    <a:masterClrMapping/>
  </p:clrMapOvr>
  <mc:AlternateContent xmlns:mc="http://schemas.openxmlformats.org/markup-compatibility/2006" xmlns:p14="http://schemas.microsoft.com/office/powerpoint/2010/main">
    <mc:Choice Requires="p14">
      <p:transition p14:dur="0" advTm="21716"/>
    </mc:Choice>
    <mc:Fallback xmlns="">
      <p:transition advTm="21716"/>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34F324-BD68-4431-3E94-31546560E14B}"/>
            </a:ext>
          </a:extLst>
        </p:cNvPr>
        <p:cNvGrpSpPr/>
        <p:nvPr/>
      </p:nvGrpSpPr>
      <p:grpSpPr>
        <a:xfrm>
          <a:off x="0" y="0"/>
          <a:ext cx="0" cy="0"/>
          <a:chOff x="0" y="0"/>
          <a:chExt cx="0" cy="0"/>
        </a:xfrm>
      </p:grpSpPr>
      <p:sp>
        <p:nvSpPr>
          <p:cNvPr id="7" name="Arrow1">
            <a:extLst>
              <a:ext uri="{FF2B5EF4-FFF2-40B4-BE49-F238E27FC236}">
                <a16:creationId xmlns:a16="http://schemas.microsoft.com/office/drawing/2014/main" id="{AF99452E-E12A-564C-BD7E-41050B840482}"/>
              </a:ext>
            </a:extLst>
          </p:cNvPr>
          <p:cNvSpPr/>
          <p:nvPr/>
        </p:nvSpPr>
        <p:spPr>
          <a:xfrm>
            <a:off x="8894967" y="4624055"/>
            <a:ext cx="249033" cy="1009016"/>
          </a:xfrm>
          <a:prstGeom prst="downArrow">
            <a:avLst/>
          </a:prstGeom>
          <a:solidFill>
            <a:srgbClr val="A8CFA8"/>
          </a:solidFill>
          <a:ln w="25400" cap="flat" cmpd="sng" algn="ctr">
            <a:no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cxnSp>
        <p:nvCxnSpPr>
          <p:cNvPr id="28" name="Straight Connector 27">
            <a:extLst>
              <a:ext uri="{FF2B5EF4-FFF2-40B4-BE49-F238E27FC236}">
                <a16:creationId xmlns:a16="http://schemas.microsoft.com/office/drawing/2014/main" id="{FD10B44E-76F7-14E9-168A-9E3959A50DFE}"/>
              </a:ext>
            </a:extLst>
          </p:cNvPr>
          <p:cNvCxnSpPr/>
          <p:nvPr/>
        </p:nvCxnSpPr>
        <p:spPr>
          <a:xfrm flipH="1">
            <a:off x="2207260" y="5633071"/>
            <a:ext cx="694944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B124ACC3-D953-785C-8BAE-300C56E4DAFB}"/>
              </a:ext>
            </a:extLst>
          </p:cNvPr>
          <p:cNvCxnSpPr/>
          <p:nvPr/>
        </p:nvCxnSpPr>
        <p:spPr>
          <a:xfrm flipH="1">
            <a:off x="9156700" y="5633071"/>
            <a:ext cx="6949440" cy="0"/>
          </a:xfrm>
          <a:prstGeom prst="line">
            <a:avLst/>
          </a:prstGeom>
          <a:ln>
            <a:solidFill>
              <a:srgbClr val="0C5D05"/>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0E229421-A28E-4825-940A-823E38E2F8C9}"/>
              </a:ext>
            </a:extLst>
          </p:cNvPr>
          <p:cNvCxnSpPr/>
          <p:nvPr/>
        </p:nvCxnSpPr>
        <p:spPr>
          <a:xfrm>
            <a:off x="2207260" y="5626037"/>
            <a:ext cx="0" cy="1317998"/>
          </a:xfrm>
          <a:prstGeom prst="line">
            <a:avLst/>
          </a:prstGeom>
          <a:ln>
            <a:solidFill>
              <a:srgbClr val="0C5D05"/>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E700B0FC-1999-FD9F-F84D-0A528961B5D7}"/>
              </a:ext>
            </a:extLst>
          </p:cNvPr>
          <p:cNvCxnSpPr>
            <a:cxnSpLocks/>
          </p:cNvCxnSpPr>
          <p:nvPr/>
        </p:nvCxnSpPr>
        <p:spPr>
          <a:xfrm>
            <a:off x="6887020" y="5626037"/>
            <a:ext cx="0" cy="1364566"/>
          </a:xfrm>
          <a:prstGeom prst="line">
            <a:avLst/>
          </a:prstGeom>
          <a:ln>
            <a:solidFill>
              <a:srgbClr val="0C5D05"/>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9A99A33F-3D70-EB98-D16F-A33B0065AD6C}"/>
              </a:ext>
            </a:extLst>
          </p:cNvPr>
          <p:cNvCxnSpPr>
            <a:cxnSpLocks/>
          </p:cNvCxnSpPr>
          <p:nvPr/>
        </p:nvCxnSpPr>
        <p:spPr>
          <a:xfrm>
            <a:off x="11301440" y="5633071"/>
            <a:ext cx="0" cy="1350498"/>
          </a:xfrm>
          <a:prstGeom prst="line">
            <a:avLst/>
          </a:prstGeom>
          <a:ln>
            <a:solidFill>
              <a:srgbClr val="0C5D05"/>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ECACEA16-7399-66BE-71A2-AB07811D4512}"/>
              </a:ext>
            </a:extLst>
          </p:cNvPr>
          <p:cNvCxnSpPr>
            <a:cxnSpLocks/>
          </p:cNvCxnSpPr>
          <p:nvPr/>
        </p:nvCxnSpPr>
        <p:spPr>
          <a:xfrm>
            <a:off x="16106140" y="5838082"/>
            <a:ext cx="0" cy="1350498"/>
          </a:xfrm>
          <a:prstGeom prst="line">
            <a:avLst/>
          </a:prstGeom>
          <a:ln>
            <a:solidFill>
              <a:srgbClr val="0C5D05"/>
            </a:solidFill>
          </a:ln>
        </p:spPr>
        <p:style>
          <a:lnRef idx="1">
            <a:schemeClr val="accent1"/>
          </a:lnRef>
          <a:fillRef idx="0">
            <a:schemeClr val="accent1"/>
          </a:fillRef>
          <a:effectRef idx="0">
            <a:schemeClr val="accent1"/>
          </a:effectRef>
          <a:fontRef idx="minor">
            <a:schemeClr val="tx1"/>
          </a:fontRef>
        </p:style>
      </p:cxnSp>
      <p:sp>
        <p:nvSpPr>
          <p:cNvPr id="17" name="NodeM2">
            <a:extLst>
              <a:ext uri="{FF2B5EF4-FFF2-40B4-BE49-F238E27FC236}">
                <a16:creationId xmlns:a16="http://schemas.microsoft.com/office/drawing/2014/main" id="{10C9CEA4-71BE-2049-AFA2-322E21234DEA}"/>
              </a:ext>
            </a:extLst>
          </p:cNvPr>
          <p:cNvSpPr/>
          <p:nvPr/>
        </p:nvSpPr>
        <p:spPr>
          <a:xfrm>
            <a:off x="178586" y="6822159"/>
            <a:ext cx="4290253" cy="2233685"/>
          </a:xfrm>
          <a:prstGeom prst="roundRect">
            <a:avLst/>
          </a:prstGeom>
          <a:solidFill>
            <a:srgbClr val="A8CFA8"/>
          </a:solidFill>
          <a:ln w="19050" cap="flat" cmpd="sng" algn="ctr">
            <a:solidFill>
              <a:srgbClr val="6A9A4F"/>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ctr">
              <a:buNone/>
            </a:pPr>
            <a:r>
              <a:rPr lang="en-US" sz="2400" b="1">
                <a:solidFill>
                  <a:srgbClr val="254117"/>
                </a:solidFill>
                <a:latin typeface="ITC Avant Garde Gothic"/>
              </a:rPr>
              <a:t>Model 2</a:t>
            </a:r>
          </a:p>
          <a:p>
            <a:pPr algn="ctr">
              <a:buNone/>
            </a:pPr>
            <a:endParaRPr lang="en-US" sz="2400" b="1">
              <a:solidFill>
                <a:srgbClr val="254117"/>
              </a:solidFill>
              <a:latin typeface="ITC Avant Garde Gothic"/>
            </a:endParaRPr>
          </a:p>
          <a:p>
            <a:pPr algn="ctr">
              <a:buNone/>
            </a:pPr>
            <a:r>
              <a:rPr lang="en-US" sz="2400" b="1">
                <a:solidFill>
                  <a:srgbClr val="003400"/>
                </a:solidFill>
                <a:latin typeface="ITC Avant Garde Gothic"/>
              </a:rPr>
              <a:t>Dark × Cluster</a:t>
            </a:r>
          </a:p>
          <a:p>
            <a:pPr algn="ctr">
              <a:buNone/>
            </a:pPr>
            <a:r>
              <a:rPr lang="en-US" sz="2400">
                <a:solidFill>
                  <a:srgbClr val="254117"/>
                </a:solidFill>
                <a:latin typeface="ITC Avant Garde Gothic"/>
              </a:rPr>
              <a:t>Central · East · Outlier</a:t>
            </a:r>
          </a:p>
        </p:txBody>
      </p:sp>
      <p:sp>
        <p:nvSpPr>
          <p:cNvPr id="20" name="NodeM5">
            <a:extLst>
              <a:ext uri="{FF2B5EF4-FFF2-40B4-BE49-F238E27FC236}">
                <a16:creationId xmlns:a16="http://schemas.microsoft.com/office/drawing/2014/main" id="{85B661BA-A457-B741-AC6C-CA37045B2FE5}"/>
              </a:ext>
            </a:extLst>
          </p:cNvPr>
          <p:cNvSpPr/>
          <p:nvPr/>
        </p:nvSpPr>
        <p:spPr>
          <a:xfrm>
            <a:off x="13570733" y="6868729"/>
            <a:ext cx="4717267" cy="2187116"/>
          </a:xfrm>
          <a:prstGeom prst="roundRect">
            <a:avLst/>
          </a:prstGeom>
          <a:solidFill>
            <a:srgbClr val="A8CFA8"/>
          </a:solidFill>
          <a:ln w="19050" cap="flat" cmpd="sng" algn="ctr">
            <a:solidFill>
              <a:srgbClr val="6A9A4F"/>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ctr">
              <a:buNone/>
            </a:pPr>
            <a:r>
              <a:rPr lang="en-US" sz="2400" b="1">
                <a:solidFill>
                  <a:srgbClr val="254117"/>
                </a:solidFill>
                <a:latin typeface="ITC Avant Garde Gothic"/>
              </a:rPr>
              <a:t>Model 5</a:t>
            </a:r>
          </a:p>
          <a:p>
            <a:pPr algn="ctr">
              <a:buNone/>
            </a:pPr>
            <a:endParaRPr lang="en-US" sz="2400" b="1">
              <a:solidFill>
                <a:srgbClr val="254117"/>
              </a:solidFill>
              <a:latin typeface="ITC Avant Garde Gothic"/>
            </a:endParaRPr>
          </a:p>
          <a:p>
            <a:pPr algn="ctr">
              <a:buNone/>
            </a:pPr>
            <a:r>
              <a:rPr lang="en-US" sz="2400" b="1">
                <a:solidFill>
                  <a:srgbClr val="003400"/>
                </a:solidFill>
                <a:latin typeface="ITC Avant Garde Gothic"/>
              </a:rPr>
              <a:t>Dark × </a:t>
            </a:r>
          </a:p>
          <a:p>
            <a:pPr algn="ctr">
              <a:buNone/>
            </a:pPr>
            <a:r>
              <a:rPr lang="en-US" sz="2400" b="1">
                <a:solidFill>
                  <a:srgbClr val="003400"/>
                </a:solidFill>
                <a:latin typeface="ITC Avant Garde Gothic"/>
              </a:rPr>
              <a:t>(Streetlight </a:t>
            </a:r>
            <a:r>
              <a:rPr lang="en-US" sz="1400" b="1">
                <a:solidFill>
                  <a:srgbClr val="003400"/>
                </a:solidFill>
                <a:latin typeface="ITC Avant Garde Gothic"/>
              </a:rPr>
              <a:t>[15] </a:t>
            </a:r>
            <a:r>
              <a:rPr lang="en-US" sz="2400" b="1">
                <a:solidFill>
                  <a:srgbClr val="003400"/>
                </a:solidFill>
                <a:latin typeface="ITC Avant Garde Gothic"/>
              </a:rPr>
              <a:t>+ Businesses</a:t>
            </a:r>
            <a:r>
              <a:rPr lang="en-US" sz="1400" b="1">
                <a:solidFill>
                  <a:srgbClr val="003400"/>
                </a:solidFill>
                <a:latin typeface="ITC Avant Garde Gothic"/>
              </a:rPr>
              <a:t>[16] </a:t>
            </a:r>
            <a:r>
              <a:rPr lang="en-US" sz="2400" b="1">
                <a:solidFill>
                  <a:srgbClr val="003400"/>
                </a:solidFill>
                <a:latin typeface="ITC Avant Garde Gothic"/>
              </a:rPr>
              <a:t>)</a:t>
            </a:r>
            <a:endParaRPr lang="en-US" sz="1400" b="1">
              <a:solidFill>
                <a:srgbClr val="003400"/>
              </a:solidFill>
              <a:latin typeface="ITC Avant Garde Gothic"/>
            </a:endParaRPr>
          </a:p>
        </p:txBody>
      </p:sp>
      <p:sp>
        <p:nvSpPr>
          <p:cNvPr id="18" name="NodeM3">
            <a:extLst>
              <a:ext uri="{FF2B5EF4-FFF2-40B4-BE49-F238E27FC236}">
                <a16:creationId xmlns:a16="http://schemas.microsoft.com/office/drawing/2014/main" id="{86F5CF51-D735-FF44-BA50-221BD940340F}"/>
              </a:ext>
            </a:extLst>
          </p:cNvPr>
          <p:cNvSpPr/>
          <p:nvPr/>
        </p:nvSpPr>
        <p:spPr>
          <a:xfrm>
            <a:off x="4741893" y="6822160"/>
            <a:ext cx="4290255" cy="2233681"/>
          </a:xfrm>
          <a:prstGeom prst="roundRect">
            <a:avLst/>
          </a:prstGeom>
          <a:solidFill>
            <a:srgbClr val="A8CFA8"/>
          </a:solidFill>
          <a:ln w="19050" cap="flat" cmpd="sng" algn="ctr">
            <a:solidFill>
              <a:srgbClr val="6A9A4F"/>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ctr">
              <a:buNone/>
            </a:pPr>
            <a:r>
              <a:rPr lang="en-US" sz="2400" b="1">
                <a:solidFill>
                  <a:srgbClr val="254117"/>
                </a:solidFill>
                <a:latin typeface="ITC Avant Garde Gothic"/>
              </a:rPr>
              <a:t>Model 3</a:t>
            </a:r>
          </a:p>
          <a:p>
            <a:pPr algn="ctr">
              <a:buNone/>
            </a:pPr>
            <a:endParaRPr lang="en-US" sz="2400" b="1">
              <a:solidFill>
                <a:srgbClr val="254117"/>
              </a:solidFill>
              <a:latin typeface="ITC Avant Garde Gothic"/>
            </a:endParaRPr>
          </a:p>
          <a:p>
            <a:pPr algn="ctr">
              <a:buNone/>
            </a:pPr>
            <a:r>
              <a:rPr lang="en-US" sz="2400" b="1">
                <a:solidFill>
                  <a:srgbClr val="003400"/>
                </a:solidFill>
                <a:latin typeface="ITC Avant Garde Gothic"/>
              </a:rPr>
              <a:t>Dark × CCTV </a:t>
            </a:r>
            <a:r>
              <a:rPr lang="en-US" sz="1400" b="1">
                <a:solidFill>
                  <a:srgbClr val="003400"/>
                </a:solidFill>
                <a:latin typeface="ITC Avant Garde Gothic"/>
              </a:rPr>
              <a:t>[13]</a:t>
            </a:r>
          </a:p>
        </p:txBody>
      </p:sp>
      <p:sp>
        <p:nvSpPr>
          <p:cNvPr id="19" name="NodeM4">
            <a:extLst>
              <a:ext uri="{FF2B5EF4-FFF2-40B4-BE49-F238E27FC236}">
                <a16:creationId xmlns:a16="http://schemas.microsoft.com/office/drawing/2014/main" id="{3D3210BB-9839-7D4F-B4F7-B2C3ED235C4B}"/>
              </a:ext>
            </a:extLst>
          </p:cNvPr>
          <p:cNvSpPr/>
          <p:nvPr/>
        </p:nvSpPr>
        <p:spPr>
          <a:xfrm>
            <a:off x="9156313" y="6882805"/>
            <a:ext cx="4290255" cy="2187110"/>
          </a:xfrm>
          <a:prstGeom prst="roundRect">
            <a:avLst/>
          </a:prstGeom>
          <a:solidFill>
            <a:srgbClr val="A8CFA8"/>
          </a:solidFill>
          <a:ln w="19050" cap="flat" cmpd="sng" algn="ctr">
            <a:solidFill>
              <a:srgbClr val="6A9A4F"/>
            </a:solidFill>
            <a:prstDash val="solid"/>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ctr" anchorCtr="0">
            <a:noAutofit/>
          </a:bodyPr>
          <a:lstStyle/>
          <a:p>
            <a:pPr algn="ctr">
              <a:buNone/>
            </a:pPr>
            <a:r>
              <a:rPr lang="en-US" sz="2400" b="1">
                <a:solidFill>
                  <a:srgbClr val="254117"/>
                </a:solidFill>
                <a:latin typeface="ITC Avant Garde Gothic"/>
              </a:rPr>
              <a:t>Model 4</a:t>
            </a:r>
          </a:p>
          <a:p>
            <a:pPr algn="ctr">
              <a:buNone/>
            </a:pPr>
            <a:endParaRPr lang="en-US" sz="2400" b="1">
              <a:solidFill>
                <a:srgbClr val="254117"/>
              </a:solidFill>
              <a:latin typeface="ITC Avant Garde Gothic"/>
            </a:endParaRPr>
          </a:p>
          <a:p>
            <a:pPr algn="ctr">
              <a:buNone/>
            </a:pPr>
            <a:r>
              <a:rPr lang="en-US" sz="2400" b="1">
                <a:solidFill>
                  <a:srgbClr val="003400"/>
                </a:solidFill>
                <a:latin typeface="ITC Avant Garde Gothic"/>
              </a:rPr>
              <a:t>Dark × Safety </a:t>
            </a:r>
            <a:r>
              <a:rPr lang="en-US" sz="1400" b="1">
                <a:solidFill>
                  <a:srgbClr val="003400"/>
                </a:solidFill>
                <a:latin typeface="ITC Avant Garde Gothic"/>
              </a:rPr>
              <a:t>[14]</a:t>
            </a:r>
          </a:p>
        </p:txBody>
      </p:sp>
      <p:sp>
        <p:nvSpPr>
          <p:cNvPr id="3" name="Line">
            <a:extLst>
              <a:ext uri="{FF2B5EF4-FFF2-40B4-BE49-F238E27FC236}">
                <a16:creationId xmlns:a16="http://schemas.microsoft.com/office/drawing/2014/main" id="{10B43E73-17E8-4A75-EA28-3422BC873B15}"/>
              </a:ext>
            </a:extLst>
          </p:cNvPr>
          <p:cNvSpPr/>
          <p:nvPr/>
        </p:nvSpPr>
        <p:spPr>
          <a:xfrm>
            <a:off x="609600" y="1803400"/>
            <a:ext cx="17068800" cy="25400"/>
          </a:xfrm>
          <a:prstGeom prst="rect">
            <a:avLst/>
          </a:prstGeom>
          <a:solidFill>
            <a:srgbClr val="619365"/>
          </a:solidFill>
          <a:ln>
            <a:noFill/>
          </a:ln>
        </p:spPr>
        <p:txBody>
          <a:bodyPr/>
          <a:lstStyle/>
          <a:p>
            <a:endParaRPr/>
          </a:p>
        </p:txBody>
      </p:sp>
      <p:sp>
        <p:nvSpPr>
          <p:cNvPr id="9" name="Title">
            <a:extLst>
              <a:ext uri="{FF2B5EF4-FFF2-40B4-BE49-F238E27FC236}">
                <a16:creationId xmlns:a16="http://schemas.microsoft.com/office/drawing/2014/main" id="{34DA09CC-36DB-A581-3CA4-1FD8BFF10171}"/>
              </a:ext>
            </a:extLst>
          </p:cNvPr>
          <p:cNvSpPr/>
          <p:nvPr/>
        </p:nvSpPr>
        <p:spPr>
          <a:xfrm>
            <a:off x="609600" y="457200"/>
            <a:ext cx="11430000" cy="812800"/>
          </a:xfrm>
          <a:prstGeom prst="rect">
            <a:avLst/>
          </a:prstGeom>
          <a:noFill/>
        </p:spPr>
        <p:txBody>
          <a:bodyPr lIns="91440" tIns="45720" rIns="91440" bIns="45720" anchor="b"/>
          <a:lstStyle/>
          <a:p>
            <a:r>
              <a:rPr lang="en-US" sz="4400">
                <a:solidFill>
                  <a:srgbClr val="254117"/>
                </a:solidFill>
                <a:latin typeface="ITC Avant Garde Gothic"/>
              </a:rPr>
              <a:t>GLM: Additional Model Specification</a:t>
            </a:r>
          </a:p>
        </p:txBody>
      </p:sp>
      <p:sp>
        <p:nvSpPr>
          <p:cNvPr id="15" name="EqPanel">
            <a:extLst>
              <a:ext uri="{FF2B5EF4-FFF2-40B4-BE49-F238E27FC236}">
                <a16:creationId xmlns:a16="http://schemas.microsoft.com/office/drawing/2014/main" id="{DE4BC333-7807-5B53-0F20-77DCAC596EFB}"/>
              </a:ext>
            </a:extLst>
          </p:cNvPr>
          <p:cNvSpPr/>
          <p:nvPr/>
        </p:nvSpPr>
        <p:spPr>
          <a:xfrm>
            <a:off x="606083" y="1948837"/>
            <a:ext cx="17068800" cy="2433472"/>
          </a:xfrm>
          <a:prstGeom prst="roundRect">
            <a:avLst>
              <a:gd name="adj" fmla="val 8000"/>
            </a:avLst>
          </a:prstGeom>
          <a:solidFill>
            <a:srgbClr val="1A2E1F"/>
          </a:solidFill>
          <a:ln>
            <a:noFill/>
          </a:ln>
        </p:spPr>
        <p:txBody>
          <a:bodyPr/>
          <a:lstStyle/>
          <a:p>
            <a:endParaRPr/>
          </a:p>
        </p:txBody>
      </p:sp>
      <p:sp>
        <p:nvSpPr>
          <p:cNvPr id="14" name="EqLbl">
            <a:extLst>
              <a:ext uri="{FF2B5EF4-FFF2-40B4-BE49-F238E27FC236}">
                <a16:creationId xmlns:a16="http://schemas.microsoft.com/office/drawing/2014/main" id="{DA0EA4B0-D6B5-6A77-31F8-0D5910FEE920}"/>
              </a:ext>
            </a:extLst>
          </p:cNvPr>
          <p:cNvSpPr/>
          <p:nvPr/>
        </p:nvSpPr>
        <p:spPr>
          <a:xfrm>
            <a:off x="1016000" y="2235200"/>
            <a:ext cx="5080000" cy="304800"/>
          </a:xfrm>
          <a:prstGeom prst="rect">
            <a:avLst/>
          </a:prstGeom>
          <a:noFill/>
        </p:spPr>
        <p:txBody>
          <a:bodyPr anchor="ctr"/>
          <a:lstStyle/>
          <a:p>
            <a:pPr algn="l"/>
            <a:r>
              <a:rPr lang="en-US" sz="2400">
                <a:solidFill>
                  <a:srgbClr val="A8CFA8"/>
                </a:solidFill>
                <a:latin typeface="ITC Avant Garde Gothic"/>
              </a:rPr>
              <a:t>Model Specification</a:t>
            </a:r>
          </a:p>
        </p:txBody>
      </p:sp>
      <p:sp>
        <p:nvSpPr>
          <p:cNvPr id="16" name="EqL1">
            <a:extLst>
              <a:ext uri="{FF2B5EF4-FFF2-40B4-BE49-F238E27FC236}">
                <a16:creationId xmlns:a16="http://schemas.microsoft.com/office/drawing/2014/main" id="{89A541FA-69EF-B62A-3927-6C6CB858B347}"/>
              </a:ext>
            </a:extLst>
          </p:cNvPr>
          <p:cNvSpPr/>
          <p:nvPr/>
        </p:nvSpPr>
        <p:spPr>
          <a:xfrm>
            <a:off x="1016000" y="3081868"/>
            <a:ext cx="16002000" cy="558800"/>
          </a:xfrm>
          <a:prstGeom prst="rect">
            <a:avLst/>
          </a:prstGeom>
          <a:noFill/>
        </p:spPr>
        <p:txBody>
          <a:bodyPr lIns="91440" tIns="45720" rIns="91440" bIns="45720" anchor="ctr"/>
          <a:lstStyle/>
          <a:p>
            <a:pPr algn="ctr"/>
            <a:r>
              <a:rPr lang="en-US" sz="3200" b="1">
                <a:solidFill>
                  <a:srgbClr val="FFFFFF"/>
                </a:solidFill>
                <a:latin typeface="Cambria Math"/>
              </a:rPr>
              <a:t>log{E(</a:t>
            </a:r>
            <a:r>
              <a:rPr lang="en-US" sz="3200" b="1" err="1">
                <a:solidFill>
                  <a:srgbClr val="FFFFFF"/>
                </a:solidFill>
                <a:latin typeface="Cambria Math"/>
              </a:rPr>
              <a:t>y</a:t>
            </a:r>
            <a:r>
              <a:rPr lang="en-US" sz="2400" b="1" baseline="-25000" err="1">
                <a:solidFill>
                  <a:srgbClr val="FFFFFF"/>
                </a:solidFill>
                <a:latin typeface="Cambria Math"/>
              </a:rPr>
              <a:t>it</a:t>
            </a:r>
            <a:r>
              <a:rPr lang="en-US" sz="3200" b="1">
                <a:solidFill>
                  <a:srgbClr val="FFFFFF"/>
                </a:solidFill>
                <a:latin typeface="Cambria Math"/>
              </a:rPr>
              <a:t>)}  =  β</a:t>
            </a:r>
            <a:r>
              <a:rPr lang="en-US" sz="2400" b="1" baseline="-25000">
                <a:solidFill>
                  <a:srgbClr val="FFFFFF"/>
                </a:solidFill>
                <a:latin typeface="Cambria Math"/>
              </a:rPr>
              <a:t>0</a:t>
            </a:r>
            <a:r>
              <a:rPr lang="en-US" sz="3200" b="1">
                <a:solidFill>
                  <a:srgbClr val="FFFFFF"/>
                </a:solidFill>
                <a:latin typeface="Cambria Math"/>
              </a:rPr>
              <a:t>  +  </a:t>
            </a:r>
            <a:r>
              <a:rPr lang="en-US" sz="3200" b="1">
                <a:solidFill>
                  <a:srgbClr val="A8CFA8"/>
                </a:solidFill>
                <a:latin typeface="Cambria Math"/>
              </a:rPr>
              <a:t>β</a:t>
            </a:r>
            <a:r>
              <a:rPr lang="en-US" sz="2400" b="1" baseline="-25000">
                <a:solidFill>
                  <a:srgbClr val="A8CFA8"/>
                </a:solidFill>
                <a:latin typeface="Cambria Math"/>
              </a:rPr>
              <a:t>1</a:t>
            </a:r>
            <a:r>
              <a:rPr lang="en-US" sz="3200" b="1">
                <a:solidFill>
                  <a:srgbClr val="A8CFA8"/>
                </a:solidFill>
                <a:latin typeface="Cambria Math"/>
              </a:rPr>
              <a:t>Dark</a:t>
            </a:r>
            <a:r>
              <a:rPr lang="en-US" sz="2400" b="1" baseline="-25000">
                <a:solidFill>
                  <a:srgbClr val="A8CFA8"/>
                </a:solidFill>
                <a:latin typeface="Cambria Math"/>
              </a:rPr>
              <a:t>it</a:t>
            </a:r>
            <a:r>
              <a:rPr lang="en-US" sz="3200" b="1">
                <a:solidFill>
                  <a:srgbClr val="FFFFFF"/>
                </a:solidFill>
                <a:latin typeface="Cambria Math"/>
              </a:rPr>
              <a:t>  +  β</a:t>
            </a:r>
            <a:r>
              <a:rPr lang="en-US" sz="2400" b="1" baseline="-25000">
                <a:solidFill>
                  <a:srgbClr val="FFFFFF"/>
                </a:solidFill>
                <a:latin typeface="Cambria Math"/>
              </a:rPr>
              <a:t>2</a:t>
            </a:r>
            <a:r>
              <a:rPr lang="en-US" sz="3200" b="1">
                <a:solidFill>
                  <a:srgbClr val="FFFFFF"/>
                </a:solidFill>
                <a:latin typeface="Cambria Math"/>
              </a:rPr>
              <a:t>Lag1  +  β</a:t>
            </a:r>
            <a:r>
              <a:rPr lang="en-US" sz="2400" b="1" baseline="-25000">
                <a:solidFill>
                  <a:srgbClr val="FFFFFF"/>
                </a:solidFill>
                <a:latin typeface="Cambria Math"/>
              </a:rPr>
              <a:t>3</a:t>
            </a:r>
            <a:r>
              <a:rPr lang="en-US" sz="3200" b="1">
                <a:solidFill>
                  <a:srgbClr val="FFFFFF"/>
                </a:solidFill>
                <a:latin typeface="Cambria Math"/>
              </a:rPr>
              <a:t>Lag24 + </a:t>
            </a:r>
            <a:r>
              <a:rPr lang="en-US" sz="3200" b="1" err="1">
                <a:solidFill>
                  <a:srgbClr val="FFFFFF"/>
                </a:solidFill>
                <a:latin typeface="Cambria Math"/>
              </a:rPr>
              <a:t>γ</a:t>
            </a:r>
            <a:r>
              <a:rPr lang="en-US" sz="2400" b="1" baseline="-25000" err="1">
                <a:solidFill>
                  <a:srgbClr val="FFFFFF"/>
                </a:solidFill>
                <a:latin typeface="Cambria Math"/>
              </a:rPr>
              <a:t>h</a:t>
            </a:r>
            <a:r>
              <a:rPr lang="en-US" sz="3200" b="1">
                <a:solidFill>
                  <a:srgbClr val="FFFFFF"/>
                </a:solidFill>
                <a:latin typeface="Cambria Math"/>
              </a:rPr>
              <a:t>  +  </a:t>
            </a:r>
            <a:r>
              <a:rPr lang="en-US" sz="3200" b="1" err="1">
                <a:solidFill>
                  <a:srgbClr val="FFFFFF"/>
                </a:solidFill>
                <a:latin typeface="Cambria Math"/>
              </a:rPr>
              <a:t>δ</a:t>
            </a:r>
            <a:r>
              <a:rPr lang="en-US" sz="2400" b="1" baseline="-25000" err="1">
                <a:solidFill>
                  <a:srgbClr val="FFFFFF"/>
                </a:solidFill>
                <a:latin typeface="Cambria Math"/>
              </a:rPr>
              <a:t>d</a:t>
            </a:r>
            <a:r>
              <a:rPr lang="en-US" sz="3200" b="1">
                <a:solidFill>
                  <a:srgbClr val="FFFFFF"/>
                </a:solidFill>
                <a:latin typeface="Cambria Math"/>
              </a:rPr>
              <a:t>  +  </a:t>
            </a:r>
            <a:r>
              <a:rPr lang="en-US" sz="3200" b="1" err="1">
                <a:solidFill>
                  <a:srgbClr val="FFFFFF"/>
                </a:solidFill>
                <a:latin typeface="Cambria Math"/>
              </a:rPr>
              <a:t>μ</a:t>
            </a:r>
            <a:r>
              <a:rPr lang="en-US" sz="2400" b="1" baseline="-25000" err="1">
                <a:solidFill>
                  <a:srgbClr val="FFFFFF"/>
                </a:solidFill>
                <a:latin typeface="Cambria Math"/>
              </a:rPr>
              <a:t>m</a:t>
            </a:r>
            <a:r>
              <a:rPr lang="en-US" sz="3200" b="1">
                <a:solidFill>
                  <a:srgbClr val="FFFFFF"/>
                </a:solidFill>
                <a:latin typeface="Cambria Math"/>
              </a:rPr>
              <a:t>  +  </a:t>
            </a:r>
            <a:r>
              <a:rPr lang="en-US" sz="3200" b="1" err="1">
                <a:solidFill>
                  <a:srgbClr val="FFFFFF"/>
                </a:solidFill>
                <a:latin typeface="Cambria Math"/>
              </a:rPr>
              <a:t>θW</a:t>
            </a:r>
            <a:r>
              <a:rPr lang="en-US" sz="2400" b="1" baseline="-25000" err="1">
                <a:solidFill>
                  <a:srgbClr val="FFFFFF"/>
                </a:solidFill>
                <a:latin typeface="Cambria Math"/>
              </a:rPr>
              <a:t>t</a:t>
            </a:r>
            <a:r>
              <a:rPr lang="en-US" sz="3200" b="1">
                <a:solidFill>
                  <a:srgbClr val="FFFFFF"/>
                </a:solidFill>
                <a:latin typeface="Cambria Math"/>
              </a:rPr>
              <a:t>  +  α</a:t>
            </a:r>
            <a:r>
              <a:rPr lang="en-US" sz="2400" b="1" baseline="-25000" err="1">
                <a:solidFill>
                  <a:srgbClr val="FFFFFF"/>
                </a:solidFill>
                <a:latin typeface="Cambria Math"/>
              </a:rPr>
              <a:t>i</a:t>
            </a:r>
            <a:r>
              <a:rPr lang="en-US" sz="2400" b="1" baseline="-25000">
                <a:solidFill>
                  <a:srgbClr val="FFFFFF"/>
                </a:solidFill>
                <a:latin typeface="Cambria Math"/>
              </a:rPr>
              <a:t> </a:t>
            </a:r>
          </a:p>
        </p:txBody>
      </p:sp>
      <p:sp>
        <p:nvSpPr>
          <p:cNvPr id="2" name="TextBox 1">
            <a:extLst>
              <a:ext uri="{FF2B5EF4-FFF2-40B4-BE49-F238E27FC236}">
                <a16:creationId xmlns:a16="http://schemas.microsoft.com/office/drawing/2014/main" id="{FEF4B22B-628A-7015-3E21-816B9821AE29}"/>
              </a:ext>
            </a:extLst>
          </p:cNvPr>
          <p:cNvSpPr txBox="1"/>
          <p:nvPr/>
        </p:nvSpPr>
        <p:spPr>
          <a:xfrm>
            <a:off x="462573" y="9245024"/>
            <a:ext cx="15643567" cy="1169551"/>
          </a:xfrm>
          <a:prstGeom prst="rect">
            <a:avLst/>
          </a:prstGeom>
          <a:noFill/>
        </p:spPr>
        <p:txBody>
          <a:bodyPr wrap="square" rtlCol="0">
            <a:spAutoFit/>
          </a:bodyPr>
          <a:lstStyle/>
          <a:p>
            <a:r>
              <a:rPr lang="en-GB" sz="1400">
                <a:latin typeface="ITC Avant Garde Gothic"/>
                <a:ea typeface="Calibri"/>
                <a:cs typeface="Calibri"/>
              </a:rPr>
              <a:t>[13] Bristol City Council. Council </a:t>
            </a:r>
            <a:r>
              <a:rPr lang="en-GB" sz="1400" err="1">
                <a:latin typeface="ITC Avant Garde Gothic"/>
                <a:ea typeface="Calibri"/>
                <a:cs typeface="Calibri"/>
              </a:rPr>
              <a:t>cctv</a:t>
            </a:r>
            <a:r>
              <a:rPr lang="en-GB" sz="1400">
                <a:latin typeface="ITC Avant Garde Gothic"/>
                <a:ea typeface="Calibri"/>
                <a:cs typeface="Calibri"/>
              </a:rPr>
              <a:t> cameras. data.gov.uk dataset, 2024.</a:t>
            </a:r>
          </a:p>
          <a:p>
            <a:r>
              <a:rPr lang="en-GB" sz="1400">
                <a:latin typeface="ITC Avant Garde Gothic"/>
                <a:ea typeface="Calibri"/>
                <a:cs typeface="Calibri"/>
              </a:rPr>
              <a:t>[14] 2025 Bristol City Council (2025), Quality of Life Survey 2024 to 2025: Final Report</a:t>
            </a:r>
            <a:endParaRPr lang="en-GB" sz="1400">
              <a:latin typeface="ITC Avant Garde Gothic" panose="020B0604020202020204" charset="0"/>
            </a:endParaRPr>
          </a:p>
          <a:p>
            <a:r>
              <a:rPr lang="en-GB" sz="1400">
                <a:latin typeface="ITC Avant Garde Gothic" panose="020B0604020202020204" charset="0"/>
              </a:rPr>
              <a:t>[15]Bristol City Council. Streetlights and street furniture. data.gov.uk dataset, 2024.</a:t>
            </a:r>
          </a:p>
          <a:p>
            <a:r>
              <a:rPr lang="en-GB" sz="1400">
                <a:latin typeface="ITC Avant Garde Gothic" panose="020B0604020202020204" charset="0"/>
              </a:rPr>
              <a:t>[16] OpenStreetMap contributors. </a:t>
            </a:r>
            <a:r>
              <a:rPr lang="en-GB" sz="1400" err="1">
                <a:latin typeface="ITC Avant Garde Gothic" panose="020B0604020202020204" charset="0"/>
              </a:rPr>
              <a:t>Openstreetmap</a:t>
            </a:r>
            <a:r>
              <a:rPr lang="en-GB" sz="1400">
                <a:latin typeface="ITC Avant Garde Gothic" panose="020B0604020202020204" charset="0"/>
              </a:rPr>
              <a:t>. OpenStreetMap database, 2026</a:t>
            </a:r>
          </a:p>
          <a:p>
            <a:endParaRPr lang="en-GB" sz="1400">
              <a:latin typeface="ITC Avant Garde Gothic" panose="020B0604020202020204" charset="0"/>
            </a:endParaRPr>
          </a:p>
        </p:txBody>
      </p:sp>
    </p:spTree>
    <p:extLst>
      <p:ext uri="{BB962C8B-B14F-4D97-AF65-F5344CB8AC3E}">
        <p14:creationId xmlns:p14="http://schemas.microsoft.com/office/powerpoint/2010/main" val="357460391"/>
      </p:ext>
    </p:extLst>
  </p:cSld>
  <p:clrMapOvr>
    <a:masterClrMapping/>
  </p:clrMapOvr>
  <mc:AlternateContent xmlns:mc="http://schemas.openxmlformats.org/markup-compatibility/2006" xmlns:p14="http://schemas.microsoft.com/office/powerpoint/2010/main">
    <mc:Choice Requires="p14">
      <p:transition p14:dur="0" advTm="20235"/>
    </mc:Choice>
    <mc:Fallback xmlns="">
      <p:transition advTm="20235"/>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0D35E4-41E8-C832-2969-ECFA5F2DA827}"/>
            </a:ext>
          </a:extLst>
        </p:cNvPr>
        <p:cNvGrpSpPr/>
        <p:nvPr/>
      </p:nvGrpSpPr>
      <p:grpSpPr>
        <a:xfrm>
          <a:off x="0" y="0"/>
          <a:ext cx="0" cy="0"/>
          <a:chOff x="0" y="0"/>
          <a:chExt cx="0" cy="0"/>
        </a:xfrm>
      </p:grpSpPr>
      <p:sp>
        <p:nvSpPr>
          <p:cNvPr id="2" name="Title">
            <a:extLst>
              <a:ext uri="{FF2B5EF4-FFF2-40B4-BE49-F238E27FC236}">
                <a16:creationId xmlns:a16="http://schemas.microsoft.com/office/drawing/2014/main" id="{6408D5E2-2CB9-DE3C-934F-20497162BC05}"/>
              </a:ext>
            </a:extLst>
          </p:cNvPr>
          <p:cNvSpPr/>
          <p:nvPr/>
        </p:nvSpPr>
        <p:spPr>
          <a:xfrm>
            <a:off x="609600" y="457200"/>
            <a:ext cx="11430000" cy="812800"/>
          </a:xfrm>
          <a:prstGeom prst="rect">
            <a:avLst/>
          </a:prstGeom>
          <a:noFill/>
        </p:spPr>
        <p:txBody>
          <a:bodyPr lIns="91440" tIns="45720" rIns="91440" bIns="45720" anchor="b"/>
          <a:lstStyle/>
          <a:p>
            <a:r>
              <a:rPr lang="en-US" sz="4400">
                <a:solidFill>
                  <a:srgbClr val="254117"/>
                </a:solidFill>
                <a:latin typeface="ITC Avant Garde Gothic"/>
              </a:rPr>
              <a:t>GLM: Comparison with Case-Control</a:t>
            </a:r>
          </a:p>
        </p:txBody>
      </p:sp>
      <p:sp>
        <p:nvSpPr>
          <p:cNvPr id="4" name="Line">
            <a:extLst>
              <a:ext uri="{FF2B5EF4-FFF2-40B4-BE49-F238E27FC236}">
                <a16:creationId xmlns:a16="http://schemas.microsoft.com/office/drawing/2014/main" id="{26325B28-501B-36D7-AB3C-659ACB60DEA0}"/>
              </a:ext>
            </a:extLst>
          </p:cNvPr>
          <p:cNvSpPr/>
          <p:nvPr/>
        </p:nvSpPr>
        <p:spPr>
          <a:xfrm>
            <a:off x="609600" y="1803400"/>
            <a:ext cx="17068800" cy="25400"/>
          </a:xfrm>
          <a:prstGeom prst="rect">
            <a:avLst/>
          </a:prstGeom>
          <a:solidFill>
            <a:srgbClr val="619365"/>
          </a:solidFill>
          <a:ln>
            <a:noFill/>
          </a:ln>
        </p:spPr>
        <p:txBody>
          <a:bodyPr/>
          <a:lstStyle/>
          <a:p>
            <a:endParaRPr/>
          </a:p>
        </p:txBody>
      </p:sp>
      <p:sp>
        <p:nvSpPr>
          <p:cNvPr id="36" name="TextBox 35">
            <a:extLst>
              <a:ext uri="{FF2B5EF4-FFF2-40B4-BE49-F238E27FC236}">
                <a16:creationId xmlns:a16="http://schemas.microsoft.com/office/drawing/2014/main" id="{1C2F908A-467E-1526-3FA9-B3C5849EAD12}"/>
              </a:ext>
            </a:extLst>
          </p:cNvPr>
          <p:cNvSpPr txBox="1"/>
          <p:nvPr/>
        </p:nvSpPr>
        <p:spPr>
          <a:xfrm>
            <a:off x="612913" y="3602934"/>
            <a:ext cx="13893727" cy="424731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571500" indent="-571500">
              <a:buFont typeface="Arial" panose="020B0604020202020204" pitchFamily="34" charset="0"/>
              <a:buChar char="•"/>
            </a:pPr>
            <a:r>
              <a:rPr lang="en-GB" sz="3600">
                <a:solidFill>
                  <a:schemeClr val="accent3">
                    <a:lumMod val="49000"/>
                  </a:schemeClr>
                </a:solidFill>
                <a:latin typeface="ITC Avant Garde Gothic"/>
                <a:ea typeface="Calibri"/>
                <a:cs typeface="Calibri"/>
              </a:rPr>
              <a:t>Case-control: matches light VS dark periods</a:t>
            </a:r>
          </a:p>
          <a:p>
            <a:pPr marL="571500" indent="-571500">
              <a:buFont typeface="Arial" panose="020B0604020202020204" pitchFamily="34" charset="0"/>
              <a:buChar char="•"/>
            </a:pPr>
            <a:endParaRPr lang="en-GB" sz="3600">
              <a:solidFill>
                <a:schemeClr val="accent3">
                  <a:lumMod val="49000"/>
                </a:schemeClr>
              </a:solidFill>
              <a:latin typeface="ITC Avant Garde Gothic"/>
              <a:ea typeface="Calibri"/>
              <a:cs typeface="Calibri"/>
            </a:endParaRPr>
          </a:p>
          <a:p>
            <a:pPr marL="571500" indent="-571500">
              <a:buFont typeface="Arial" panose="020B0604020202020204" pitchFamily="34" charset="0"/>
              <a:buChar char="•"/>
            </a:pPr>
            <a:r>
              <a:rPr lang="en-GB" sz="3600">
                <a:solidFill>
                  <a:schemeClr val="accent3">
                    <a:lumMod val="49000"/>
                  </a:schemeClr>
                </a:solidFill>
                <a:latin typeface="ITC Avant Garde Gothic"/>
                <a:ea typeface="Calibri"/>
                <a:cs typeface="Calibri"/>
              </a:rPr>
              <a:t>GLM: Controls time, weather, autocorrelation...</a:t>
            </a:r>
          </a:p>
          <a:p>
            <a:pPr marL="571500" indent="-571500">
              <a:buFont typeface="Arial" panose="020B0604020202020204" pitchFamily="34" charset="0"/>
              <a:buChar char="•"/>
            </a:pPr>
            <a:endParaRPr lang="en-GB" sz="3600">
              <a:solidFill>
                <a:schemeClr val="accent3">
                  <a:lumMod val="49000"/>
                </a:schemeClr>
              </a:solidFill>
              <a:latin typeface="ITC Avant Garde Gothic"/>
              <a:ea typeface="Calibri"/>
              <a:cs typeface="Calibri"/>
            </a:endParaRPr>
          </a:p>
          <a:p>
            <a:pPr marL="571500" indent="-571500">
              <a:buFont typeface="Arial" panose="020B0604020202020204" pitchFamily="34" charset="0"/>
              <a:buChar char="•"/>
            </a:pPr>
            <a:r>
              <a:rPr lang="en-GB" sz="3600">
                <a:solidFill>
                  <a:schemeClr val="accent3">
                    <a:lumMod val="49000"/>
                  </a:schemeClr>
                </a:solidFill>
                <a:latin typeface="ITC Avant Garde Gothic"/>
                <a:ea typeface="Calibri"/>
                <a:cs typeface="Calibri"/>
              </a:rPr>
              <a:t>Both depict darkness reduces walking</a:t>
            </a:r>
          </a:p>
          <a:p>
            <a:endParaRPr lang="en-GB" sz="3600">
              <a:solidFill>
                <a:schemeClr val="accent3">
                  <a:lumMod val="49000"/>
                </a:schemeClr>
              </a:solidFill>
              <a:latin typeface="ITC Avant Garde Gothic"/>
              <a:ea typeface="Calibri"/>
              <a:cs typeface="Calibri"/>
            </a:endParaRPr>
          </a:p>
          <a:p>
            <a:pPr marL="285750" indent="-285750">
              <a:buFont typeface="Wingdings"/>
              <a:buChar char="Ø"/>
            </a:pPr>
            <a:endParaRPr lang="en-GB" sz="3600">
              <a:solidFill>
                <a:schemeClr val="accent3">
                  <a:lumMod val="49000"/>
                </a:schemeClr>
              </a:solidFill>
              <a:latin typeface="ITC Avant Garde Gothic"/>
              <a:ea typeface="Calibri"/>
              <a:cs typeface="Calibri"/>
            </a:endParaRPr>
          </a:p>
          <a:p>
            <a:endParaRPr lang="en-GB">
              <a:solidFill>
                <a:srgbClr val="000000"/>
              </a:solidFill>
              <a:latin typeface="Calibri"/>
              <a:ea typeface="Calibri"/>
              <a:cs typeface="Calibri"/>
            </a:endParaRPr>
          </a:p>
        </p:txBody>
      </p:sp>
    </p:spTree>
    <p:extLst>
      <p:ext uri="{BB962C8B-B14F-4D97-AF65-F5344CB8AC3E}">
        <p14:creationId xmlns:p14="http://schemas.microsoft.com/office/powerpoint/2010/main" val="2671982415"/>
      </p:ext>
    </p:extLst>
  </p:cSld>
  <p:clrMapOvr>
    <a:masterClrMapping/>
  </p:clrMapOvr>
  <mc:AlternateContent xmlns:mc="http://schemas.openxmlformats.org/markup-compatibility/2006" xmlns:p14="http://schemas.microsoft.com/office/powerpoint/2010/main">
    <mc:Choice Requires="p14">
      <p:transition p14:dur="0" advTm="17476"/>
    </mc:Choice>
    <mc:Fallback xmlns="">
      <p:transition advTm="17476"/>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E7C8AB-0400-27DE-7581-7A37277834DA}"/>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DFB69714-8E07-AB02-C6F2-5857B2AE6238}"/>
              </a:ext>
            </a:extLst>
          </p:cNvPr>
          <p:cNvGrpSpPr/>
          <p:nvPr/>
        </p:nvGrpSpPr>
        <p:grpSpPr>
          <a:xfrm>
            <a:off x="666750" y="659606"/>
            <a:ext cx="6886575" cy="3016201"/>
            <a:chOff x="0" y="-9525"/>
            <a:chExt cx="9182100" cy="4021601"/>
          </a:xfrm>
        </p:grpSpPr>
        <p:sp>
          <p:nvSpPr>
            <p:cNvPr id="3" name="TextBox 3">
              <a:extLst>
                <a:ext uri="{FF2B5EF4-FFF2-40B4-BE49-F238E27FC236}">
                  <a16:creationId xmlns:a16="http://schemas.microsoft.com/office/drawing/2014/main" id="{340AF271-9D97-1F40-3DF6-E74F879DEAAC}"/>
                </a:ext>
              </a:extLst>
            </p:cNvPr>
            <p:cNvSpPr txBox="1"/>
            <p:nvPr/>
          </p:nvSpPr>
          <p:spPr>
            <a:xfrm>
              <a:off x="0" y="-9525"/>
              <a:ext cx="9182100" cy="2749470"/>
            </a:xfrm>
            <a:prstGeom prst="rect">
              <a:avLst/>
            </a:prstGeom>
          </p:spPr>
          <p:txBody>
            <a:bodyPr lIns="0" tIns="0" rIns="0" bIns="0" rtlCol="0" anchor="t">
              <a:spAutoFit/>
            </a:bodyPr>
            <a:lstStyle/>
            <a:p>
              <a:pPr>
                <a:lnSpc>
                  <a:spcPts val="8000"/>
                </a:lnSpc>
                <a:spcBef>
                  <a:spcPct val="0"/>
                </a:spcBef>
              </a:pPr>
              <a:r>
                <a:rPr lang="en-US" sz="8000" spc="-240">
                  <a:solidFill>
                    <a:srgbClr val="254117"/>
                  </a:solidFill>
                  <a:latin typeface="ITC Avant Garde Gothic"/>
                  <a:ea typeface="ITC Avant Garde Gothic"/>
                  <a:cs typeface="ITC Avant Garde Gothic"/>
                </a:rPr>
                <a:t>Case-Control</a:t>
              </a:r>
            </a:p>
            <a:p>
              <a:pPr>
                <a:lnSpc>
                  <a:spcPts val="8000"/>
                </a:lnSpc>
                <a:spcBef>
                  <a:spcPct val="0"/>
                </a:spcBef>
              </a:pPr>
              <a:r>
                <a:rPr lang="en-US" sz="8000" spc="-240">
                  <a:solidFill>
                    <a:srgbClr val="254117"/>
                  </a:solidFill>
                  <a:latin typeface="ITC Avant Garde Gothic"/>
                  <a:ea typeface="ITC Avant Garde Gothic"/>
                  <a:cs typeface="ITC Avant Garde Gothic"/>
                </a:rPr>
                <a:t>Results</a:t>
              </a:r>
            </a:p>
          </p:txBody>
        </p:sp>
        <p:sp>
          <p:nvSpPr>
            <p:cNvPr id="4" name="TextBox 4">
              <a:extLst>
                <a:ext uri="{FF2B5EF4-FFF2-40B4-BE49-F238E27FC236}">
                  <a16:creationId xmlns:a16="http://schemas.microsoft.com/office/drawing/2014/main" id="{399E8A84-3E64-2598-A96E-2D6C3EE7BD1E}"/>
                </a:ext>
              </a:extLst>
            </p:cNvPr>
            <p:cNvSpPr txBox="1"/>
            <p:nvPr/>
          </p:nvSpPr>
          <p:spPr>
            <a:xfrm>
              <a:off x="0" y="3362325"/>
              <a:ext cx="9182100" cy="649751"/>
            </a:xfrm>
            <a:prstGeom prst="rect">
              <a:avLst/>
            </a:prstGeom>
          </p:spPr>
          <p:txBody>
            <a:bodyPr lIns="0" tIns="0" rIns="0" bIns="0" rtlCol="0" anchor="t">
              <a:spAutoFit/>
            </a:bodyPr>
            <a:lstStyle/>
            <a:p>
              <a:pPr marL="0" lvl="0" indent="0" algn="l">
                <a:lnSpc>
                  <a:spcPts val="3839"/>
                </a:lnSpc>
                <a:spcBef>
                  <a:spcPct val="0"/>
                </a:spcBef>
              </a:pPr>
              <a:endParaRPr lang="en-US" sz="3199" u="none" strike="noStrike" spc="-95">
                <a:solidFill>
                  <a:srgbClr val="619365"/>
                </a:solidFill>
                <a:latin typeface="ITC Avant Garde Gothic"/>
                <a:ea typeface="ITC Avant Garde Gothic"/>
                <a:cs typeface="ITC Avant Garde Gothic"/>
                <a:sym typeface="ITC Avant Garde Gothic"/>
              </a:endParaRPr>
            </a:p>
          </p:txBody>
        </p:sp>
      </p:grpSp>
      <p:sp>
        <p:nvSpPr>
          <p:cNvPr id="7" name="TextBox 7">
            <a:extLst>
              <a:ext uri="{FF2B5EF4-FFF2-40B4-BE49-F238E27FC236}">
                <a16:creationId xmlns:a16="http://schemas.microsoft.com/office/drawing/2014/main" id="{FEEE5D87-144B-AC25-6400-BCD53E0E0775}"/>
              </a:ext>
            </a:extLst>
          </p:cNvPr>
          <p:cNvSpPr txBox="1"/>
          <p:nvPr/>
        </p:nvSpPr>
        <p:spPr>
          <a:xfrm>
            <a:off x="354744" y="3474856"/>
            <a:ext cx="5918040" cy="5505353"/>
          </a:xfrm>
          <a:prstGeom prst="rect">
            <a:avLst/>
          </a:prstGeom>
        </p:spPr>
        <p:txBody>
          <a:bodyPr wrap="square" lIns="0" tIns="0" rIns="0" bIns="0" rtlCol="0" anchor="t">
            <a:spAutoFit/>
          </a:bodyPr>
          <a:lstStyle/>
          <a:p>
            <a:pPr marL="457200" indent="-457200">
              <a:lnSpc>
                <a:spcPts val="3640"/>
              </a:lnSpc>
              <a:spcBef>
                <a:spcPct val="0"/>
              </a:spcBef>
              <a:buFont typeface="Arial" panose="020B0604020202020204" pitchFamily="34" charset="0"/>
              <a:buChar char="•"/>
            </a:pPr>
            <a:r>
              <a:rPr lang="en-US" sz="2800" spc="-78">
                <a:solidFill>
                  <a:srgbClr val="254117"/>
                </a:solidFill>
                <a:latin typeface="ITC Avant Garde Gothic"/>
                <a:ea typeface="ITC Avant Garde Gothic"/>
                <a:cs typeface="ITC Avant Garde Gothic"/>
              </a:rPr>
              <a:t>Odds ratio sensitivity was tested across varying case/control hour combinations</a:t>
            </a:r>
          </a:p>
          <a:p>
            <a:pPr marL="457200" indent="-457200">
              <a:lnSpc>
                <a:spcPts val="3640"/>
              </a:lnSpc>
              <a:spcBef>
                <a:spcPct val="0"/>
              </a:spcBef>
              <a:buFont typeface="Arial" panose="020B0604020202020204" pitchFamily="34" charset="0"/>
              <a:buChar char="•"/>
            </a:pPr>
            <a:endParaRPr lang="en-US" sz="2800" spc="-78">
              <a:solidFill>
                <a:srgbClr val="254117"/>
              </a:solidFill>
              <a:latin typeface="ITC Avant Garde Gothic"/>
              <a:ea typeface="ITC Avant Garde Gothic"/>
              <a:cs typeface="ITC Avant Garde Gothic"/>
            </a:endParaRPr>
          </a:p>
          <a:p>
            <a:pPr marL="457200" indent="-457200">
              <a:lnSpc>
                <a:spcPts val="3640"/>
              </a:lnSpc>
              <a:spcBef>
                <a:spcPct val="0"/>
              </a:spcBef>
              <a:buFont typeface="Arial" panose="020B0604020202020204" pitchFamily="34" charset="0"/>
              <a:buChar char="•"/>
            </a:pPr>
            <a:r>
              <a:rPr lang="en-US" sz="2800" spc="-78">
                <a:solidFill>
                  <a:srgbClr val="254117"/>
                </a:solidFill>
                <a:latin typeface="ITC Avant Garde Gothic"/>
                <a:ea typeface="ITC Avant Garde Gothic"/>
                <a:cs typeface="ITC Avant Garde Gothic"/>
              </a:rPr>
              <a:t>Largest reduction during morning hours (5am – 7am)</a:t>
            </a:r>
          </a:p>
          <a:p>
            <a:pPr marL="457200" indent="-457200">
              <a:lnSpc>
                <a:spcPts val="3640"/>
              </a:lnSpc>
              <a:spcBef>
                <a:spcPct val="0"/>
              </a:spcBef>
              <a:buFont typeface="Arial" panose="020B0604020202020204" pitchFamily="34" charset="0"/>
              <a:buChar char="•"/>
            </a:pPr>
            <a:endParaRPr lang="en-US" sz="2800" spc="-78">
              <a:solidFill>
                <a:srgbClr val="254117"/>
              </a:solidFill>
              <a:latin typeface="ITC Avant Garde Gothic"/>
              <a:ea typeface="ITC Avant Garde Gothic"/>
              <a:cs typeface="ITC Avant Garde Gothic"/>
            </a:endParaRPr>
          </a:p>
          <a:p>
            <a:pPr marL="457200" indent="-457200">
              <a:lnSpc>
                <a:spcPts val="3640"/>
              </a:lnSpc>
              <a:spcBef>
                <a:spcPct val="0"/>
              </a:spcBef>
              <a:buFont typeface="Arial" panose="020B0604020202020204" pitchFamily="34" charset="0"/>
              <a:buChar char="•"/>
            </a:pPr>
            <a:r>
              <a:rPr lang="en-US" sz="2800" spc="-78">
                <a:solidFill>
                  <a:srgbClr val="254117"/>
                </a:solidFill>
                <a:latin typeface="ITC Avant Garde Gothic"/>
                <a:ea typeface="ITC Avant Garde Gothic"/>
                <a:cs typeface="ITC Avant Garde Gothic"/>
              </a:rPr>
              <a:t>Darkness suppresses pedestrian counts more than other sensor types</a:t>
            </a:r>
          </a:p>
          <a:p>
            <a:pPr marL="457200" indent="-457200">
              <a:lnSpc>
                <a:spcPts val="3640"/>
              </a:lnSpc>
              <a:spcBef>
                <a:spcPct val="0"/>
              </a:spcBef>
              <a:buFont typeface="Arial" panose="020B0604020202020204" pitchFamily="34" charset="0"/>
              <a:buChar char="•"/>
            </a:pPr>
            <a:endParaRPr lang="en-US" sz="3200" spc="-78">
              <a:solidFill>
                <a:srgbClr val="254117"/>
              </a:solidFill>
              <a:latin typeface="ITC Avant Garde Gothic"/>
              <a:ea typeface="ITC Avant Garde Gothic"/>
              <a:cs typeface="ITC Avant Garde Gothic"/>
            </a:endParaRPr>
          </a:p>
          <a:p>
            <a:pPr marL="457200" indent="-457200">
              <a:lnSpc>
                <a:spcPts val="3640"/>
              </a:lnSpc>
              <a:spcBef>
                <a:spcPct val="0"/>
              </a:spcBef>
              <a:buFont typeface="Arial" panose="020B0604020202020204" pitchFamily="34" charset="0"/>
              <a:buChar char="•"/>
            </a:pPr>
            <a:endParaRPr lang="en-US" sz="2100" spc="-78">
              <a:solidFill>
                <a:srgbClr val="254117"/>
              </a:solidFill>
              <a:latin typeface="ITC Avant Garde Gothic"/>
              <a:ea typeface="ITC Avant Garde Gothic"/>
              <a:cs typeface="ITC Avant Garde Gothic"/>
            </a:endParaRPr>
          </a:p>
        </p:txBody>
      </p:sp>
      <p:pic>
        <p:nvPicPr>
          <p:cNvPr id="10" name="Picture 9">
            <a:extLst>
              <a:ext uri="{FF2B5EF4-FFF2-40B4-BE49-F238E27FC236}">
                <a16:creationId xmlns:a16="http://schemas.microsoft.com/office/drawing/2014/main" id="{6E36175D-1666-1055-97A5-142FF6E8C0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584790" y="3229556"/>
            <a:ext cx="11703210" cy="6457618"/>
          </a:xfrm>
          <a:prstGeom prst="rect">
            <a:avLst/>
          </a:prstGeom>
        </p:spPr>
      </p:pic>
    </p:spTree>
    <p:extLst>
      <p:ext uri="{BB962C8B-B14F-4D97-AF65-F5344CB8AC3E}">
        <p14:creationId xmlns:p14="http://schemas.microsoft.com/office/powerpoint/2010/main" val="3076711702"/>
      </p:ext>
    </p:extLst>
  </p:cSld>
  <p:clrMapOvr>
    <a:masterClrMapping/>
  </p:clrMapOvr>
  <mc:AlternateContent xmlns:mc="http://schemas.openxmlformats.org/markup-compatibility/2006" xmlns:p14="http://schemas.microsoft.com/office/powerpoint/2010/main">
    <mc:Choice Requires="p14">
      <p:transition p14:dur="0" advTm="39037"/>
    </mc:Choice>
    <mc:Fallback xmlns="">
      <p:transition advTm="39037"/>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
    <p:bg>
      <p:bgPr>
        <a:solidFill>
          <a:schemeClr val="bg1"/>
        </a:solidFill>
        <a:effectLst/>
      </p:bgPr>
    </p:bg>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9806F944-5570-DA83-65ED-D4B302A1DF50}"/>
              </a:ext>
            </a:extLst>
          </p:cNvPr>
          <p:cNvPicPr>
            <a:picLocks noChangeAspect="1"/>
          </p:cNvPicPr>
          <p:nvPr/>
        </p:nvPicPr>
        <p:blipFill>
          <a:blip r:embed="rId3">
            <a:extLst>
              <a:ext uri="{28A0092B-C50C-407E-A947-70E740481C1C}">
                <a14:useLocalDpi xmlns:a14="http://schemas.microsoft.com/office/drawing/2010/main" val="0"/>
              </a:ext>
            </a:extLst>
          </a:blip>
          <a:srcRect l="6014" t="10190" r="6014"/>
          <a:stretch>
            <a:fillRect/>
          </a:stretch>
        </p:blipFill>
        <p:spPr>
          <a:xfrm>
            <a:off x="80854" y="2596896"/>
            <a:ext cx="11462432" cy="5123038"/>
          </a:xfrm>
          <a:prstGeom prst="rect">
            <a:avLst/>
          </a:prstGeom>
        </p:spPr>
      </p:pic>
      <p:sp>
        <p:nvSpPr>
          <p:cNvPr id="3" name="Text 1"/>
          <p:cNvSpPr/>
          <p:nvPr/>
        </p:nvSpPr>
        <p:spPr>
          <a:xfrm>
            <a:off x="731520" y="457200"/>
            <a:ext cx="11338560" cy="1371600"/>
          </a:xfrm>
          <a:prstGeom prst="rect">
            <a:avLst/>
          </a:prstGeom>
          <a:noFill/>
          <a:ln/>
        </p:spPr>
        <p:txBody>
          <a:bodyPr wrap="square" lIns="0" tIns="0" rIns="0" bIns="0" rtlCol="0" anchor="ctr"/>
          <a:lstStyle>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a:lstStyle>
          <a:p>
            <a:pPr lvl="0" defTabSz="914400">
              <a:lnSpc>
                <a:spcPts val="8000"/>
              </a:lnSpc>
              <a:spcBef>
                <a:spcPct val="0"/>
              </a:spcBef>
              <a:defRPr/>
            </a:pPr>
            <a:r>
              <a:rPr lang="en-US" sz="8000" spc="-240">
                <a:solidFill>
                  <a:srgbClr val="254117"/>
                </a:solidFill>
                <a:latin typeface="ITC Avant Garde Gothic"/>
                <a:ea typeface="ITC Avant Garde Gothic"/>
                <a:cs typeface="ITC Avant Garde Gothic"/>
              </a:rPr>
              <a:t>GLM Results</a:t>
            </a:r>
          </a:p>
        </p:txBody>
      </p:sp>
      <p:sp>
        <p:nvSpPr>
          <p:cNvPr id="9" name="Text 7"/>
          <p:cNvSpPr/>
          <p:nvPr/>
        </p:nvSpPr>
        <p:spPr>
          <a:xfrm>
            <a:off x="4480560" y="2596896"/>
            <a:ext cx="3474720" cy="1188720"/>
          </a:xfrm>
          <a:prstGeom prst="rect">
            <a:avLst/>
          </a:prstGeom>
          <a:noFill/>
          <a:ln/>
        </p:spPr>
        <p:txBody>
          <a:bodyPr wrap="square" lIns="0" tIns="0" rIns="0" bIns="0" rtlCol="0" anchor="ctr"/>
          <a:lstStyle>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a:lstStyle>
          <a:p>
            <a:pPr marL="0" indent="0" algn="ctr">
              <a:buNone/>
            </a:pPr>
            <a:endParaRPr lang="en-US" sz="6400"/>
          </a:p>
        </p:txBody>
      </p:sp>
      <p:sp>
        <p:nvSpPr>
          <p:cNvPr id="16" name="Text 13"/>
          <p:cNvSpPr/>
          <p:nvPr/>
        </p:nvSpPr>
        <p:spPr>
          <a:xfrm>
            <a:off x="12290212" y="1970619"/>
            <a:ext cx="5303520" cy="640080"/>
          </a:xfrm>
          <a:prstGeom prst="rect">
            <a:avLst/>
          </a:prstGeom>
          <a:noFill/>
          <a:ln/>
        </p:spPr>
        <p:txBody>
          <a:bodyPr wrap="square" lIns="0" tIns="0" rIns="0" bIns="0" rtlCol="0" anchor="ctr"/>
          <a:lstStyle>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a:lstStyle>
          <a:p>
            <a:pPr marL="0" indent="0">
              <a:buNone/>
            </a:pPr>
            <a:r>
              <a:rPr lang="en-US" sz="3200" b="1">
                <a:solidFill>
                  <a:srgbClr val="244016"/>
                </a:solidFill>
                <a:latin typeface="ITC Avant Garde Gothic"/>
                <a:ea typeface="Calibri" pitchFamily="34" charset="-122"/>
                <a:cs typeface="Calibri" pitchFamily="34" charset="-120"/>
              </a:rPr>
              <a:t>Key Findings</a:t>
            </a:r>
            <a:endParaRPr lang="en-US" sz="3200">
              <a:solidFill>
                <a:srgbClr val="244016"/>
              </a:solidFill>
              <a:latin typeface="ITC Avant Garde Gothic"/>
            </a:endParaRPr>
          </a:p>
        </p:txBody>
      </p:sp>
      <p:sp>
        <p:nvSpPr>
          <p:cNvPr id="18" name="Text 14"/>
          <p:cNvSpPr/>
          <p:nvPr/>
        </p:nvSpPr>
        <p:spPr>
          <a:xfrm>
            <a:off x="12070080" y="3063804"/>
            <a:ext cx="6091346" cy="4390907"/>
          </a:xfrm>
          <a:prstGeom prst="rect">
            <a:avLst/>
          </a:prstGeom>
          <a:noFill/>
          <a:ln/>
        </p:spPr>
        <p:txBody>
          <a:bodyPr wrap="square" lIns="0" tIns="0" rIns="0" bIns="0" rtlCol="0" anchor="t"/>
          <a:lstStyle>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a:lstStyle>
          <a:p>
            <a:pPr marL="342900" indent="-342900">
              <a:buFont typeface="Arial" panose="020B0604020202020204" pitchFamily="34" charset="0"/>
              <a:buChar char="•"/>
            </a:pPr>
            <a:r>
              <a:rPr lang="en-US" sz="2800">
                <a:solidFill>
                  <a:srgbClr val="244016"/>
                </a:solidFill>
                <a:latin typeface="ITC Avant Garde Gothic"/>
                <a:ea typeface="Calibri" pitchFamily="34" charset="-122"/>
                <a:cs typeface="Calibri" pitchFamily="34" charset="-120"/>
              </a:rPr>
              <a:t>97% of sensors show lower</a:t>
            </a:r>
            <a:r>
              <a:rPr lang="en-US" sz="2800">
                <a:solidFill>
                  <a:srgbClr val="244016"/>
                </a:solidFill>
                <a:latin typeface="ITC Avant Garde Gothic"/>
              </a:rPr>
              <a:t> </a:t>
            </a:r>
            <a:r>
              <a:rPr lang="en-US" sz="2800">
                <a:solidFill>
                  <a:srgbClr val="244016"/>
                </a:solidFill>
                <a:latin typeface="ITC Avant Garde Gothic"/>
                <a:ea typeface="Calibri" pitchFamily="34" charset="-122"/>
                <a:cs typeface="Calibri" pitchFamily="34" charset="-120"/>
              </a:rPr>
              <a:t>pedestrian counts in darkness</a:t>
            </a:r>
          </a:p>
          <a:p>
            <a:endParaRPr lang="en-US" sz="2800">
              <a:solidFill>
                <a:srgbClr val="244016"/>
              </a:solidFill>
              <a:latin typeface="ITC Avant Garde Gothic"/>
              <a:ea typeface="Calibri" pitchFamily="34" charset="-122"/>
              <a:cs typeface="Calibri" pitchFamily="34" charset="-120"/>
            </a:endParaRPr>
          </a:p>
          <a:p>
            <a:pPr marL="342900" indent="-342900">
              <a:buFont typeface="Arial" panose="020B0604020202020204" pitchFamily="34" charset="0"/>
              <a:buChar char="•"/>
            </a:pPr>
            <a:r>
              <a:rPr lang="en-US" sz="2800">
                <a:solidFill>
                  <a:srgbClr val="244016"/>
                </a:solidFill>
                <a:latin typeface="ITC Avant Garde Gothic"/>
                <a:ea typeface="Calibri" pitchFamily="34" charset="-122"/>
                <a:cs typeface="Calibri" pitchFamily="34" charset="-120"/>
              </a:rPr>
              <a:t>GLM result stable across all</a:t>
            </a:r>
            <a:r>
              <a:rPr lang="en-US" sz="2800">
                <a:solidFill>
                  <a:srgbClr val="244016"/>
                </a:solidFill>
                <a:latin typeface="ITC Avant Garde Gothic"/>
              </a:rPr>
              <a:t> </a:t>
            </a:r>
            <a:r>
              <a:rPr lang="en-US" sz="2800">
                <a:solidFill>
                  <a:srgbClr val="244016"/>
                </a:solidFill>
                <a:latin typeface="ITC Avant Garde Gothic"/>
                <a:ea typeface="Calibri" pitchFamily="34" charset="-122"/>
                <a:cs typeface="Calibri" pitchFamily="34" charset="-120"/>
              </a:rPr>
              <a:t>model specifications</a:t>
            </a:r>
          </a:p>
          <a:p>
            <a:pPr marL="342900" indent="-342900">
              <a:buFont typeface="Arial" panose="020B0604020202020204" pitchFamily="34" charset="0"/>
              <a:buChar char="•"/>
            </a:pPr>
            <a:endParaRPr lang="en-US" sz="2800">
              <a:solidFill>
                <a:srgbClr val="244016"/>
              </a:solidFill>
              <a:latin typeface="ITC Avant Garde Gothic"/>
              <a:ea typeface="Calibri" pitchFamily="34" charset="-122"/>
              <a:cs typeface="Calibri" pitchFamily="34" charset="-120"/>
            </a:endParaRPr>
          </a:p>
          <a:p>
            <a:pPr marL="342900" indent="-342900">
              <a:buFont typeface="Arial" panose="020B0604020202020204" pitchFamily="34" charset="0"/>
              <a:buChar char="•"/>
            </a:pPr>
            <a:r>
              <a:rPr lang="en-US" sz="2800">
                <a:solidFill>
                  <a:srgbClr val="244016"/>
                </a:solidFill>
                <a:latin typeface="ITC Avant Garde Gothic"/>
                <a:ea typeface="Calibri" pitchFamily="34" charset="-122"/>
                <a:cs typeface="Calibri" pitchFamily="34" charset="-120"/>
              </a:rPr>
              <a:t>P-value for cyclist: 0.313</a:t>
            </a:r>
          </a:p>
          <a:p>
            <a:pPr marL="342900" indent="-342900">
              <a:buFont typeface="Arial" panose="020B0604020202020204" pitchFamily="34" charset="0"/>
              <a:buChar char="•"/>
            </a:pPr>
            <a:endParaRPr lang="en-US" sz="2800">
              <a:solidFill>
                <a:srgbClr val="244016"/>
              </a:solidFill>
              <a:latin typeface="ITC Avant Garde Gothic"/>
              <a:ea typeface="Calibri" pitchFamily="34" charset="-122"/>
              <a:cs typeface="Calibri" pitchFamily="34" charset="-120"/>
            </a:endParaRPr>
          </a:p>
          <a:p>
            <a:pPr marL="342900" indent="-342900">
              <a:buFont typeface="Arial" panose="020B0604020202020204" pitchFamily="34" charset="0"/>
              <a:buChar char="•"/>
            </a:pPr>
            <a:r>
              <a:rPr lang="en-US" sz="2800">
                <a:solidFill>
                  <a:srgbClr val="244016"/>
                </a:solidFill>
                <a:latin typeface="ITC Avant Garde Gothic"/>
                <a:ea typeface="Calibri" pitchFamily="34" charset="-122"/>
                <a:cs typeface="Calibri" pitchFamily="34" charset="-120"/>
              </a:rPr>
              <a:t>P-value for pedestrians: 1.48e-10</a:t>
            </a:r>
          </a:p>
          <a:p>
            <a:endParaRPr lang="en-US" sz="2000">
              <a:solidFill>
                <a:srgbClr val="244016"/>
              </a:solidFill>
            </a:endParaRPr>
          </a:p>
          <a:p>
            <a:endParaRPr lang="en-US" sz="2000">
              <a:solidFill>
                <a:srgbClr val="244016"/>
              </a:solidFill>
            </a:endParaRPr>
          </a:p>
          <a:p>
            <a:pPr marL="0" indent="0">
              <a:buNone/>
            </a:pPr>
            <a:endParaRPr lang="en-US" sz="2000">
              <a:solidFill>
                <a:srgbClr val="244016"/>
              </a:solidFill>
            </a:endParaRPr>
          </a:p>
        </p:txBody>
      </p:sp>
      <p:pic>
        <p:nvPicPr>
          <p:cNvPr id="2" name="Picture 1">
            <a:extLst>
              <a:ext uri="{FF2B5EF4-FFF2-40B4-BE49-F238E27FC236}">
                <a16:creationId xmlns:a16="http://schemas.microsoft.com/office/drawing/2014/main" id="{5CD3403C-67EB-8926-4A79-6916489320A0}"/>
              </a:ext>
            </a:extLst>
          </p:cNvPr>
          <p:cNvPicPr>
            <a:picLocks noChangeAspect="1"/>
          </p:cNvPicPr>
          <p:nvPr/>
        </p:nvPicPr>
        <p:blipFill>
          <a:blip r:embed="rId3">
            <a:extLst>
              <a:ext uri="{28A0092B-C50C-407E-A947-70E740481C1C}">
                <a14:useLocalDpi xmlns:a14="http://schemas.microsoft.com/office/drawing/2010/main" val="0"/>
              </a:ext>
            </a:extLst>
          </a:blip>
          <a:srcRect l="30683" t="3585" r="23606" b="89266"/>
          <a:stretch>
            <a:fillRect/>
          </a:stretch>
        </p:blipFill>
        <p:spPr>
          <a:xfrm>
            <a:off x="1238351" y="1970619"/>
            <a:ext cx="9147438" cy="626277"/>
          </a:xfrm>
          <a:prstGeom prst="rect">
            <a:avLst/>
          </a:prstGeom>
        </p:spPr>
      </p:pic>
    </p:spTree>
    <p:extLst>
      <p:ext uri="{BB962C8B-B14F-4D97-AF65-F5344CB8AC3E}">
        <p14:creationId xmlns:p14="http://schemas.microsoft.com/office/powerpoint/2010/main" val="3789262297"/>
      </p:ext>
    </p:extLst>
  </p:cSld>
  <p:clrMapOvr>
    <a:masterClrMapping/>
  </p:clrMapOvr>
  <mc:AlternateContent xmlns:mc="http://schemas.openxmlformats.org/markup-compatibility/2006" xmlns:p14="http://schemas.microsoft.com/office/powerpoint/2010/main">
    <mc:Choice Requires="p14">
      <p:transition p14:dur="0" advTm="45600"/>
    </mc:Choice>
    <mc:Fallback xmlns="">
      <p:transition advTm="456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9A87794-6B5C-B346-B363-C764CEE1DA0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210141" y="1740638"/>
            <a:ext cx="10513276" cy="6328963"/>
          </a:xfrm>
          <a:prstGeom prst="rect">
            <a:avLst/>
          </a:prstGeom>
        </p:spPr>
      </p:pic>
      <p:sp>
        <p:nvSpPr>
          <p:cNvPr id="3" name="Text 1"/>
          <p:cNvSpPr/>
          <p:nvPr/>
        </p:nvSpPr>
        <p:spPr>
          <a:xfrm>
            <a:off x="731520" y="663640"/>
            <a:ext cx="16824960" cy="1188720"/>
          </a:xfrm>
          <a:prstGeom prst="rect">
            <a:avLst/>
          </a:prstGeom>
          <a:noFill/>
          <a:ln/>
        </p:spPr>
        <p:txBody>
          <a:bodyPr wrap="square" lIns="0" tIns="0" rIns="0" bIns="0" rtlCol="0" anchor="ctr"/>
          <a:lstStyle>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a:lstStyle>
          <a:p>
            <a:pPr lvl="0" defTabSz="914400">
              <a:lnSpc>
                <a:spcPts val="8000"/>
              </a:lnSpc>
              <a:spcBef>
                <a:spcPct val="0"/>
              </a:spcBef>
              <a:defRPr/>
            </a:pPr>
            <a:r>
              <a:rPr lang="en-US" sz="6000" spc="-240">
                <a:solidFill>
                  <a:srgbClr val="254117"/>
                </a:solidFill>
                <a:latin typeface="ITC Avant Garde Gothic"/>
                <a:ea typeface="ITC Avant Garde Gothic"/>
                <a:cs typeface="ITC Avant Garde Gothic"/>
              </a:rPr>
              <a:t>Early morning hours need priority action</a:t>
            </a:r>
          </a:p>
          <a:p>
            <a:endParaRPr lang="en-US" sz="6000"/>
          </a:p>
        </p:txBody>
      </p:sp>
      <p:sp>
        <p:nvSpPr>
          <p:cNvPr id="7" name="Text 4"/>
          <p:cNvSpPr/>
          <p:nvPr/>
        </p:nvSpPr>
        <p:spPr>
          <a:xfrm>
            <a:off x="11064240" y="2231136"/>
            <a:ext cx="6583680" cy="640080"/>
          </a:xfrm>
          <a:prstGeom prst="rect">
            <a:avLst/>
          </a:prstGeom>
          <a:noFill/>
          <a:ln/>
        </p:spPr>
        <p:txBody>
          <a:bodyPr wrap="square" lIns="0" tIns="0" rIns="0" bIns="0" rtlCol="0" anchor="ctr"/>
          <a:lstStyle>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a:lstStyle>
          <a:p>
            <a:r>
              <a:rPr lang="en-US" sz="2400" b="1">
                <a:latin typeface="ITC Avant Garde Gothic"/>
                <a:ea typeface="Calibri"/>
                <a:cs typeface="Calibri"/>
              </a:rPr>
              <a:t>What the time discrepancies show</a:t>
            </a:r>
            <a:endParaRPr lang="en-US" sz="2400" b="1">
              <a:latin typeface="ITC Avant Garde Gothic"/>
            </a:endParaRPr>
          </a:p>
        </p:txBody>
      </p:sp>
      <p:sp>
        <p:nvSpPr>
          <p:cNvPr id="9" name="Text 5"/>
          <p:cNvSpPr/>
          <p:nvPr/>
        </p:nvSpPr>
        <p:spPr>
          <a:xfrm>
            <a:off x="10480432" y="3481227"/>
            <a:ext cx="7597427" cy="2288782"/>
          </a:xfrm>
          <a:prstGeom prst="rect">
            <a:avLst/>
          </a:prstGeom>
          <a:noFill/>
          <a:ln/>
        </p:spPr>
        <p:txBody>
          <a:bodyPr wrap="square" lIns="0" tIns="0" rIns="0" bIns="0" rtlCol="0" anchor="t"/>
          <a:lstStyle>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a:lstStyle>
          <a:p>
            <a:pPr marL="342900" indent="-342900">
              <a:buFont typeface="Arial" panose="020B0604020202020204" pitchFamily="34" charset="0"/>
              <a:buChar char="•"/>
            </a:pPr>
            <a:r>
              <a:rPr lang="en-US" sz="2800">
                <a:latin typeface="ITC Avant Garde Gothic"/>
                <a:ea typeface="Calibri"/>
                <a:cs typeface="Calibri"/>
              </a:rPr>
              <a:t>Morning penalty (−59%) is more than double the evening penalty (−19%)</a:t>
            </a:r>
          </a:p>
          <a:p>
            <a:pPr marL="342900" indent="-342900">
              <a:buFont typeface="Arial" panose="020B0604020202020204" pitchFamily="34" charset="0"/>
              <a:buChar char="•"/>
            </a:pPr>
            <a:endParaRPr lang="en-US" sz="2800">
              <a:latin typeface="ITC Avant Garde Gothic"/>
              <a:ea typeface="Calibri" pitchFamily="34" charset="-122"/>
              <a:cs typeface="Calibri" pitchFamily="34" charset="-120"/>
            </a:endParaRPr>
          </a:p>
          <a:p>
            <a:pPr marL="342900" indent="-342900">
              <a:buFont typeface="Arial" panose="020B0604020202020204" pitchFamily="34" charset="0"/>
              <a:buChar char="•"/>
            </a:pPr>
            <a:r>
              <a:rPr lang="en-US" sz="2800">
                <a:latin typeface="ITC Avant Garde Gothic"/>
                <a:ea typeface="Calibri" pitchFamily="34" charset="-122"/>
                <a:cs typeface="Calibri" pitchFamily="34" charset="-120"/>
              </a:rPr>
              <a:t>Other factors could be the root cause of these differences</a:t>
            </a:r>
          </a:p>
          <a:p>
            <a:endParaRPr lang="en-US" sz="2000">
              <a:latin typeface="ITC Avant Garde Gothic"/>
              <a:ea typeface="Calibri"/>
              <a:cs typeface="Calibri"/>
            </a:endParaRPr>
          </a:p>
          <a:p>
            <a:endParaRPr lang="en-US" sz="2000"/>
          </a:p>
          <a:p>
            <a:pPr marL="0" indent="0">
              <a:buNone/>
            </a:pPr>
            <a:endParaRPr lang="en-US" sz="2000"/>
          </a:p>
        </p:txBody>
      </p:sp>
    </p:spTree>
    <p:extLst>
      <p:ext uri="{BB962C8B-B14F-4D97-AF65-F5344CB8AC3E}">
        <p14:creationId xmlns:p14="http://schemas.microsoft.com/office/powerpoint/2010/main" val="2878813169"/>
      </p:ext>
    </p:extLst>
  </p:cSld>
  <p:clrMapOvr>
    <a:masterClrMapping/>
  </p:clrMapOvr>
  <mc:AlternateContent xmlns:mc="http://schemas.openxmlformats.org/markup-compatibility/2006" xmlns:p14="http://schemas.microsoft.com/office/powerpoint/2010/main">
    <mc:Choice Requires="p14">
      <p:transition p14:dur="0" advTm="26087"/>
    </mc:Choice>
    <mc:Fallback xmlns="">
      <p:transition advTm="26087"/>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01A7901-9120-947E-B720-7EA6DAC7EA60}"/>
              </a:ext>
            </a:extLst>
          </p:cNvPr>
          <p:cNvPicPr>
            <a:picLocks noChangeAspect="1"/>
          </p:cNvPicPr>
          <p:nvPr/>
        </p:nvPicPr>
        <p:blipFill>
          <a:blip r:embed="rId3">
            <a:extLst>
              <a:ext uri="{28A0092B-C50C-407E-A947-70E740481C1C}">
                <a14:useLocalDpi xmlns:a14="http://schemas.microsoft.com/office/drawing/2010/main" val="0"/>
              </a:ext>
            </a:extLst>
          </a:blip>
          <a:srcRect t="6841"/>
          <a:stretch>
            <a:fillRect/>
          </a:stretch>
        </p:blipFill>
        <p:spPr>
          <a:xfrm>
            <a:off x="345269" y="2506132"/>
            <a:ext cx="8595358" cy="4882219"/>
          </a:xfrm>
          <a:prstGeom prst="rect">
            <a:avLst/>
          </a:prstGeom>
        </p:spPr>
      </p:pic>
      <p:sp>
        <p:nvSpPr>
          <p:cNvPr id="3" name="Text 1"/>
          <p:cNvSpPr/>
          <p:nvPr/>
        </p:nvSpPr>
        <p:spPr>
          <a:xfrm>
            <a:off x="640080" y="402336"/>
            <a:ext cx="16824960" cy="1188720"/>
          </a:xfrm>
          <a:prstGeom prst="rect">
            <a:avLst/>
          </a:prstGeom>
          <a:noFill/>
          <a:ln/>
        </p:spPr>
        <p:txBody>
          <a:bodyPr wrap="square" lIns="0" tIns="0" rIns="0" bIns="0" rtlCol="0" anchor="ctr"/>
          <a:lstStyle>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a:lstStyle>
          <a:p>
            <a:r>
              <a:rPr lang="en-US" sz="4800">
                <a:latin typeface="ITC Avant Garde Gothic"/>
                <a:ea typeface="Calibri"/>
                <a:cs typeface="Calibri"/>
              </a:rPr>
              <a:t>Other factors to consider</a:t>
            </a:r>
          </a:p>
        </p:txBody>
      </p:sp>
      <p:sp>
        <p:nvSpPr>
          <p:cNvPr id="6" name="Text 3"/>
          <p:cNvSpPr/>
          <p:nvPr/>
        </p:nvSpPr>
        <p:spPr>
          <a:xfrm>
            <a:off x="9235440" y="2643158"/>
            <a:ext cx="8595360" cy="548640"/>
          </a:xfrm>
          <a:prstGeom prst="rect">
            <a:avLst/>
          </a:prstGeom>
          <a:noFill/>
          <a:ln/>
        </p:spPr>
        <p:txBody>
          <a:bodyPr wrap="square" lIns="0" tIns="0" rIns="0" bIns="0" rtlCol="0" anchor="ctr"/>
          <a:lstStyle>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a:lstStyle>
          <a:p>
            <a:r>
              <a:rPr lang="en-US" sz="2400" b="1">
                <a:latin typeface="ITC Avant Garde Gothic"/>
                <a:ea typeface="Calibri"/>
                <a:cs typeface="Calibri"/>
              </a:rPr>
              <a:t>Moderation Results</a:t>
            </a:r>
            <a:endParaRPr lang="en-US">
              <a:latin typeface="ITC Avant Garde Gothic"/>
            </a:endParaRPr>
          </a:p>
        </p:txBody>
      </p:sp>
      <p:graphicFrame>
        <p:nvGraphicFramePr>
          <p:cNvPr id="7" name="Table 0"/>
          <p:cNvGraphicFramePr>
            <a:graphicFrameLocks noGrp="1"/>
          </p:cNvGraphicFramePr>
          <p:nvPr>
            <p:extLst>
              <p:ext uri="{D42A27DB-BD31-4B8C-83A1-F6EECF244321}">
                <p14:modId xmlns:p14="http://schemas.microsoft.com/office/powerpoint/2010/main" val="3229993701"/>
              </p:ext>
            </p:extLst>
          </p:nvPr>
        </p:nvGraphicFramePr>
        <p:xfrm>
          <a:off x="9172135" y="3249489"/>
          <a:ext cx="8658665" cy="2450712"/>
        </p:xfrm>
        <a:graphic>
          <a:graphicData uri="http://schemas.openxmlformats.org/drawingml/2006/table">
            <a:tbl>
              <a:tblPr/>
              <a:tblGrid>
                <a:gridCol w="3355146">
                  <a:extLst>
                    <a:ext uri="{9D8B030D-6E8A-4147-A177-3AD203B41FA5}">
                      <a16:colId xmlns:a16="http://schemas.microsoft.com/office/drawing/2014/main" val="20000"/>
                    </a:ext>
                  </a:extLst>
                </a:gridCol>
                <a:gridCol w="2388053">
                  <a:extLst>
                    <a:ext uri="{9D8B030D-6E8A-4147-A177-3AD203B41FA5}">
                      <a16:colId xmlns:a16="http://schemas.microsoft.com/office/drawing/2014/main" val="20001"/>
                    </a:ext>
                  </a:extLst>
                </a:gridCol>
                <a:gridCol w="2915466">
                  <a:extLst>
                    <a:ext uri="{9D8B030D-6E8A-4147-A177-3AD203B41FA5}">
                      <a16:colId xmlns:a16="http://schemas.microsoft.com/office/drawing/2014/main" val="20002"/>
                    </a:ext>
                  </a:extLst>
                </a:gridCol>
              </a:tblGrid>
              <a:tr h="816904">
                <a:tc>
                  <a:txBody>
                    <a:bodyPr/>
                    <a:lstStyle/>
                    <a:p>
                      <a:pPr marL="0" indent="0">
                        <a:buNone/>
                      </a:pPr>
                      <a:r>
                        <a:rPr lang="en-US">
                          <a:latin typeface="ITC Avant Garde Gothic"/>
                          <a:ea typeface="Calibri" pitchFamily="34" charset="-122"/>
                          <a:cs typeface="Calibri" pitchFamily="34" charset="-120"/>
                        </a:rPr>
                        <a:t>Moderator</a:t>
                      </a:r>
                      <a:endParaRPr lang="en-US">
                        <a:latin typeface="ITC Avant Garde Gothic"/>
                        <a:ea typeface="Calibri" charset="0"/>
                        <a:cs typeface="Calibri" charset="0"/>
                      </a:endParaRPr>
                    </a:p>
                  </a:txBody>
                  <a:tcPr marL="182880" marR="182880" marT="91440" marB="91440">
                    <a:lnL w="6350" cap="flat" cmpd="sng" algn="ctr">
                      <a:solidFill>
                        <a:srgbClr val="2A3A4A"/>
                      </a:solidFill>
                      <a:prstDash val="solid"/>
                      <a:round/>
                      <a:headEnd type="none" w="med" len="med"/>
                      <a:tailEnd type="none" w="med" len="med"/>
                    </a:lnL>
                    <a:lnR w="6350" cap="flat" cmpd="sng" algn="ctr">
                      <a:solidFill>
                        <a:srgbClr val="2A3A4A"/>
                      </a:solidFill>
                      <a:prstDash val="solid"/>
                      <a:round/>
                      <a:headEnd type="none" w="med" len="med"/>
                      <a:tailEnd type="none" w="med" len="med"/>
                    </a:lnR>
                    <a:lnT w="6350" cap="flat" cmpd="sng" algn="ctr">
                      <a:solidFill>
                        <a:srgbClr val="2A3A4A"/>
                      </a:solidFill>
                      <a:prstDash val="solid"/>
                      <a:round/>
                      <a:headEnd type="none" w="med" len="med"/>
                      <a:tailEnd type="none" w="med" len="med"/>
                    </a:lnT>
                    <a:lnB w="6350" cap="flat" cmpd="sng" algn="ctr">
                      <a:solidFill>
                        <a:srgbClr val="2A3A4A"/>
                      </a:solidFill>
                      <a:prstDash val="solid"/>
                      <a:round/>
                      <a:headEnd type="none" w="med" len="med"/>
                      <a:tailEnd type="none" w="med" len="med"/>
                    </a:lnB>
                    <a:solidFill>
                      <a:schemeClr val="bg1"/>
                    </a:solidFill>
                  </a:tcPr>
                </a:tc>
                <a:tc>
                  <a:txBody>
                    <a:bodyPr/>
                    <a:lstStyle/>
                    <a:p>
                      <a:pPr marL="0" indent="0" algn="ctr">
                        <a:buNone/>
                      </a:pPr>
                      <a:r>
                        <a:rPr lang="en-US">
                          <a:latin typeface="ITC Avant Garde Gothic"/>
                          <a:ea typeface="Calibri" pitchFamily="34" charset="-122"/>
                          <a:cs typeface="Calibri" pitchFamily="34" charset="-120"/>
                        </a:rPr>
                        <a:t>Pedestrians</a:t>
                      </a:r>
                      <a:endParaRPr lang="en-US">
                        <a:latin typeface="ITC Avant Garde Gothic"/>
                        <a:ea typeface="Calibri" charset="0"/>
                        <a:cs typeface="Calibri" charset="0"/>
                      </a:endParaRPr>
                    </a:p>
                  </a:txBody>
                  <a:tcPr marL="182880" marR="182880" marT="91440" marB="91440">
                    <a:lnL w="6350" cap="flat" cmpd="sng" algn="ctr">
                      <a:solidFill>
                        <a:srgbClr val="2A3A4A"/>
                      </a:solidFill>
                      <a:prstDash val="solid"/>
                      <a:round/>
                      <a:headEnd type="none" w="med" len="med"/>
                      <a:tailEnd type="none" w="med" len="med"/>
                    </a:lnL>
                    <a:lnR w="6350" cap="flat" cmpd="sng" algn="ctr">
                      <a:solidFill>
                        <a:srgbClr val="2A3A4A"/>
                      </a:solidFill>
                      <a:prstDash val="solid"/>
                      <a:round/>
                      <a:headEnd type="none" w="med" len="med"/>
                      <a:tailEnd type="none" w="med" len="med"/>
                    </a:lnR>
                    <a:lnT w="6350" cap="flat" cmpd="sng" algn="ctr">
                      <a:solidFill>
                        <a:srgbClr val="2A3A4A"/>
                      </a:solidFill>
                      <a:prstDash val="solid"/>
                      <a:round/>
                      <a:headEnd type="none" w="med" len="med"/>
                      <a:tailEnd type="none" w="med" len="med"/>
                    </a:lnT>
                    <a:lnB w="6350" cap="flat" cmpd="sng" algn="ctr">
                      <a:solidFill>
                        <a:srgbClr val="2A3A4A"/>
                      </a:solidFill>
                      <a:prstDash val="solid"/>
                      <a:round/>
                      <a:headEnd type="none" w="med" len="med"/>
                      <a:tailEnd type="none" w="med" len="med"/>
                    </a:lnB>
                    <a:solidFill>
                      <a:schemeClr val="bg1"/>
                    </a:solidFill>
                  </a:tcPr>
                </a:tc>
                <a:tc>
                  <a:txBody>
                    <a:bodyPr/>
                    <a:lstStyle/>
                    <a:p>
                      <a:pPr marL="0" indent="0" algn="ctr">
                        <a:buNone/>
                      </a:pPr>
                      <a:r>
                        <a:rPr lang="en-US">
                          <a:latin typeface="ITC Avant Garde Gothic"/>
                          <a:ea typeface="Calibri" pitchFamily="34" charset="-122"/>
                          <a:cs typeface="Calibri" pitchFamily="34" charset="-120"/>
                        </a:rPr>
                        <a:t>Cyclists</a:t>
                      </a:r>
                      <a:endParaRPr lang="en-US">
                        <a:latin typeface="ITC Avant Garde Gothic"/>
                        <a:ea typeface="Calibri" charset="0"/>
                        <a:cs typeface="Calibri" charset="0"/>
                      </a:endParaRPr>
                    </a:p>
                  </a:txBody>
                  <a:tcPr marL="182880" marR="182880" marT="91440" marB="91440">
                    <a:lnL w="6350" cap="flat" cmpd="sng" algn="ctr">
                      <a:solidFill>
                        <a:srgbClr val="2A3A4A"/>
                      </a:solidFill>
                      <a:prstDash val="solid"/>
                      <a:round/>
                      <a:headEnd type="none" w="med" len="med"/>
                      <a:tailEnd type="none" w="med" len="med"/>
                    </a:lnL>
                    <a:lnR w="6350" cap="flat" cmpd="sng" algn="ctr">
                      <a:solidFill>
                        <a:srgbClr val="2A3A4A"/>
                      </a:solidFill>
                      <a:prstDash val="solid"/>
                      <a:round/>
                      <a:headEnd type="none" w="med" len="med"/>
                      <a:tailEnd type="none" w="med" len="med"/>
                    </a:lnR>
                    <a:lnT w="6350" cap="flat" cmpd="sng" algn="ctr">
                      <a:solidFill>
                        <a:srgbClr val="2A3A4A"/>
                      </a:solidFill>
                      <a:prstDash val="solid"/>
                      <a:round/>
                      <a:headEnd type="none" w="med" len="med"/>
                      <a:tailEnd type="none" w="med" len="med"/>
                    </a:lnT>
                    <a:lnB w="6350" cap="flat" cmpd="sng" algn="ctr">
                      <a:solidFill>
                        <a:srgbClr val="2A3A4A"/>
                      </a:solidFill>
                      <a:prstDash val="solid"/>
                      <a:round/>
                      <a:headEnd type="none" w="med" len="med"/>
                      <a:tailEnd type="none" w="med" len="med"/>
                    </a:lnB>
                    <a:solidFill>
                      <a:schemeClr val="bg1"/>
                    </a:solidFill>
                  </a:tcPr>
                </a:tc>
                <a:extLst>
                  <a:ext uri="{0D108BD9-81ED-4DB2-BD59-A6C34878D82A}">
                    <a16:rowId xmlns:a16="http://schemas.microsoft.com/office/drawing/2014/main" val="10000"/>
                  </a:ext>
                </a:extLst>
              </a:tr>
              <a:tr h="816904">
                <a:tc>
                  <a:txBody>
                    <a:bodyPr/>
                    <a:lstStyle/>
                    <a:p>
                      <a:pPr marL="0" indent="0">
                        <a:buNone/>
                      </a:pPr>
                      <a:r>
                        <a:rPr lang="en-US">
                          <a:latin typeface="ITC Avant Garde Gothic"/>
                          <a:ea typeface="Calibri" pitchFamily="34" charset="-122"/>
                          <a:cs typeface="Calibri" pitchFamily="34" charset="-120"/>
                        </a:rPr>
                        <a:t>Dark × CCTV</a:t>
                      </a:r>
                      <a:endParaRPr lang="en-US">
                        <a:latin typeface="ITC Avant Garde Gothic"/>
                        <a:ea typeface="Calibri" charset="0"/>
                        <a:cs typeface="Calibri" charset="0"/>
                      </a:endParaRPr>
                    </a:p>
                  </a:txBody>
                  <a:tcPr marL="182880" marR="182880" marT="91440" marB="91440">
                    <a:lnL w="6350" cap="flat" cmpd="sng" algn="ctr">
                      <a:solidFill>
                        <a:srgbClr val="2A3A4A"/>
                      </a:solidFill>
                      <a:prstDash val="solid"/>
                      <a:round/>
                      <a:headEnd type="none" w="med" len="med"/>
                      <a:tailEnd type="none" w="med" len="med"/>
                    </a:lnL>
                    <a:lnR w="6350" cap="flat" cmpd="sng" algn="ctr">
                      <a:solidFill>
                        <a:srgbClr val="2A3A4A"/>
                      </a:solidFill>
                      <a:prstDash val="solid"/>
                      <a:round/>
                      <a:headEnd type="none" w="med" len="med"/>
                      <a:tailEnd type="none" w="med" len="med"/>
                    </a:lnR>
                    <a:lnT w="6350" cap="flat" cmpd="sng" algn="ctr">
                      <a:solidFill>
                        <a:srgbClr val="2A3A4A"/>
                      </a:solidFill>
                      <a:prstDash val="solid"/>
                      <a:round/>
                      <a:headEnd type="none" w="med" len="med"/>
                      <a:tailEnd type="none" w="med" len="med"/>
                    </a:lnT>
                    <a:lnB w="6350" cap="flat" cmpd="sng" algn="ctr">
                      <a:solidFill>
                        <a:srgbClr val="2A3A4A"/>
                      </a:solidFill>
                      <a:prstDash val="solid"/>
                      <a:round/>
                      <a:headEnd type="none" w="med" len="med"/>
                      <a:tailEnd type="none" w="med" len="med"/>
                    </a:lnB>
                    <a:solidFill>
                      <a:schemeClr val="bg1"/>
                    </a:solidFill>
                  </a:tcPr>
                </a:tc>
                <a:tc>
                  <a:txBody>
                    <a:bodyPr/>
                    <a:lstStyle/>
                    <a:p>
                      <a:pPr marL="0" indent="0" algn="ctr">
                        <a:buNone/>
                      </a:pPr>
                      <a:r>
                        <a:rPr lang="en-US">
                          <a:latin typeface="ITC Avant Garde Gothic"/>
                          <a:ea typeface="Calibri" pitchFamily="34" charset="-122"/>
                          <a:cs typeface="Calibri" pitchFamily="34" charset="-120"/>
                        </a:rPr>
                        <a:t>p = 0.948 </a:t>
                      </a:r>
                      <a:endParaRPr lang="en-US">
                        <a:latin typeface="ITC Avant Garde Gothic"/>
                        <a:ea typeface="Calibri" charset="0"/>
                        <a:cs typeface="Calibri" charset="0"/>
                      </a:endParaRPr>
                    </a:p>
                  </a:txBody>
                  <a:tcPr marL="182880" marR="182880" marT="91440" marB="91440">
                    <a:lnL w="6350" cap="flat" cmpd="sng" algn="ctr">
                      <a:solidFill>
                        <a:srgbClr val="2A3A4A"/>
                      </a:solidFill>
                      <a:prstDash val="solid"/>
                      <a:round/>
                      <a:headEnd type="none" w="med" len="med"/>
                      <a:tailEnd type="none" w="med" len="med"/>
                    </a:lnL>
                    <a:lnR w="6350" cap="flat" cmpd="sng" algn="ctr">
                      <a:solidFill>
                        <a:srgbClr val="2A3A4A"/>
                      </a:solidFill>
                      <a:prstDash val="solid"/>
                      <a:round/>
                      <a:headEnd type="none" w="med" len="med"/>
                      <a:tailEnd type="none" w="med" len="med"/>
                    </a:lnR>
                    <a:lnT w="6350" cap="flat" cmpd="sng" algn="ctr">
                      <a:solidFill>
                        <a:srgbClr val="2A3A4A"/>
                      </a:solidFill>
                      <a:prstDash val="solid"/>
                      <a:round/>
                      <a:headEnd type="none" w="med" len="med"/>
                      <a:tailEnd type="none" w="med" len="med"/>
                    </a:lnT>
                    <a:lnB w="6350" cap="flat" cmpd="sng" algn="ctr">
                      <a:solidFill>
                        <a:srgbClr val="2A3A4A"/>
                      </a:solidFill>
                      <a:prstDash val="solid"/>
                      <a:round/>
                      <a:headEnd type="none" w="med" len="med"/>
                      <a:tailEnd type="none" w="med" len="med"/>
                    </a:lnB>
                    <a:solidFill>
                      <a:schemeClr val="bg1"/>
                    </a:solidFill>
                  </a:tcPr>
                </a:tc>
                <a:tc>
                  <a:txBody>
                    <a:bodyPr/>
                    <a:lstStyle/>
                    <a:p>
                      <a:pPr marL="0" indent="0" algn="ctr">
                        <a:buNone/>
                      </a:pPr>
                      <a:r>
                        <a:rPr lang="en-US">
                          <a:latin typeface="ITC Avant Garde Gothic"/>
                          <a:ea typeface="Calibri" pitchFamily="34" charset="-122"/>
                          <a:cs typeface="Calibri" pitchFamily="34" charset="-120"/>
                        </a:rPr>
                        <a:t>p = 0.941 </a:t>
                      </a:r>
                      <a:endParaRPr lang="en-US">
                        <a:latin typeface="ITC Avant Garde Gothic"/>
                        <a:ea typeface="Calibri" charset="0"/>
                        <a:cs typeface="Calibri" charset="0"/>
                      </a:endParaRPr>
                    </a:p>
                  </a:txBody>
                  <a:tcPr marL="182880" marR="182880" marT="91440" marB="91440">
                    <a:lnL w="6350" cap="flat" cmpd="sng" algn="ctr">
                      <a:solidFill>
                        <a:srgbClr val="2A3A4A"/>
                      </a:solidFill>
                      <a:prstDash val="solid"/>
                      <a:round/>
                      <a:headEnd type="none" w="med" len="med"/>
                      <a:tailEnd type="none" w="med" len="med"/>
                    </a:lnL>
                    <a:lnR w="6350" cap="flat" cmpd="sng" algn="ctr">
                      <a:solidFill>
                        <a:srgbClr val="2A3A4A"/>
                      </a:solidFill>
                      <a:prstDash val="solid"/>
                      <a:round/>
                      <a:headEnd type="none" w="med" len="med"/>
                      <a:tailEnd type="none" w="med" len="med"/>
                    </a:lnR>
                    <a:lnT w="6350" cap="flat" cmpd="sng" algn="ctr">
                      <a:solidFill>
                        <a:srgbClr val="2A3A4A"/>
                      </a:solidFill>
                      <a:prstDash val="solid"/>
                      <a:round/>
                      <a:headEnd type="none" w="med" len="med"/>
                      <a:tailEnd type="none" w="med" len="med"/>
                    </a:lnT>
                    <a:lnB w="6350" cap="flat" cmpd="sng" algn="ctr">
                      <a:solidFill>
                        <a:srgbClr val="2A3A4A"/>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816904">
                <a:tc>
                  <a:txBody>
                    <a:bodyPr/>
                    <a:lstStyle/>
                    <a:p>
                      <a:pPr marL="0" indent="0">
                        <a:buNone/>
                      </a:pPr>
                      <a:r>
                        <a:rPr lang="en-US">
                          <a:latin typeface="ITC Avant Garde Gothic"/>
                          <a:ea typeface="Calibri" pitchFamily="34" charset="-122"/>
                          <a:cs typeface="Calibri" pitchFamily="34" charset="-120"/>
                        </a:rPr>
                        <a:t>Dark × Safety</a:t>
                      </a:r>
                      <a:endParaRPr lang="en-US">
                        <a:latin typeface="ITC Avant Garde Gothic"/>
                        <a:ea typeface="Calibri" charset="0"/>
                        <a:cs typeface="Calibri" charset="0"/>
                      </a:endParaRPr>
                    </a:p>
                  </a:txBody>
                  <a:tcPr marL="182880" marR="182880" marT="91440" marB="91440">
                    <a:lnL w="6350" cap="flat" cmpd="sng" algn="ctr">
                      <a:solidFill>
                        <a:srgbClr val="2A3A4A"/>
                      </a:solidFill>
                      <a:prstDash val="solid"/>
                      <a:round/>
                      <a:headEnd type="none" w="med" len="med"/>
                      <a:tailEnd type="none" w="med" len="med"/>
                    </a:lnL>
                    <a:lnR w="6350" cap="flat" cmpd="sng" algn="ctr">
                      <a:solidFill>
                        <a:srgbClr val="2A3A4A"/>
                      </a:solidFill>
                      <a:prstDash val="solid"/>
                      <a:round/>
                      <a:headEnd type="none" w="med" len="med"/>
                      <a:tailEnd type="none" w="med" len="med"/>
                    </a:lnR>
                    <a:lnT w="6350" cap="flat" cmpd="sng" algn="ctr">
                      <a:solidFill>
                        <a:srgbClr val="2A3A4A"/>
                      </a:solidFill>
                      <a:prstDash val="solid"/>
                      <a:round/>
                      <a:headEnd type="none" w="med" len="med"/>
                      <a:tailEnd type="none" w="med" len="med"/>
                    </a:lnT>
                    <a:lnB w="6350" cap="flat" cmpd="sng" algn="ctr">
                      <a:solidFill>
                        <a:srgbClr val="2A3A4A"/>
                      </a:solidFill>
                      <a:prstDash val="solid"/>
                      <a:round/>
                      <a:headEnd type="none" w="med" len="med"/>
                      <a:tailEnd type="none" w="med" len="med"/>
                    </a:lnB>
                    <a:solidFill>
                      <a:schemeClr val="bg1"/>
                    </a:solidFill>
                  </a:tcPr>
                </a:tc>
                <a:tc>
                  <a:txBody>
                    <a:bodyPr/>
                    <a:lstStyle/>
                    <a:p>
                      <a:pPr marL="0" indent="0" algn="ctr">
                        <a:buNone/>
                      </a:pPr>
                      <a:r>
                        <a:rPr lang="en-US">
                          <a:latin typeface="ITC Avant Garde Gothic"/>
                          <a:ea typeface="Calibri" pitchFamily="34" charset="-122"/>
                          <a:cs typeface="Calibri" pitchFamily="34" charset="-120"/>
                        </a:rPr>
                        <a:t>p = 0.160</a:t>
                      </a:r>
                      <a:endParaRPr lang="en-US">
                        <a:latin typeface="ITC Avant Garde Gothic"/>
                        <a:ea typeface="Calibri" charset="0"/>
                        <a:cs typeface="Calibri" charset="0"/>
                      </a:endParaRPr>
                    </a:p>
                  </a:txBody>
                  <a:tcPr marL="182880" marR="182880" marT="91440" marB="91440">
                    <a:lnL w="6350" cap="flat" cmpd="sng" algn="ctr">
                      <a:solidFill>
                        <a:srgbClr val="2A3A4A"/>
                      </a:solidFill>
                      <a:prstDash val="solid"/>
                      <a:round/>
                      <a:headEnd type="none" w="med" len="med"/>
                      <a:tailEnd type="none" w="med" len="med"/>
                    </a:lnL>
                    <a:lnR w="6350" cap="flat" cmpd="sng" algn="ctr">
                      <a:solidFill>
                        <a:srgbClr val="2A3A4A"/>
                      </a:solidFill>
                      <a:prstDash val="solid"/>
                      <a:round/>
                      <a:headEnd type="none" w="med" len="med"/>
                      <a:tailEnd type="none" w="med" len="med"/>
                    </a:lnR>
                    <a:lnT w="6350" cap="flat" cmpd="sng" algn="ctr">
                      <a:solidFill>
                        <a:srgbClr val="2A3A4A"/>
                      </a:solidFill>
                      <a:prstDash val="solid"/>
                      <a:round/>
                      <a:headEnd type="none" w="med" len="med"/>
                      <a:tailEnd type="none" w="med" len="med"/>
                    </a:lnT>
                    <a:lnB w="6350" cap="flat" cmpd="sng" algn="ctr">
                      <a:solidFill>
                        <a:srgbClr val="2A3A4A"/>
                      </a:solidFill>
                      <a:prstDash val="solid"/>
                      <a:round/>
                      <a:headEnd type="none" w="med" len="med"/>
                      <a:tailEnd type="none" w="med" len="med"/>
                    </a:lnB>
                    <a:solidFill>
                      <a:schemeClr val="bg1"/>
                    </a:solidFill>
                  </a:tcPr>
                </a:tc>
                <a:tc>
                  <a:txBody>
                    <a:bodyPr/>
                    <a:lstStyle/>
                    <a:p>
                      <a:pPr marL="0" indent="0" algn="ctr">
                        <a:buNone/>
                      </a:pPr>
                      <a:r>
                        <a:rPr lang="en-US">
                          <a:latin typeface="ITC Avant Garde Gothic"/>
                          <a:ea typeface="Calibri" pitchFamily="34" charset="-122"/>
                          <a:cs typeface="Calibri" pitchFamily="34" charset="-120"/>
                        </a:rPr>
                        <a:t>p = 0.000121 </a:t>
                      </a:r>
                      <a:endParaRPr lang="en-US">
                        <a:latin typeface="ITC Avant Garde Gothic"/>
                        <a:ea typeface="Calibri" charset="0"/>
                        <a:cs typeface="Calibri" charset="0"/>
                      </a:endParaRPr>
                    </a:p>
                  </a:txBody>
                  <a:tcPr marL="182880" marR="182880" marT="91440" marB="91440">
                    <a:lnL w="6350" cap="flat" cmpd="sng" algn="ctr">
                      <a:solidFill>
                        <a:srgbClr val="2A3A4A"/>
                      </a:solidFill>
                      <a:prstDash val="solid"/>
                      <a:round/>
                      <a:headEnd type="none" w="med" len="med"/>
                      <a:tailEnd type="none" w="med" len="med"/>
                    </a:lnL>
                    <a:lnR w="6350" cap="flat" cmpd="sng" algn="ctr">
                      <a:solidFill>
                        <a:srgbClr val="2A3A4A"/>
                      </a:solidFill>
                      <a:prstDash val="solid"/>
                      <a:round/>
                      <a:headEnd type="none" w="med" len="med"/>
                      <a:tailEnd type="none" w="med" len="med"/>
                    </a:lnR>
                    <a:lnT w="6350" cap="flat" cmpd="sng" algn="ctr">
                      <a:solidFill>
                        <a:srgbClr val="2A3A4A"/>
                      </a:solidFill>
                      <a:prstDash val="solid"/>
                      <a:round/>
                      <a:headEnd type="none" w="med" len="med"/>
                      <a:tailEnd type="none" w="med" len="med"/>
                    </a:lnT>
                    <a:lnB w="6350" cap="flat" cmpd="sng" algn="ctr">
                      <a:solidFill>
                        <a:srgbClr val="2A3A4A"/>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bl>
          </a:graphicData>
        </a:graphic>
      </p:graphicFrame>
      <p:sp>
        <p:nvSpPr>
          <p:cNvPr id="10" name="Text 5"/>
          <p:cNvSpPr/>
          <p:nvPr/>
        </p:nvSpPr>
        <p:spPr>
          <a:xfrm>
            <a:off x="9194455" y="6293627"/>
            <a:ext cx="8496523" cy="2701513"/>
          </a:xfrm>
          <a:prstGeom prst="rect">
            <a:avLst/>
          </a:prstGeom>
          <a:noFill/>
          <a:ln/>
        </p:spPr>
        <p:txBody>
          <a:bodyPr wrap="square" lIns="0" tIns="0" rIns="0" bIns="0" rtlCol="0" anchor="t"/>
          <a:lstStyle>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a:lstStyle>
          <a:p>
            <a:r>
              <a:rPr lang="en-US" sz="2000" b="1">
                <a:latin typeface="ITC Avant Garde Gothic"/>
                <a:ea typeface="Calibri"/>
                <a:cs typeface="Calibri"/>
              </a:rPr>
              <a:t>Key insights:</a:t>
            </a:r>
            <a:r>
              <a:rPr lang="en-US" sz="2000">
                <a:latin typeface="ITC Avant Garde Gothic"/>
                <a:ea typeface="Calibri"/>
                <a:cs typeface="Calibri"/>
              </a:rPr>
              <a:t> </a:t>
            </a:r>
            <a:endParaRPr lang="en-US"/>
          </a:p>
          <a:p>
            <a:pPr marL="342900" indent="-342900">
              <a:buFont typeface="Courier New"/>
              <a:buChar char="o"/>
            </a:pPr>
            <a:endParaRPr lang="en-US" sz="2000">
              <a:latin typeface="ITC Avant Garde Gothic"/>
              <a:ea typeface="Calibri"/>
              <a:cs typeface="Calibri"/>
            </a:endParaRPr>
          </a:p>
          <a:p>
            <a:pPr marL="342900" indent="-342900">
              <a:buFont typeface="Arial" panose="020B0604020202020204" pitchFamily="34" charset="0"/>
              <a:buChar char="•"/>
            </a:pPr>
            <a:r>
              <a:rPr lang="en-US" sz="2000">
                <a:latin typeface="ITC Avant Garde Gothic"/>
                <a:ea typeface="Calibri"/>
                <a:cs typeface="Calibri"/>
              </a:rPr>
              <a:t>CCTV has little impact on darkness effect, perhaps down to the location of CCTV being unknown to most people</a:t>
            </a:r>
          </a:p>
          <a:p>
            <a:pPr marL="342900" indent="-342900">
              <a:buFont typeface="Arial" panose="020B0604020202020204" pitchFamily="34" charset="0"/>
              <a:buChar char="•"/>
            </a:pPr>
            <a:endParaRPr lang="en-US" sz="2000">
              <a:latin typeface="ITC Avant Garde Gothic"/>
              <a:ea typeface="Calibri"/>
              <a:cs typeface="Calibri"/>
            </a:endParaRPr>
          </a:p>
          <a:p>
            <a:pPr marL="342900" indent="-342900">
              <a:buFont typeface="Arial" panose="020B0604020202020204" pitchFamily="34" charset="0"/>
              <a:buChar char="•"/>
            </a:pPr>
            <a:r>
              <a:rPr lang="en-US" sz="2000">
                <a:latin typeface="ITC Avant Garde Gothic"/>
                <a:ea typeface="Calibri"/>
                <a:cs typeface="Calibri"/>
              </a:rPr>
              <a:t>Perceived safety by people does have an effect on darkness with a higher ward safety score leading to a larger reduced change in darkness.</a:t>
            </a:r>
          </a:p>
          <a:p>
            <a:endParaRPr lang="en-US" sz="2000">
              <a:latin typeface="ITC Avant Garde Gothic"/>
              <a:ea typeface="Calibri"/>
              <a:cs typeface="Calibri"/>
            </a:endParaRPr>
          </a:p>
        </p:txBody>
      </p:sp>
      <p:sp>
        <p:nvSpPr>
          <p:cNvPr id="13" name="Text 8"/>
          <p:cNvSpPr/>
          <p:nvPr/>
        </p:nvSpPr>
        <p:spPr>
          <a:xfrm>
            <a:off x="822960" y="7132320"/>
            <a:ext cx="7863840" cy="512064"/>
          </a:xfrm>
          <a:prstGeom prst="rect">
            <a:avLst/>
          </a:prstGeom>
          <a:noFill/>
          <a:ln/>
        </p:spPr>
        <p:txBody>
          <a:bodyPr wrap="square" lIns="0" tIns="0" rIns="0" bIns="0" rtlCol="0" anchor="ctr"/>
          <a:lstStyle>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a:lstStyle>
          <a:p>
            <a:pPr marL="0" indent="0">
              <a:buNone/>
            </a:pPr>
            <a:endParaRPr lang="en-US" sz="2200" b="1">
              <a:latin typeface="ITC Avant Garde Gothic"/>
              <a:ea typeface="Calibri"/>
              <a:cs typeface="Calibri"/>
            </a:endParaRPr>
          </a:p>
        </p:txBody>
      </p:sp>
      <p:sp>
        <p:nvSpPr>
          <p:cNvPr id="16" name="Text 11"/>
          <p:cNvSpPr/>
          <p:nvPr/>
        </p:nvSpPr>
        <p:spPr>
          <a:xfrm>
            <a:off x="457200" y="9784080"/>
            <a:ext cx="17373600" cy="502920"/>
          </a:xfrm>
          <a:prstGeom prst="rect">
            <a:avLst/>
          </a:prstGeom>
          <a:noFill/>
          <a:ln/>
        </p:spPr>
        <p:txBody>
          <a:bodyPr wrap="square" lIns="0" tIns="0" rIns="0" bIns="0" rtlCol="0" anchor="ctr"/>
          <a:lstStyle>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a:lstStyle>
          <a:p>
            <a:pPr marL="0" indent="0" algn="ctr">
              <a:buNone/>
            </a:pPr>
            <a:endParaRPr lang="en-US" sz="1900"/>
          </a:p>
        </p:txBody>
      </p:sp>
      <p:pic>
        <p:nvPicPr>
          <p:cNvPr id="4" name="Picture 3">
            <a:extLst>
              <a:ext uri="{FF2B5EF4-FFF2-40B4-BE49-F238E27FC236}">
                <a16:creationId xmlns:a16="http://schemas.microsoft.com/office/drawing/2014/main" id="{F396ADDD-C56F-617A-73E9-57E89B439D88}"/>
              </a:ext>
            </a:extLst>
          </p:cNvPr>
          <p:cNvPicPr>
            <a:picLocks noChangeAspect="1"/>
          </p:cNvPicPr>
          <p:nvPr/>
        </p:nvPicPr>
        <p:blipFill>
          <a:blip r:embed="rId3">
            <a:extLst>
              <a:ext uri="{28A0092B-C50C-407E-A947-70E740481C1C}">
                <a14:useLocalDpi xmlns:a14="http://schemas.microsoft.com/office/drawing/2010/main" val="0"/>
              </a:ext>
            </a:extLst>
          </a:blip>
          <a:srcRect l="25337" t="1526" r="19304" b="93453"/>
          <a:stretch>
            <a:fillRect/>
          </a:stretch>
        </p:blipFill>
        <p:spPr>
          <a:xfrm>
            <a:off x="1335177" y="2140251"/>
            <a:ext cx="6615541" cy="365881"/>
          </a:xfrm>
          <a:prstGeom prst="rect">
            <a:avLst/>
          </a:prstGeom>
        </p:spPr>
      </p:pic>
    </p:spTree>
    <p:extLst>
      <p:ext uri="{BB962C8B-B14F-4D97-AF65-F5344CB8AC3E}">
        <p14:creationId xmlns:p14="http://schemas.microsoft.com/office/powerpoint/2010/main" val="2834404061"/>
      </p:ext>
    </p:extLst>
  </p:cSld>
  <p:clrMapOvr>
    <a:masterClrMapping/>
  </p:clrMapOvr>
  <mc:AlternateContent xmlns:mc="http://schemas.openxmlformats.org/markup-compatibility/2006" xmlns:p14="http://schemas.microsoft.com/office/powerpoint/2010/main">
    <mc:Choice Requires="p14">
      <p:transition p14:dur="0" advTm="34174"/>
    </mc:Choice>
    <mc:Fallback xmlns="">
      <p:transition advTm="34174"/>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1D7C62-45BB-8CEF-3CCC-1EB6C02ED14A}"/>
              </a:ext>
            </a:extLst>
          </p:cNvPr>
          <p:cNvSpPr txBox="1"/>
          <p:nvPr/>
        </p:nvSpPr>
        <p:spPr>
          <a:xfrm>
            <a:off x="419084" y="397933"/>
            <a:ext cx="4877132" cy="101566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GB" sz="6000">
                <a:latin typeface="ITC Avant Garde Gothic"/>
                <a:ea typeface="Calibri"/>
                <a:cs typeface="Calibri"/>
              </a:rPr>
              <a:t>Streetlights</a:t>
            </a:r>
            <a:endParaRPr lang="en-GB" sz="4800">
              <a:latin typeface="ITC Avant Garde Gothic"/>
              <a:ea typeface="Calibri"/>
              <a:cs typeface="Calibri"/>
            </a:endParaRPr>
          </a:p>
        </p:txBody>
      </p:sp>
      <p:pic>
        <p:nvPicPr>
          <p:cNvPr id="3" name="Picture 2">
            <a:extLst>
              <a:ext uri="{FF2B5EF4-FFF2-40B4-BE49-F238E27FC236}">
                <a16:creationId xmlns:a16="http://schemas.microsoft.com/office/drawing/2014/main" id="{C35D0F40-9047-4449-CD04-BCDFDFCC9159}"/>
              </a:ext>
            </a:extLst>
          </p:cNvPr>
          <p:cNvPicPr>
            <a:picLocks noChangeAspect="1"/>
          </p:cNvPicPr>
          <p:nvPr/>
        </p:nvPicPr>
        <p:blipFill>
          <a:blip r:embed="rId3">
            <a:extLst>
              <a:ext uri="{28A0092B-C50C-407E-A947-70E740481C1C}">
                <a14:useLocalDpi xmlns:a14="http://schemas.microsoft.com/office/drawing/2010/main" val="0"/>
              </a:ext>
            </a:extLst>
          </a:blip>
          <a:srcRect r="48268"/>
          <a:stretch>
            <a:fillRect/>
          </a:stretch>
        </p:blipFill>
        <p:spPr>
          <a:xfrm>
            <a:off x="1209822" y="1413597"/>
            <a:ext cx="7466576" cy="5954492"/>
          </a:xfrm>
          <a:prstGeom prst="rect">
            <a:avLst/>
          </a:prstGeom>
        </p:spPr>
      </p:pic>
      <p:sp>
        <p:nvSpPr>
          <p:cNvPr id="4" name="TextBox 3">
            <a:extLst>
              <a:ext uri="{FF2B5EF4-FFF2-40B4-BE49-F238E27FC236}">
                <a16:creationId xmlns:a16="http://schemas.microsoft.com/office/drawing/2014/main" id="{94CD3A93-0630-E899-84C8-B0493B37F1D7}"/>
              </a:ext>
            </a:extLst>
          </p:cNvPr>
          <p:cNvSpPr txBox="1"/>
          <p:nvPr/>
        </p:nvSpPr>
        <p:spPr>
          <a:xfrm>
            <a:off x="1209822" y="7611519"/>
            <a:ext cx="13048695" cy="252376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85750" indent="-285750">
              <a:buFont typeface="Arial"/>
              <a:buChar char="•"/>
            </a:pPr>
            <a:r>
              <a:rPr lang="en-GB" sz="2800">
                <a:latin typeface="ITC Avant Garde Gothic"/>
                <a:ea typeface="Calibri"/>
                <a:cs typeface="Calibri"/>
              </a:rPr>
              <a:t>Streetlights cause the largest decrease in the effect of darkness for pedestrians out of all safety factors</a:t>
            </a:r>
            <a:endParaRPr lang="en-US" sz="2800">
              <a:latin typeface="ITC Avant Garde Gothic"/>
            </a:endParaRPr>
          </a:p>
          <a:p>
            <a:pPr marL="285750" indent="-285750">
              <a:buFont typeface="Arial"/>
              <a:buChar char="•"/>
            </a:pPr>
            <a:endParaRPr lang="en-GB" sz="2800">
              <a:latin typeface="ITC Avant Garde Gothic"/>
              <a:ea typeface="Calibri"/>
              <a:cs typeface="Calibri"/>
            </a:endParaRPr>
          </a:p>
          <a:p>
            <a:pPr marL="285750" indent="-285750">
              <a:buFont typeface="Arial"/>
              <a:buChar char="•"/>
            </a:pPr>
            <a:r>
              <a:rPr lang="en-GB" sz="2800">
                <a:latin typeface="ITC Avant Garde Gothic"/>
                <a:ea typeface="Calibri"/>
                <a:cs typeface="Calibri"/>
              </a:rPr>
              <a:t>Little to no change for cyclists, likely due to their own lights improving visibility</a:t>
            </a:r>
          </a:p>
          <a:p>
            <a:endParaRPr lang="en-GB">
              <a:ea typeface="Calibri"/>
              <a:cs typeface="Calibri"/>
            </a:endParaRPr>
          </a:p>
        </p:txBody>
      </p:sp>
      <p:pic>
        <p:nvPicPr>
          <p:cNvPr id="6" name="Picture 5">
            <a:extLst>
              <a:ext uri="{FF2B5EF4-FFF2-40B4-BE49-F238E27FC236}">
                <a16:creationId xmlns:a16="http://schemas.microsoft.com/office/drawing/2014/main" id="{67BCDE18-BEC7-5610-8831-F3630CF587FE}"/>
              </a:ext>
            </a:extLst>
          </p:cNvPr>
          <p:cNvPicPr>
            <a:picLocks noChangeAspect="1"/>
          </p:cNvPicPr>
          <p:nvPr/>
        </p:nvPicPr>
        <p:blipFill>
          <a:blip r:embed="rId3">
            <a:extLst>
              <a:ext uri="{28A0092B-C50C-407E-A947-70E740481C1C}">
                <a14:useLocalDpi xmlns:a14="http://schemas.microsoft.com/office/drawing/2010/main" val="0"/>
              </a:ext>
            </a:extLst>
          </a:blip>
          <a:srcRect l="52293"/>
          <a:stretch>
            <a:fillRect/>
          </a:stretch>
        </p:blipFill>
        <p:spPr>
          <a:xfrm>
            <a:off x="9419876" y="1413596"/>
            <a:ext cx="6885625" cy="5954491"/>
          </a:xfrm>
          <a:prstGeom prst="rect">
            <a:avLst/>
          </a:prstGeom>
        </p:spPr>
      </p:pic>
    </p:spTree>
    <p:extLst>
      <p:ext uri="{BB962C8B-B14F-4D97-AF65-F5344CB8AC3E}">
        <p14:creationId xmlns:p14="http://schemas.microsoft.com/office/powerpoint/2010/main" val="639786090"/>
      </p:ext>
    </p:extLst>
  </p:cSld>
  <p:clrMapOvr>
    <a:masterClrMapping/>
  </p:clrMapOvr>
  <mc:AlternateContent xmlns:mc="http://schemas.openxmlformats.org/markup-compatibility/2006" xmlns:p14="http://schemas.microsoft.com/office/powerpoint/2010/main">
    <mc:Choice Requires="p14">
      <p:transition p14:dur="0" advTm="32557"/>
    </mc:Choice>
    <mc:Fallback xmlns="">
      <p:transition advTm="32557"/>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4C5052-B2DE-113A-C7E1-6B959E554789}"/>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953C9258-56CB-DBFA-A6DD-B977E5B5C02F}"/>
              </a:ext>
            </a:extLst>
          </p:cNvPr>
          <p:cNvPicPr>
            <a:picLocks noChangeAspect="1"/>
          </p:cNvPicPr>
          <p:nvPr/>
        </p:nvPicPr>
        <p:blipFill>
          <a:blip r:embed="rId3">
            <a:extLst>
              <a:ext uri="{28A0092B-C50C-407E-A947-70E740481C1C}">
                <a14:useLocalDpi xmlns:a14="http://schemas.microsoft.com/office/drawing/2010/main" val="0"/>
              </a:ext>
            </a:extLst>
          </a:blip>
          <a:srcRect r="1924"/>
          <a:stretch>
            <a:fillRect/>
          </a:stretch>
        </p:blipFill>
        <p:spPr>
          <a:xfrm>
            <a:off x="6026623" y="2703872"/>
            <a:ext cx="12115073" cy="6318247"/>
          </a:xfrm>
          <a:prstGeom prst="rect">
            <a:avLst/>
          </a:prstGeom>
        </p:spPr>
      </p:pic>
      <p:sp>
        <p:nvSpPr>
          <p:cNvPr id="12" name="TextBox 12">
            <a:extLst>
              <a:ext uri="{FF2B5EF4-FFF2-40B4-BE49-F238E27FC236}">
                <a16:creationId xmlns:a16="http://schemas.microsoft.com/office/drawing/2014/main" id="{949B61ED-8F86-000E-85CE-556B5C164619}"/>
              </a:ext>
            </a:extLst>
          </p:cNvPr>
          <p:cNvSpPr txBox="1"/>
          <p:nvPr/>
        </p:nvSpPr>
        <p:spPr>
          <a:xfrm>
            <a:off x="666750" y="659606"/>
            <a:ext cx="17240250" cy="949491"/>
          </a:xfrm>
          <a:prstGeom prst="rect">
            <a:avLst/>
          </a:prstGeom>
        </p:spPr>
        <p:txBody>
          <a:bodyPr wrap="square" lIns="0" tIns="0" rIns="0" bIns="0" rtlCol="0" anchor="t">
            <a:spAutoFit/>
          </a:bodyPr>
          <a:lstStyle/>
          <a:p>
            <a:pPr marL="0" lvl="0" indent="0" algn="l">
              <a:lnSpc>
                <a:spcPts val="8000"/>
              </a:lnSpc>
              <a:spcBef>
                <a:spcPct val="0"/>
              </a:spcBef>
            </a:pPr>
            <a:r>
              <a:rPr lang="en-US" sz="5400" u="none" strike="noStrike" spc="-240">
                <a:solidFill>
                  <a:srgbClr val="254117"/>
                </a:solidFill>
                <a:latin typeface="ITC Avant Garde Gothic"/>
                <a:ea typeface="ITC Avant Garde Gothic"/>
                <a:cs typeface="ITC Avant Garde Gothic"/>
                <a:sym typeface="ITC Avant Garde Gothic"/>
              </a:rPr>
              <a:t>Limitations of </a:t>
            </a:r>
            <a:r>
              <a:rPr lang="en-US" sz="5400" spc="-240">
                <a:solidFill>
                  <a:srgbClr val="254117"/>
                </a:solidFill>
                <a:latin typeface="ITC Avant Garde Gothic"/>
                <a:ea typeface="ITC Avant Garde Gothic"/>
                <a:cs typeface="ITC Avant Garde Gothic"/>
                <a:sym typeface="ITC Avant Garde Gothic"/>
              </a:rPr>
              <a:t>the GLM</a:t>
            </a:r>
            <a:endParaRPr lang="en-US" sz="5400" u="none" strike="noStrike" spc="-240">
              <a:solidFill>
                <a:srgbClr val="254117"/>
              </a:solidFill>
              <a:latin typeface="ITC Avant Garde Gothic"/>
              <a:ea typeface="ITC Avant Garde Gothic"/>
              <a:cs typeface="ITC Avant Garde Gothic"/>
              <a:sym typeface="ITC Avant Garde Gothic"/>
            </a:endParaRPr>
          </a:p>
        </p:txBody>
      </p:sp>
      <p:sp>
        <p:nvSpPr>
          <p:cNvPr id="20" name="TextBox 3">
            <a:extLst>
              <a:ext uri="{FF2B5EF4-FFF2-40B4-BE49-F238E27FC236}">
                <a16:creationId xmlns:a16="http://schemas.microsoft.com/office/drawing/2014/main" id="{8A5DAC80-7E55-FE8D-AEB2-A04D2131688C}"/>
              </a:ext>
            </a:extLst>
          </p:cNvPr>
          <p:cNvSpPr txBox="1"/>
          <p:nvPr/>
        </p:nvSpPr>
        <p:spPr>
          <a:xfrm>
            <a:off x="381000" y="3480549"/>
            <a:ext cx="5697474" cy="4864793"/>
          </a:xfrm>
          <a:prstGeom prst="rect">
            <a:avLst/>
          </a:prstGeom>
        </p:spPr>
        <p:txBody>
          <a:bodyPr wrap="square" lIns="0" tIns="0" rIns="0" bIns="0" rtlCol="0" anchor="t">
            <a:spAutoFit/>
          </a:bodyPr>
          <a:lstStyle/>
          <a:p>
            <a:pPr marL="342900" lvl="0" indent="-342900">
              <a:lnSpc>
                <a:spcPts val="2903"/>
              </a:lnSpc>
              <a:buFont typeface="Arial" panose="020B0604020202020204" pitchFamily="34" charset="0"/>
              <a:buChar char="•"/>
            </a:pPr>
            <a:r>
              <a:rPr lang="en-US" sz="3200">
                <a:solidFill>
                  <a:srgbClr val="254117"/>
                </a:solidFill>
                <a:latin typeface="TT Fors"/>
                <a:ea typeface="TT Fors"/>
                <a:cs typeface="TT Fors"/>
                <a:sym typeface="TT Fors"/>
              </a:rPr>
              <a:t>Residual autocorrelation, even with the time controls</a:t>
            </a:r>
          </a:p>
          <a:p>
            <a:pPr marL="342900" lvl="0" indent="-342900">
              <a:lnSpc>
                <a:spcPts val="2903"/>
              </a:lnSpc>
              <a:buFont typeface="Arial" panose="020B0604020202020204" pitchFamily="34" charset="0"/>
              <a:buChar char="•"/>
            </a:pPr>
            <a:endParaRPr lang="en-US" sz="3200">
              <a:solidFill>
                <a:srgbClr val="254117"/>
              </a:solidFill>
              <a:latin typeface="TT Fors"/>
              <a:ea typeface="TT Fors"/>
              <a:cs typeface="TT Fors"/>
              <a:sym typeface="TT Fors"/>
            </a:endParaRPr>
          </a:p>
          <a:p>
            <a:pPr marL="342900" lvl="0" indent="-342900">
              <a:lnSpc>
                <a:spcPts val="2903"/>
              </a:lnSpc>
              <a:buFont typeface="Arial" panose="020B0604020202020204" pitchFamily="34" charset="0"/>
              <a:buChar char="•"/>
            </a:pPr>
            <a:endParaRPr lang="en-US" sz="3200">
              <a:solidFill>
                <a:srgbClr val="254117"/>
              </a:solidFill>
              <a:latin typeface="TT Fors"/>
              <a:ea typeface="TT Fors"/>
              <a:cs typeface="TT Fors"/>
              <a:sym typeface="TT Fors"/>
            </a:endParaRPr>
          </a:p>
          <a:p>
            <a:pPr marL="342900" lvl="0" indent="-342900">
              <a:lnSpc>
                <a:spcPts val="2903"/>
              </a:lnSpc>
              <a:buFont typeface="Arial" panose="020B0604020202020204" pitchFamily="34" charset="0"/>
              <a:buChar char="•"/>
            </a:pPr>
            <a:r>
              <a:rPr lang="en-US" sz="3200">
                <a:solidFill>
                  <a:srgbClr val="254117"/>
                </a:solidFill>
                <a:latin typeface="TT Fors"/>
                <a:ea typeface="TT Fors"/>
                <a:cs typeface="TT Fors"/>
                <a:sym typeface="TT Fors"/>
              </a:rPr>
              <a:t>Only used case hours, instead of whole time series</a:t>
            </a:r>
          </a:p>
          <a:p>
            <a:pPr lvl="0">
              <a:lnSpc>
                <a:spcPts val="2903"/>
              </a:lnSpc>
            </a:pPr>
            <a:endParaRPr lang="en-US" sz="3200">
              <a:solidFill>
                <a:srgbClr val="254117"/>
              </a:solidFill>
              <a:latin typeface="TT Fors"/>
              <a:ea typeface="TT Fors"/>
              <a:cs typeface="TT Fors"/>
              <a:sym typeface="TT Fors"/>
            </a:endParaRPr>
          </a:p>
          <a:p>
            <a:pPr lvl="0">
              <a:lnSpc>
                <a:spcPts val="2903"/>
              </a:lnSpc>
            </a:pPr>
            <a:endParaRPr lang="en-US" sz="3200">
              <a:solidFill>
                <a:srgbClr val="254117"/>
              </a:solidFill>
              <a:latin typeface="TT Fors"/>
              <a:ea typeface="TT Fors"/>
              <a:cs typeface="TT Fors"/>
              <a:sym typeface="TT Fors"/>
            </a:endParaRPr>
          </a:p>
          <a:p>
            <a:pPr marL="342900" indent="-342900">
              <a:lnSpc>
                <a:spcPts val="2903"/>
              </a:lnSpc>
              <a:buFont typeface="Arial" panose="020B0604020202020204" pitchFamily="34" charset="0"/>
              <a:buChar char="•"/>
            </a:pPr>
            <a:r>
              <a:rPr lang="en-US" sz="3200">
                <a:solidFill>
                  <a:srgbClr val="254117"/>
                </a:solidFill>
                <a:latin typeface="TT Fors"/>
                <a:ea typeface="TT Fors"/>
                <a:cs typeface="TT Fors"/>
                <a:sym typeface="TT Fors"/>
              </a:rPr>
              <a:t>Certain interactions, like darkness with CCTV, are statistically weak</a:t>
            </a:r>
          </a:p>
          <a:p>
            <a:pPr lvl="0">
              <a:lnSpc>
                <a:spcPts val="2903"/>
              </a:lnSpc>
            </a:pPr>
            <a:endParaRPr lang="en-US" sz="3200">
              <a:solidFill>
                <a:srgbClr val="254117"/>
              </a:solidFill>
              <a:latin typeface="TT Fors"/>
              <a:ea typeface="TT Fors"/>
              <a:cs typeface="TT Fors"/>
              <a:sym typeface="TT Fors"/>
            </a:endParaRPr>
          </a:p>
          <a:p>
            <a:pPr lvl="0">
              <a:lnSpc>
                <a:spcPts val="2903"/>
              </a:lnSpc>
            </a:pPr>
            <a:endParaRPr lang="en-US" sz="3200">
              <a:solidFill>
                <a:srgbClr val="254117"/>
              </a:solidFill>
              <a:latin typeface="TT Fors"/>
              <a:ea typeface="TT Fors"/>
              <a:cs typeface="TT Fors"/>
              <a:sym typeface="TT Fors"/>
            </a:endParaRPr>
          </a:p>
        </p:txBody>
      </p:sp>
      <p:cxnSp>
        <p:nvCxnSpPr>
          <p:cNvPr id="21" name="Straight Arrow Connector 20">
            <a:extLst>
              <a:ext uri="{FF2B5EF4-FFF2-40B4-BE49-F238E27FC236}">
                <a16:creationId xmlns:a16="http://schemas.microsoft.com/office/drawing/2014/main" id="{907701E9-66ED-F287-D8B1-79FD5F403EE8}"/>
              </a:ext>
            </a:extLst>
          </p:cNvPr>
          <p:cNvCxnSpPr/>
          <p:nvPr/>
        </p:nvCxnSpPr>
        <p:spPr>
          <a:xfrm>
            <a:off x="381000" y="1670057"/>
            <a:ext cx="17526000" cy="0"/>
          </a:xfrm>
          <a:prstGeom prst="straightConnector1">
            <a:avLst/>
          </a:prstGeom>
          <a:ln w="38100" cap="flat" cmpd="sng" algn="ctr">
            <a:solidFill>
              <a:srgbClr val="254117"/>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2686510"/>
      </p:ext>
    </p:extLst>
  </p:cSld>
  <p:clrMapOvr>
    <a:masterClrMapping/>
  </p:clrMapOvr>
  <mc:AlternateContent xmlns:mc="http://schemas.openxmlformats.org/markup-compatibility/2006" xmlns:p14="http://schemas.microsoft.com/office/powerpoint/2010/main">
    <mc:Choice Requires="p14">
      <p:transition p14:dur="0" advTm="31580"/>
    </mc:Choice>
    <mc:Fallback xmlns="">
      <p:transition advTm="3158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C4F153-0122-D1FD-C418-62E7DFDB85C6}"/>
              </a:ext>
            </a:extLst>
          </p:cNvPr>
          <p:cNvSpPr>
            <a:spLocks noGrp="1"/>
          </p:cNvSpPr>
          <p:nvPr>
            <p:ph type="title"/>
          </p:nvPr>
        </p:nvSpPr>
        <p:spPr>
          <a:xfrm>
            <a:off x="673100" y="381000"/>
            <a:ext cx="16941800" cy="1016000"/>
          </a:xfrm>
        </p:spPr>
        <p:txBody>
          <a:bodyPr>
            <a:normAutofit/>
          </a:bodyPr>
          <a:lstStyle/>
          <a:p>
            <a:pPr algn="l"/>
            <a:r>
              <a:rPr lang="en-US" sz="5400">
                <a:solidFill>
                  <a:srgbClr val="254117"/>
                </a:solidFill>
                <a:latin typeface="ITC Avant Garde Gothic"/>
              </a:rPr>
              <a:t>Targeted Timing: The Morning Commute</a:t>
            </a:r>
          </a:p>
        </p:txBody>
      </p:sp>
      <p:cxnSp>
        <p:nvCxnSpPr>
          <p:cNvPr id="3" name="Straight Arrow Connector 2">
            <a:extLst>
              <a:ext uri="{FF2B5EF4-FFF2-40B4-BE49-F238E27FC236}">
                <a16:creationId xmlns:a16="http://schemas.microsoft.com/office/drawing/2014/main" id="{073A3791-5164-D44E-A428-A458B5B647B0}"/>
              </a:ext>
            </a:extLst>
          </p:cNvPr>
          <p:cNvCxnSpPr/>
          <p:nvPr/>
        </p:nvCxnSpPr>
        <p:spPr>
          <a:xfrm>
            <a:off x="381000" y="1524000"/>
            <a:ext cx="17526000" cy="0"/>
          </a:xfrm>
          <a:prstGeom prst="straightConnector1">
            <a:avLst/>
          </a:prstGeom>
          <a:ln w="38100" cap="flat" cmpd="sng" algn="ctr">
            <a:solidFill>
              <a:srgbClr val="254117"/>
            </a:solidFill>
            <a:prstDash val="solid"/>
          </a:ln>
        </p:spPr>
        <p:style>
          <a:lnRef idx="1">
            <a:schemeClr val="accent1"/>
          </a:lnRef>
          <a:fillRef idx="0">
            <a:schemeClr val="accent1"/>
          </a:fillRef>
          <a:effectRef idx="0">
            <a:schemeClr val="accent1"/>
          </a:effectRef>
          <a:fontRef idx="minor">
            <a:schemeClr val="tx1"/>
          </a:fontRef>
        </p:style>
      </p:cxnSp>
      <p:graphicFrame>
        <p:nvGraphicFramePr>
          <p:cNvPr id="101" name="Chart 1"/>
          <p:cNvGraphicFramePr/>
          <p:nvPr>
            <p:extLst>
              <p:ext uri="{D42A27DB-BD31-4B8C-83A1-F6EECF244321}">
                <p14:modId xmlns:p14="http://schemas.microsoft.com/office/powerpoint/2010/main" val="3028880521"/>
              </p:ext>
            </p:extLst>
          </p:nvPr>
        </p:nvGraphicFramePr>
        <p:xfrm>
          <a:off x="207033" y="2616200"/>
          <a:ext cx="14043805" cy="7289785"/>
        </p:xfrm>
        <a:graphic>
          <a:graphicData uri="http://schemas.openxmlformats.org/drawingml/2006/chart">
            <c:chart xmlns:c="http://schemas.openxmlformats.org/drawingml/2006/chart" xmlns:r="http://schemas.openxmlformats.org/officeDocument/2006/relationships" r:id="rId4"/>
          </a:graphicData>
        </a:graphic>
      </p:graphicFrame>
      <p:sp>
        <p:nvSpPr>
          <p:cNvPr id="210" name="Morning Label"/>
          <p:cNvSpPr txBox="1"/>
          <p:nvPr/>
        </p:nvSpPr>
        <p:spPr>
          <a:xfrm>
            <a:off x="673100" y="1600200"/>
            <a:ext cx="7200900" cy="508000"/>
          </a:xfrm>
          <a:prstGeom prst="rect">
            <a:avLst/>
          </a:prstGeom>
          <a:noFill/>
          <a:ln>
            <a:noFill/>
          </a:ln>
        </p:spPr>
        <p:txBody>
          <a:bodyPr wrap="square" lIns="91440" tIns="45720" rIns="91440" bIns="45720" anchor="ctr"/>
          <a:lstStyle/>
          <a:p>
            <a:pPr algn="ctr"/>
            <a:r>
              <a:rPr lang="en-GB" sz="2800" b="1">
                <a:solidFill>
                  <a:srgbClr val="C0392B"/>
                </a:solidFill>
                <a:latin typeface="TT Fors"/>
              </a:rPr>
              <a:t>MORNING </a:t>
            </a:r>
          </a:p>
        </p:txBody>
      </p:sp>
      <p:sp>
        <p:nvSpPr>
          <p:cNvPr id="211" name="Evening Label"/>
          <p:cNvSpPr txBox="1"/>
          <p:nvPr/>
        </p:nvSpPr>
        <p:spPr>
          <a:xfrm>
            <a:off x="8890000" y="1600200"/>
            <a:ext cx="8724900" cy="508000"/>
          </a:xfrm>
          <a:prstGeom prst="rect">
            <a:avLst/>
          </a:prstGeom>
          <a:noFill/>
          <a:ln>
            <a:noFill/>
          </a:ln>
        </p:spPr>
        <p:txBody>
          <a:bodyPr wrap="square" lIns="91440" tIns="45720" rIns="91440" bIns="45720" anchor="ctr"/>
          <a:lstStyle/>
          <a:p>
            <a:pPr algn="ctr"/>
            <a:r>
              <a:rPr lang="en-GB" sz="2800" b="1">
                <a:solidFill>
                  <a:srgbClr val="3A7D44"/>
                </a:solidFill>
                <a:latin typeface="TT Fors"/>
              </a:rPr>
              <a:t>EVENING</a:t>
            </a:r>
          </a:p>
        </p:txBody>
      </p:sp>
      <p:graphicFrame>
        <p:nvGraphicFramePr>
          <p:cNvPr id="6" name="Chart 1">
            <a:extLst>
              <a:ext uri="{FF2B5EF4-FFF2-40B4-BE49-F238E27FC236}">
                <a16:creationId xmlns:a16="http://schemas.microsoft.com/office/drawing/2014/main" id="{AAEB9232-586A-2F1D-AEBB-9FE3B9B8F23B}"/>
              </a:ext>
            </a:extLst>
          </p:cNvPr>
          <p:cNvGraphicFramePr/>
          <p:nvPr>
            <p:extLst>
              <p:ext uri="{D42A27DB-BD31-4B8C-83A1-F6EECF244321}">
                <p14:modId xmlns:p14="http://schemas.microsoft.com/office/powerpoint/2010/main" val="897740756"/>
              </p:ext>
            </p:extLst>
          </p:nvPr>
        </p:nvGraphicFramePr>
        <p:xfrm>
          <a:off x="207030" y="2888913"/>
          <a:ext cx="14043805" cy="7017072"/>
        </p:xfrm>
        <a:graphic>
          <a:graphicData uri="http://schemas.openxmlformats.org/drawingml/2006/chart">
            <c:chart xmlns:c="http://schemas.openxmlformats.org/drawingml/2006/chart" xmlns:r="http://schemas.openxmlformats.org/officeDocument/2006/relationships" r:id="rId5"/>
          </a:graphicData>
        </a:graphic>
      </p:graphicFrame>
      <p:sp>
        <p:nvSpPr>
          <p:cNvPr id="7" name="Rectangle 6">
            <a:extLst>
              <a:ext uri="{FF2B5EF4-FFF2-40B4-BE49-F238E27FC236}">
                <a16:creationId xmlns:a16="http://schemas.microsoft.com/office/drawing/2014/main" id="{2515B7D2-7470-4036-1CCE-DF1E206B789D}"/>
              </a:ext>
            </a:extLst>
          </p:cNvPr>
          <p:cNvSpPr/>
          <p:nvPr/>
        </p:nvSpPr>
        <p:spPr>
          <a:xfrm>
            <a:off x="11681374" y="6370916"/>
            <a:ext cx="2294021" cy="39285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5F721633-2A98-7A4B-FBFA-C8B18618F850}"/>
              </a:ext>
            </a:extLst>
          </p:cNvPr>
          <p:cNvSpPr txBox="1"/>
          <p:nvPr/>
        </p:nvSpPr>
        <p:spPr>
          <a:xfrm>
            <a:off x="1556084" y="-2438400"/>
            <a:ext cx="184731" cy="369332"/>
          </a:xfrm>
          <a:prstGeom prst="rect">
            <a:avLst/>
          </a:prstGeom>
          <a:noFill/>
        </p:spPr>
        <p:txBody>
          <a:bodyPr wrap="none" rtlCol="0">
            <a:spAutoFit/>
          </a:bodyPr>
          <a:lstStyle/>
          <a:p>
            <a:endParaRPr lang="en-US"/>
          </a:p>
        </p:txBody>
      </p:sp>
      <p:sp>
        <p:nvSpPr>
          <p:cNvPr id="10" name="Rectangle 9">
            <a:extLst>
              <a:ext uri="{FF2B5EF4-FFF2-40B4-BE49-F238E27FC236}">
                <a16:creationId xmlns:a16="http://schemas.microsoft.com/office/drawing/2014/main" id="{8AA7E52E-DC56-3C51-B3CB-2190E5037238}"/>
              </a:ext>
            </a:extLst>
          </p:cNvPr>
          <p:cNvSpPr/>
          <p:nvPr/>
        </p:nvSpPr>
        <p:spPr>
          <a:xfrm>
            <a:off x="11681371" y="5879401"/>
            <a:ext cx="2294021" cy="39285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C2A28D8F-CEE0-46D2-F98D-1AAEB758F4F7}"/>
              </a:ext>
            </a:extLst>
          </p:cNvPr>
          <p:cNvSpPr txBox="1"/>
          <p:nvPr/>
        </p:nvSpPr>
        <p:spPr>
          <a:xfrm>
            <a:off x="6036893" y="3731575"/>
            <a:ext cx="12577074" cy="2823850"/>
          </a:xfrm>
          <a:prstGeom prst="rect">
            <a:avLst/>
          </a:prstGeom>
          <a:noFill/>
        </p:spPr>
        <p:txBody>
          <a:bodyPr vertOverflow="overflow" vert="horz" wrap="square" rtlCol="0" anchor="t">
            <a:spAutoFit/>
          </a:bodyPr>
          <a:lstStyle/>
          <a:p>
            <a:pPr marL="342900" indent="-342900">
              <a:lnSpc>
                <a:spcPct val="150000"/>
              </a:lnSpc>
              <a:spcBef>
                <a:spcPts val="1200"/>
              </a:spcBef>
              <a:spcAft>
                <a:spcPts val="0"/>
              </a:spcAft>
              <a:buChar char="•"/>
            </a:pPr>
            <a:r>
              <a:rPr lang="en-GB" sz="3600">
                <a:solidFill>
                  <a:srgbClr val="254117"/>
                </a:solidFill>
                <a:latin typeface="TT Fors"/>
              </a:rPr>
              <a:t>Central has the largest loss</a:t>
            </a:r>
          </a:p>
          <a:p>
            <a:pPr marL="342900" indent="-342900">
              <a:lnSpc>
                <a:spcPct val="150000"/>
              </a:lnSpc>
              <a:spcBef>
                <a:spcPts val="1200"/>
              </a:spcBef>
              <a:spcAft>
                <a:spcPts val="0"/>
              </a:spcAft>
              <a:buChar char="•"/>
            </a:pPr>
            <a:r>
              <a:rPr lang="en-GB" sz="3600">
                <a:solidFill>
                  <a:srgbClr val="254117"/>
                </a:solidFill>
                <a:latin typeface="TT Fors"/>
              </a:rPr>
              <a:t>Streetlight density is the key factor</a:t>
            </a:r>
          </a:p>
          <a:p>
            <a:pPr marL="342900" indent="-342900">
              <a:lnSpc>
                <a:spcPct val="150000"/>
              </a:lnSpc>
              <a:spcBef>
                <a:spcPts val="1200"/>
              </a:spcBef>
              <a:spcAft>
                <a:spcPts val="0"/>
              </a:spcAft>
              <a:buChar char="•"/>
            </a:pPr>
            <a:r>
              <a:rPr lang="en-GB" sz="3600" b="1">
                <a:solidFill>
                  <a:srgbClr val="254117"/>
                </a:solidFill>
                <a:latin typeface="TT Fors"/>
              </a:rPr>
              <a:t>203 count increase </a:t>
            </a:r>
            <a:r>
              <a:rPr lang="en-GB" sz="3600">
                <a:solidFill>
                  <a:srgbClr val="254117"/>
                </a:solidFill>
                <a:latin typeface="TT Fors"/>
              </a:rPr>
              <a:t>for pedestrians over </a:t>
            </a:r>
            <a:r>
              <a:rPr lang="en-GB" sz="3600" b="1">
                <a:solidFill>
                  <a:srgbClr val="254117"/>
                </a:solidFill>
                <a:latin typeface="TT Fors"/>
              </a:rPr>
              <a:t>5</a:t>
            </a:r>
            <a:r>
              <a:rPr lang="en-GB" sz="3600">
                <a:solidFill>
                  <a:srgbClr val="254117"/>
                </a:solidFill>
                <a:latin typeface="TT Fors"/>
              </a:rPr>
              <a:t> hours </a:t>
            </a:r>
          </a:p>
        </p:txBody>
      </p:sp>
    </p:spTree>
    <p:custDataLst>
      <p:tags r:id="rId1"/>
    </p:custDataLst>
    <p:extLst>
      <p:ext uri="{BB962C8B-B14F-4D97-AF65-F5344CB8AC3E}">
        <p14:creationId xmlns:p14="http://schemas.microsoft.com/office/powerpoint/2010/main" val="930291418"/>
      </p:ext>
    </p:extLst>
  </p:cSld>
  <p:clrMapOvr>
    <a:masterClrMapping/>
  </p:clrMapOvr>
  <mc:AlternateContent xmlns:mc="http://schemas.openxmlformats.org/markup-compatibility/2006" xmlns:p14="http://schemas.microsoft.com/office/powerpoint/2010/main">
    <mc:Choice Requires="p14">
      <p:transition p14:dur="0" advTm="54746"/>
    </mc:Choice>
    <mc:Fallback xmlns="">
      <p:transition advTm="54746"/>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7"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205E03-C653-D11A-2CAF-2F8441F2A794}"/>
              </a:ext>
            </a:extLst>
          </p:cNvPr>
          <p:cNvSpPr>
            <a:spLocks noGrp="1"/>
          </p:cNvSpPr>
          <p:nvPr>
            <p:ph type="title"/>
          </p:nvPr>
        </p:nvSpPr>
        <p:spPr>
          <a:xfrm>
            <a:off x="673100" y="381000"/>
            <a:ext cx="16941800" cy="1016000"/>
          </a:xfrm>
        </p:spPr>
        <p:txBody>
          <a:bodyPr>
            <a:normAutofit/>
          </a:bodyPr>
          <a:lstStyle/>
          <a:p>
            <a:pPr algn="l"/>
            <a:r>
              <a:rPr lang="en-US" sz="5400">
                <a:solidFill>
                  <a:srgbClr val="254117"/>
                </a:solidFill>
                <a:latin typeface="ITC Avant Garde Gothic"/>
              </a:rPr>
              <a:t>LED Streetlight Investment Plan</a:t>
            </a:r>
          </a:p>
        </p:txBody>
      </p:sp>
      <p:cxnSp>
        <p:nvCxnSpPr>
          <p:cNvPr id="3" name="Straight Arrow Connector 2">
            <a:extLst>
              <a:ext uri="{FF2B5EF4-FFF2-40B4-BE49-F238E27FC236}">
                <a16:creationId xmlns:a16="http://schemas.microsoft.com/office/drawing/2014/main" id="{FA131937-36A9-E446-A384-F09070C82B41}"/>
              </a:ext>
            </a:extLst>
          </p:cNvPr>
          <p:cNvCxnSpPr/>
          <p:nvPr/>
        </p:nvCxnSpPr>
        <p:spPr>
          <a:xfrm>
            <a:off x="381000" y="1524000"/>
            <a:ext cx="17526000" cy="0"/>
          </a:xfrm>
          <a:prstGeom prst="straightConnector1">
            <a:avLst/>
          </a:prstGeom>
          <a:ln w="38100" cap="flat" cmpd="sng" algn="ctr">
            <a:solidFill>
              <a:srgbClr val="254117"/>
            </a:solidFill>
            <a:prstDash val="solid"/>
          </a:ln>
        </p:spPr>
        <p:style>
          <a:lnRef idx="1">
            <a:schemeClr val="accent1"/>
          </a:lnRef>
          <a:fillRef idx="0">
            <a:schemeClr val="accent1"/>
          </a:fillRef>
          <a:effectRef idx="0">
            <a:schemeClr val="accent1"/>
          </a:effectRef>
          <a:fontRef idx="minor">
            <a:schemeClr val="tx1"/>
          </a:fontRef>
        </p:style>
      </p:cxnSp>
      <p:sp>
        <p:nvSpPr>
          <p:cNvPr id="600" name="L601"/>
          <p:cNvSpPr/>
          <p:nvPr/>
        </p:nvSpPr>
        <p:spPr>
          <a:xfrm>
            <a:off x="635000" y="1698625"/>
            <a:ext cx="3810000" cy="279400"/>
          </a:xfrm>
          <a:prstGeom prst="rect">
            <a:avLst/>
          </a:prstGeom>
          <a:noFill/>
          <a:ln w="0">
            <a:noFill/>
          </a:ln>
        </p:spPr>
        <p:txBody>
          <a:bodyPr wrap="square" lIns="0" tIns="0" rIns="0" bIns="0" anchor="b"/>
          <a:lstStyle/>
          <a:p>
            <a:pPr algn="l"/>
            <a:r>
              <a:rPr lang="en-GB" sz="1400" b="1">
                <a:solidFill>
                  <a:srgbClr val="3A7D44"/>
                </a:solidFill>
                <a:latin typeface="TT Fors"/>
              </a:rPr>
              <a:t>REVENUE PATH</a:t>
            </a:r>
          </a:p>
        </p:txBody>
      </p:sp>
      <p:sp>
        <p:nvSpPr>
          <p:cNvPr id="601" name="B602"/>
          <p:cNvSpPr/>
          <p:nvPr/>
        </p:nvSpPr>
        <p:spPr>
          <a:xfrm>
            <a:off x="635000" y="2019300"/>
            <a:ext cx="3873500" cy="1841500"/>
          </a:xfrm>
          <a:prstGeom prst="roundRect">
            <a:avLst>
              <a:gd name="adj" fmla="val 6000"/>
            </a:avLst>
          </a:prstGeom>
          <a:solidFill>
            <a:srgbClr val="254117"/>
          </a:solidFill>
          <a:ln w="0">
            <a:noFill/>
          </a:ln>
        </p:spPr>
        <p:txBody>
          <a:bodyPr wrap="square" lIns="91440" tIns="72000" rIns="91440" bIns="72000" anchor="ctr"/>
          <a:lstStyle/>
          <a:p>
            <a:pPr algn="ctr">
              <a:spcAft>
                <a:spcPts val="300"/>
              </a:spcAft>
            </a:pPr>
            <a:r>
              <a:rPr lang="en-GB" sz="2800" b="1">
                <a:solidFill>
                  <a:srgbClr val="FFFFFF"/>
                </a:solidFill>
                <a:latin typeface="ITC Avant Garde Gothic"/>
              </a:rPr>
              <a:t>+203 peds/day</a:t>
            </a:r>
          </a:p>
          <a:p>
            <a:pPr algn="ctr"/>
            <a:r>
              <a:rPr lang="en-GB" sz="1400">
                <a:solidFill>
                  <a:srgbClr val="FFFFFF">
                    <a:alpha val="80000"/>
                  </a:srgbClr>
                </a:solidFill>
                <a:latin typeface="TT Fors"/>
              </a:rPr>
              <a:t>from +1 SD streetlight increase</a:t>
            </a:r>
          </a:p>
        </p:txBody>
      </p:sp>
      <p:sp>
        <p:nvSpPr>
          <p:cNvPr id="602" name="V603"/>
          <p:cNvSpPr/>
          <p:nvPr/>
        </p:nvSpPr>
        <p:spPr>
          <a:xfrm>
            <a:off x="4533900" y="2711450"/>
            <a:ext cx="330200" cy="457200"/>
          </a:xfrm>
          <a:prstGeom prst="chevron">
            <a:avLst/>
          </a:prstGeom>
          <a:solidFill>
            <a:srgbClr val="3A7D44"/>
          </a:solidFill>
          <a:ln w="0">
            <a:noFill/>
          </a:ln>
        </p:spPr>
        <p:txBody>
          <a:bodyPr/>
          <a:lstStyle/>
          <a:p>
            <a:endParaRPr lang="en-GB">
              <a:solidFill>
                <a:srgbClr val="3A7D44"/>
              </a:solidFill>
            </a:endParaRPr>
          </a:p>
        </p:txBody>
      </p:sp>
      <p:sp>
        <p:nvSpPr>
          <p:cNvPr id="603" name="B604"/>
          <p:cNvSpPr/>
          <p:nvPr/>
        </p:nvSpPr>
        <p:spPr>
          <a:xfrm>
            <a:off x="4889500" y="2019300"/>
            <a:ext cx="3873500" cy="1841500"/>
          </a:xfrm>
          <a:prstGeom prst="roundRect">
            <a:avLst>
              <a:gd name="adj" fmla="val 6000"/>
            </a:avLst>
          </a:prstGeom>
          <a:solidFill>
            <a:srgbClr val="254117"/>
          </a:solidFill>
          <a:ln w="0">
            <a:noFill/>
          </a:ln>
        </p:spPr>
        <p:txBody>
          <a:bodyPr wrap="square" lIns="91440" tIns="72000" rIns="91440" bIns="72000" anchor="ctr"/>
          <a:lstStyle/>
          <a:p>
            <a:pPr algn="ctr">
              <a:spcAft>
                <a:spcPts val="300"/>
              </a:spcAft>
            </a:pPr>
            <a:r>
              <a:rPr lang="en-GB" sz="2800" b="1">
                <a:solidFill>
                  <a:srgbClr val="FFFFFF"/>
                </a:solidFill>
                <a:latin typeface="ITC Avant Garde Gothic"/>
              </a:rPr>
              <a:t>× 130 winter days</a:t>
            </a:r>
          </a:p>
          <a:p>
            <a:pPr algn="ctr"/>
            <a:r>
              <a:rPr lang="en-GB" sz="1400">
                <a:solidFill>
                  <a:srgbClr val="FFFFFF">
                    <a:alpha val="80000"/>
                  </a:srgbClr>
                </a:solidFill>
                <a:latin typeface="TT Fors"/>
              </a:rPr>
              <a:t>= 26,390 additional visits</a:t>
            </a:r>
          </a:p>
        </p:txBody>
      </p:sp>
      <p:sp>
        <p:nvSpPr>
          <p:cNvPr id="604" name="V605"/>
          <p:cNvSpPr/>
          <p:nvPr/>
        </p:nvSpPr>
        <p:spPr>
          <a:xfrm>
            <a:off x="8788400" y="2711450"/>
            <a:ext cx="330200" cy="457200"/>
          </a:xfrm>
          <a:prstGeom prst="chevron">
            <a:avLst/>
          </a:prstGeom>
          <a:solidFill>
            <a:srgbClr val="3A7D44"/>
          </a:solidFill>
          <a:ln w="0">
            <a:noFill/>
          </a:ln>
        </p:spPr>
        <p:txBody>
          <a:bodyPr/>
          <a:lstStyle/>
          <a:p>
            <a:endParaRPr lang="en-GB">
              <a:solidFill>
                <a:srgbClr val="3A7D44"/>
              </a:solidFill>
            </a:endParaRPr>
          </a:p>
        </p:txBody>
      </p:sp>
      <p:sp>
        <p:nvSpPr>
          <p:cNvPr id="605" name="B606"/>
          <p:cNvSpPr/>
          <p:nvPr/>
        </p:nvSpPr>
        <p:spPr>
          <a:xfrm>
            <a:off x="9144000" y="2019300"/>
            <a:ext cx="3873500" cy="1841500"/>
          </a:xfrm>
          <a:prstGeom prst="roundRect">
            <a:avLst>
              <a:gd name="adj" fmla="val 6000"/>
            </a:avLst>
          </a:prstGeom>
          <a:solidFill>
            <a:srgbClr val="254117"/>
          </a:solidFill>
          <a:ln w="0">
            <a:noFill/>
          </a:ln>
        </p:spPr>
        <p:txBody>
          <a:bodyPr wrap="square" lIns="91440" tIns="72000" rIns="91440" bIns="72000" anchor="ctr"/>
          <a:lstStyle/>
          <a:p>
            <a:pPr algn="ctr">
              <a:spcAft>
                <a:spcPts val="300"/>
              </a:spcAft>
            </a:pPr>
            <a:r>
              <a:rPr lang="en-GB" sz="2800" b="1">
                <a:solidFill>
                  <a:srgbClr val="FFFFFF"/>
                </a:solidFill>
                <a:latin typeface="ITC Avant Garde Gothic"/>
              </a:rPr>
              <a:t>½ buy a coffee</a:t>
            </a:r>
          </a:p>
          <a:p>
            <a:pPr algn="ctr"/>
            <a:r>
              <a:rPr lang="en-GB" sz="1400">
                <a:solidFill>
                  <a:srgbClr val="FFFFFF">
                    <a:alpha val="80000"/>
                  </a:srgbClr>
                </a:solidFill>
                <a:latin typeface="TT Fors"/>
              </a:rPr>
              <a:t>13,195 purchases @ £4 avg</a:t>
            </a:r>
          </a:p>
        </p:txBody>
      </p:sp>
      <p:sp>
        <p:nvSpPr>
          <p:cNvPr id="606" name="V607"/>
          <p:cNvSpPr/>
          <p:nvPr/>
        </p:nvSpPr>
        <p:spPr>
          <a:xfrm>
            <a:off x="13042900" y="2711450"/>
            <a:ext cx="330200" cy="457200"/>
          </a:xfrm>
          <a:prstGeom prst="chevron">
            <a:avLst/>
          </a:prstGeom>
          <a:solidFill>
            <a:srgbClr val="3A7D44"/>
          </a:solidFill>
          <a:ln w="0">
            <a:noFill/>
          </a:ln>
        </p:spPr>
        <p:txBody>
          <a:bodyPr/>
          <a:lstStyle/>
          <a:p>
            <a:endParaRPr lang="en-GB">
              <a:solidFill>
                <a:srgbClr val="3A7D44"/>
              </a:solidFill>
            </a:endParaRPr>
          </a:p>
        </p:txBody>
      </p:sp>
      <p:sp>
        <p:nvSpPr>
          <p:cNvPr id="607" name="B608"/>
          <p:cNvSpPr/>
          <p:nvPr/>
        </p:nvSpPr>
        <p:spPr>
          <a:xfrm>
            <a:off x="13398500" y="2019300"/>
            <a:ext cx="3873500" cy="1841500"/>
          </a:xfrm>
          <a:prstGeom prst="roundRect">
            <a:avLst>
              <a:gd name="adj" fmla="val 6000"/>
            </a:avLst>
          </a:prstGeom>
          <a:solidFill>
            <a:srgbClr val="3A7D44"/>
          </a:solidFill>
          <a:ln w="0">
            <a:noFill/>
          </a:ln>
        </p:spPr>
        <p:txBody>
          <a:bodyPr wrap="square" lIns="91440" tIns="72000" rIns="91440" bIns="72000" anchor="ctr"/>
          <a:lstStyle/>
          <a:p>
            <a:pPr algn="ctr">
              <a:spcAft>
                <a:spcPts val="300"/>
              </a:spcAft>
            </a:pPr>
            <a:r>
              <a:rPr lang="en-GB" sz="2800" b="1">
                <a:solidFill>
                  <a:srgbClr val="FFFFFF"/>
                </a:solidFill>
                <a:latin typeface="ITC Avant Garde Gothic"/>
              </a:rPr>
              <a:t>£52,780 / year</a:t>
            </a:r>
          </a:p>
          <a:p>
            <a:pPr algn="ctr"/>
            <a:r>
              <a:rPr lang="en-GB" sz="1400">
                <a:solidFill>
                  <a:srgbClr val="FFFFFF">
                    <a:alpha val="80000"/>
                  </a:srgbClr>
                </a:solidFill>
                <a:latin typeface="TT Fors"/>
              </a:rPr>
              <a:t>boost to local economy</a:t>
            </a:r>
          </a:p>
        </p:txBody>
      </p:sp>
      <p:sp>
        <p:nvSpPr>
          <p:cNvPr id="608" name="L609"/>
          <p:cNvSpPr/>
          <p:nvPr/>
        </p:nvSpPr>
        <p:spPr>
          <a:xfrm>
            <a:off x="635000" y="5918200"/>
            <a:ext cx="3810000" cy="279400"/>
          </a:xfrm>
          <a:prstGeom prst="rect">
            <a:avLst/>
          </a:prstGeom>
          <a:noFill/>
          <a:ln w="0">
            <a:noFill/>
          </a:ln>
        </p:spPr>
        <p:txBody>
          <a:bodyPr wrap="square" lIns="0" tIns="0" rIns="0" bIns="0" anchor="b"/>
          <a:lstStyle/>
          <a:p>
            <a:pPr algn="l"/>
            <a:r>
              <a:rPr lang="en-GB" sz="1400" b="1">
                <a:solidFill>
                  <a:srgbClr val="C0392B"/>
                </a:solidFill>
                <a:latin typeface="TT Fors"/>
              </a:rPr>
              <a:t>COST PATH</a:t>
            </a:r>
          </a:p>
        </p:txBody>
      </p:sp>
      <p:sp>
        <p:nvSpPr>
          <p:cNvPr id="609" name="B610"/>
          <p:cNvSpPr/>
          <p:nvPr/>
        </p:nvSpPr>
        <p:spPr>
          <a:xfrm>
            <a:off x="635000" y="6223000"/>
            <a:ext cx="3873500" cy="1841500"/>
          </a:xfrm>
          <a:prstGeom prst="roundRect">
            <a:avLst>
              <a:gd name="adj" fmla="val 6000"/>
            </a:avLst>
          </a:prstGeom>
          <a:solidFill>
            <a:srgbClr val="7B1F1F"/>
          </a:solidFill>
          <a:ln w="0">
            <a:noFill/>
          </a:ln>
        </p:spPr>
        <p:txBody>
          <a:bodyPr wrap="square" lIns="91440" tIns="72000" rIns="91440" bIns="72000" anchor="ctr"/>
          <a:lstStyle/>
          <a:p>
            <a:pPr algn="ctr">
              <a:spcAft>
                <a:spcPts val="300"/>
              </a:spcAft>
            </a:pPr>
            <a:r>
              <a:rPr lang="en-GB" sz="2800" b="1">
                <a:solidFill>
                  <a:srgbClr val="FFFFFF"/>
                </a:solidFill>
                <a:latin typeface="ITC Avant Garde Gothic"/>
              </a:rPr>
              <a:t>515 streetlamps</a:t>
            </a:r>
          </a:p>
          <a:p>
            <a:pPr algn="ctr"/>
            <a:r>
              <a:rPr lang="en-GB" sz="1400">
                <a:solidFill>
                  <a:srgbClr val="FFFFFF">
                    <a:alpha val="80000"/>
                  </a:srgbClr>
                </a:solidFill>
                <a:latin typeface="TT Fors"/>
              </a:rPr>
              <a:t>in Bristol central cluster [15]</a:t>
            </a:r>
          </a:p>
        </p:txBody>
      </p:sp>
      <p:sp>
        <p:nvSpPr>
          <p:cNvPr id="610" name="V611"/>
          <p:cNvSpPr/>
          <p:nvPr/>
        </p:nvSpPr>
        <p:spPr>
          <a:xfrm>
            <a:off x="4533900" y="6915150"/>
            <a:ext cx="330200" cy="457200"/>
          </a:xfrm>
          <a:prstGeom prst="chevron">
            <a:avLst/>
          </a:prstGeom>
          <a:solidFill>
            <a:srgbClr val="C0392B"/>
          </a:solidFill>
          <a:ln w="0">
            <a:noFill/>
          </a:ln>
        </p:spPr>
        <p:txBody>
          <a:bodyPr/>
          <a:lstStyle/>
          <a:p>
            <a:endParaRPr lang="en-GB">
              <a:solidFill>
                <a:srgbClr val="C0392B"/>
              </a:solidFill>
            </a:endParaRPr>
          </a:p>
        </p:txBody>
      </p:sp>
      <p:sp>
        <p:nvSpPr>
          <p:cNvPr id="611" name="B612"/>
          <p:cNvSpPr/>
          <p:nvPr/>
        </p:nvSpPr>
        <p:spPr>
          <a:xfrm>
            <a:off x="4889500" y="6223000"/>
            <a:ext cx="3873500" cy="1841500"/>
          </a:xfrm>
          <a:prstGeom prst="roundRect">
            <a:avLst>
              <a:gd name="adj" fmla="val 6000"/>
            </a:avLst>
          </a:prstGeom>
          <a:solidFill>
            <a:srgbClr val="7B1F1F"/>
          </a:solidFill>
          <a:ln w="0">
            <a:noFill/>
          </a:ln>
        </p:spPr>
        <p:txBody>
          <a:bodyPr wrap="square" lIns="91440" tIns="72000" rIns="91440" bIns="72000" anchor="ctr"/>
          <a:lstStyle/>
          <a:p>
            <a:pPr algn="ctr">
              <a:spcAft>
                <a:spcPts val="300"/>
              </a:spcAft>
            </a:pPr>
            <a:r>
              <a:rPr lang="en-GB" sz="2800" b="1">
                <a:solidFill>
                  <a:srgbClr val="FFFFFF"/>
                </a:solidFill>
                <a:latin typeface="ITC Avant Garde Gothic"/>
              </a:rPr>
              <a:t>× £350 each</a:t>
            </a:r>
          </a:p>
          <a:p>
            <a:pPr algn="ctr"/>
            <a:r>
              <a:rPr lang="en-GB" sz="1400" err="1">
                <a:solidFill>
                  <a:srgbClr val="FFFFFF">
                    <a:alpha val="80000"/>
                  </a:srgbClr>
                </a:solidFill>
                <a:latin typeface="TT Fors"/>
              </a:rPr>
              <a:t>avg</a:t>
            </a:r>
            <a:r>
              <a:rPr lang="en-GB" sz="1400">
                <a:solidFill>
                  <a:srgbClr val="FFFFFF">
                    <a:alpha val="80000"/>
                  </a:srgbClr>
                </a:solidFill>
                <a:latin typeface="TT Fors"/>
              </a:rPr>
              <a:t> LED upgrade cost [9]</a:t>
            </a:r>
          </a:p>
        </p:txBody>
      </p:sp>
      <p:sp>
        <p:nvSpPr>
          <p:cNvPr id="612" name="V613"/>
          <p:cNvSpPr/>
          <p:nvPr/>
        </p:nvSpPr>
        <p:spPr>
          <a:xfrm>
            <a:off x="8788400" y="6915150"/>
            <a:ext cx="330200" cy="457200"/>
          </a:xfrm>
          <a:prstGeom prst="chevron">
            <a:avLst/>
          </a:prstGeom>
          <a:solidFill>
            <a:srgbClr val="C0392B"/>
          </a:solidFill>
          <a:ln w="0">
            <a:noFill/>
          </a:ln>
        </p:spPr>
        <p:txBody>
          <a:bodyPr/>
          <a:lstStyle/>
          <a:p>
            <a:endParaRPr lang="en-GB">
              <a:solidFill>
                <a:srgbClr val="C0392B"/>
              </a:solidFill>
            </a:endParaRPr>
          </a:p>
        </p:txBody>
      </p:sp>
      <p:sp>
        <p:nvSpPr>
          <p:cNvPr id="613" name="B614"/>
          <p:cNvSpPr/>
          <p:nvPr/>
        </p:nvSpPr>
        <p:spPr>
          <a:xfrm>
            <a:off x="9144000" y="6223000"/>
            <a:ext cx="3873500" cy="1841500"/>
          </a:xfrm>
          <a:prstGeom prst="roundRect">
            <a:avLst>
              <a:gd name="adj" fmla="val 6000"/>
            </a:avLst>
          </a:prstGeom>
          <a:solidFill>
            <a:srgbClr val="C0392B"/>
          </a:solidFill>
          <a:ln w="0">
            <a:noFill/>
          </a:ln>
        </p:spPr>
        <p:txBody>
          <a:bodyPr wrap="square" lIns="91440" tIns="72000" rIns="91440" bIns="72000" anchor="ctr"/>
          <a:lstStyle/>
          <a:p>
            <a:pPr algn="ctr">
              <a:spcAft>
                <a:spcPts val="300"/>
              </a:spcAft>
            </a:pPr>
            <a:r>
              <a:rPr lang="en-GB" sz="2800" b="1">
                <a:solidFill>
                  <a:srgbClr val="FFFFFF"/>
                </a:solidFill>
                <a:latin typeface="ITC Avant Garde Gothic"/>
              </a:rPr>
              <a:t>£180,250 total</a:t>
            </a:r>
          </a:p>
          <a:p>
            <a:pPr algn="ctr"/>
            <a:r>
              <a:rPr lang="en-GB" sz="1400">
                <a:solidFill>
                  <a:srgbClr val="FFFFFF">
                    <a:alpha val="80000"/>
                  </a:srgbClr>
                </a:solidFill>
                <a:latin typeface="TT Fors"/>
              </a:rPr>
              <a:t>capital investment required</a:t>
            </a:r>
          </a:p>
        </p:txBody>
      </p:sp>
      <p:sp>
        <p:nvSpPr>
          <p:cNvPr id="614" name="T615"/>
          <p:cNvSpPr/>
          <p:nvPr/>
        </p:nvSpPr>
        <p:spPr>
          <a:xfrm rot="10800000">
            <a:off x="15157450" y="4051300"/>
            <a:ext cx="355600" cy="228600"/>
          </a:xfrm>
          <a:prstGeom prst="triangle">
            <a:avLst/>
          </a:prstGeom>
          <a:solidFill>
            <a:srgbClr val="3A7D44"/>
          </a:solidFill>
          <a:ln w="0">
            <a:noFill/>
          </a:ln>
        </p:spPr>
        <p:txBody>
          <a:bodyPr/>
          <a:lstStyle/>
          <a:p>
            <a:endParaRPr lang="en-GB">
              <a:solidFill>
                <a:srgbClr val="3A7D44"/>
              </a:solidFill>
            </a:endParaRPr>
          </a:p>
        </p:txBody>
      </p:sp>
      <p:sp>
        <p:nvSpPr>
          <p:cNvPr id="615" name="T616"/>
          <p:cNvSpPr/>
          <p:nvPr/>
        </p:nvSpPr>
        <p:spPr>
          <a:xfrm>
            <a:off x="15157450" y="6083300"/>
            <a:ext cx="355600" cy="228600"/>
          </a:xfrm>
          <a:prstGeom prst="triangle">
            <a:avLst/>
          </a:prstGeom>
          <a:solidFill>
            <a:srgbClr val="C0392B"/>
          </a:solidFill>
          <a:ln w="0">
            <a:noFill/>
          </a:ln>
        </p:spPr>
        <p:txBody>
          <a:bodyPr/>
          <a:lstStyle/>
          <a:p>
            <a:endParaRPr lang="en-GB">
              <a:solidFill>
                <a:srgbClr val="C0392B"/>
              </a:solidFill>
            </a:endParaRPr>
          </a:p>
        </p:txBody>
      </p:sp>
      <p:sp>
        <p:nvSpPr>
          <p:cNvPr id="616" name="V617"/>
          <p:cNvSpPr/>
          <p:nvPr/>
        </p:nvSpPr>
        <p:spPr>
          <a:xfrm>
            <a:off x="13042900" y="6915150"/>
            <a:ext cx="330200" cy="457200"/>
          </a:xfrm>
          <a:prstGeom prst="chevron">
            <a:avLst/>
          </a:prstGeom>
          <a:solidFill>
            <a:srgbClr val="C0392B"/>
          </a:solidFill>
          <a:ln w="0">
            <a:noFill/>
          </a:ln>
        </p:spPr>
        <p:txBody>
          <a:bodyPr/>
          <a:lstStyle/>
          <a:p>
            <a:endParaRPr lang="en-GB">
              <a:solidFill>
                <a:srgbClr val="C0392B"/>
              </a:solidFill>
            </a:endParaRPr>
          </a:p>
        </p:txBody>
      </p:sp>
      <p:sp>
        <p:nvSpPr>
          <p:cNvPr id="617" name="ROI"/>
          <p:cNvSpPr/>
          <p:nvPr/>
        </p:nvSpPr>
        <p:spPr>
          <a:xfrm>
            <a:off x="13398500" y="4305300"/>
            <a:ext cx="3873500" cy="1638300"/>
          </a:xfrm>
          <a:prstGeom prst="roundRect">
            <a:avLst>
              <a:gd name="adj" fmla="val 10000"/>
            </a:avLst>
          </a:prstGeom>
          <a:solidFill>
            <a:srgbClr val="254117"/>
          </a:solidFill>
          <a:ln w="38100">
            <a:solidFill>
              <a:srgbClr val="D4A017"/>
            </a:solidFill>
          </a:ln>
        </p:spPr>
        <p:txBody>
          <a:bodyPr wrap="square" lIns="72000" tIns="54000" rIns="72000" bIns="54000" anchor="ctr"/>
          <a:lstStyle/>
          <a:p>
            <a:pPr algn="ctr">
              <a:spcAft>
                <a:spcPts val="300"/>
              </a:spcAft>
            </a:pPr>
            <a:r>
              <a:rPr lang="en-GB" sz="4000" b="1">
                <a:solidFill>
                  <a:srgbClr val="FFFFFF"/>
                </a:solidFill>
                <a:latin typeface="ITC Avant Garde Gothic"/>
              </a:rPr>
              <a:t>3.4 Year ROI</a:t>
            </a:r>
          </a:p>
          <a:p>
            <a:pPr algn="ctr"/>
            <a:r>
              <a:rPr lang="en-GB" sz="1600">
                <a:solidFill>
                  <a:srgbClr val="FFFFFF">
                    <a:alpha val="80000"/>
                  </a:srgbClr>
                </a:solidFill>
                <a:latin typeface="TT Fors"/>
              </a:rPr>
              <a:t>£180,250 ÷ £52,780/yr</a:t>
            </a:r>
          </a:p>
        </p:txBody>
      </p:sp>
      <p:sp>
        <p:nvSpPr>
          <p:cNvPr id="618" name="Src"/>
          <p:cNvSpPr/>
          <p:nvPr/>
        </p:nvSpPr>
        <p:spPr>
          <a:xfrm>
            <a:off x="673100" y="9906000"/>
            <a:ext cx="17145000" cy="508000"/>
          </a:xfrm>
          <a:prstGeom prst="rect">
            <a:avLst/>
          </a:prstGeom>
          <a:noFill/>
          <a:ln w="0">
            <a:noFill/>
          </a:ln>
        </p:spPr>
        <p:txBody>
          <a:bodyPr wrap="square" lIns="0" tIns="0" rIns="0" bIns="0" anchor="t"/>
          <a:lstStyle/>
          <a:p>
            <a:r>
              <a:rPr lang="en-GB" sz="1400">
                <a:solidFill>
                  <a:srgbClr val="003400"/>
                </a:solidFill>
                <a:latin typeface="ITC Avant Garde Gothic" panose="020B0604020202020204" charset="0"/>
              </a:rPr>
              <a:t>Bristol City Council. Streetlights and street furniture. data.gov.uk dataset, 2024.[15] |  LED upgrade cost: Bristol City Council (publicsectorexecutive.com) [17]</a:t>
            </a:r>
          </a:p>
        </p:txBody>
      </p:sp>
    </p:spTree>
    <p:extLst>
      <p:ext uri="{BB962C8B-B14F-4D97-AF65-F5344CB8AC3E}">
        <p14:creationId xmlns:p14="http://schemas.microsoft.com/office/powerpoint/2010/main" val="1127908464"/>
      </p:ext>
    </p:extLst>
  </p:cSld>
  <p:clrMapOvr>
    <a:masterClrMapping/>
  </p:clrMapOvr>
  <mc:AlternateContent xmlns:mc="http://schemas.openxmlformats.org/markup-compatibility/2006" xmlns:p14="http://schemas.microsoft.com/office/powerpoint/2010/main">
    <mc:Choice Requires="p14">
      <p:transition p14:dur="0" advTm="16179"/>
    </mc:Choice>
    <mc:Fallback xmlns="">
      <p:transition advTm="16179"/>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TIMING" val="|12.1"/>
</p:tagLst>
</file>

<file path=ppt/tags/tag2.xml><?xml version="1.0" encoding="utf-8"?>
<p:tagLst xmlns:a="http://schemas.openxmlformats.org/drawingml/2006/main" xmlns:r="http://schemas.openxmlformats.org/officeDocument/2006/relationships" xmlns:p="http://schemas.openxmlformats.org/presentationml/2006/main">
  <p:tag name="TIMING" val="|4.9|2.9|4.6"/>
</p:tagLst>
</file>

<file path=ppt/tags/tag3.xml><?xml version="1.0" encoding="utf-8"?>
<p:tagLst xmlns:a="http://schemas.openxmlformats.org/drawingml/2006/main" xmlns:r="http://schemas.openxmlformats.org/officeDocument/2006/relationships" xmlns:p="http://schemas.openxmlformats.org/presentationml/2006/main">
  <p:tag name="TIMING" val="|11.5|8|9.8"/>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DAC80BE-ECD4-A74A-BE2A-B9DFA8D63A1E}">
  <we:reference id="wa200010001" version="1.0.0.1" store="en-US" storeType="OMEX"/>
  <we:alternateReferences>
    <we:reference id="WA200010001" version="1.0.0.1" store="" storeType="OMEX"/>
  </we:alternateReferences>
  <we:properties>
    <we:property name="claude.fileId" value="&quot;d111428d-97b8-4f5c-8001-89a09e46373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0</TotalTime>
  <Words>2673</Words>
  <Application>Microsoft Macintosh PowerPoint</Application>
  <PresentationFormat>Custom</PresentationFormat>
  <Paragraphs>373</Paragraphs>
  <Slides>23</Slides>
  <Notes>23</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23</vt:i4>
      </vt:variant>
    </vt:vector>
  </HeadingPairs>
  <TitlesOfParts>
    <vt:vector size="32" baseType="lpstr">
      <vt:lpstr>TT Fors</vt:lpstr>
      <vt:lpstr>Arial</vt:lpstr>
      <vt:lpstr>ITC Avant Garde Gothic</vt:lpstr>
      <vt:lpstr>Calibri</vt:lpstr>
      <vt:lpstr>Cambria Math</vt:lpstr>
      <vt:lpstr>Aptos</vt:lpstr>
      <vt:lpstr>Wingdings</vt:lpstr>
      <vt:lpstr>Courier New</vt:lpstr>
      <vt:lpstr>Office Theme</vt:lpstr>
      <vt:lpstr>How does darkness affect pedestrian and cyclist counts in Bristol?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Targeted Timing: The Morning Commute</vt:lpstr>
      <vt:lpstr>LED Streetlight Investment Plan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Gray Blue Modern Group Project Presentation</dc:title>
  <dc:creator>Thomas Tucker</dc:creator>
  <cp:lastModifiedBy>Shavarsh Melikyan</cp:lastModifiedBy>
  <cp:revision>3</cp:revision>
  <cp:lastPrinted>2026-03-27T21:30:13Z</cp:lastPrinted>
  <dcterms:created xsi:type="dcterms:W3CDTF">2006-08-16T00:00:00Z</dcterms:created>
  <dcterms:modified xsi:type="dcterms:W3CDTF">2026-09-18T15:46:10Z</dcterms:modified>
  <dc:identifier>DAHFDUbfghY</dc:identifier>
</cp:coreProperties>
</file>