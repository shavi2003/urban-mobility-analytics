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3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300" r:id="rId2"/>
    <p:sldId id="422" r:id="rId3"/>
    <p:sldId id="449" r:id="rId4"/>
    <p:sldId id="435" r:id="rId5"/>
    <p:sldId id="442" r:id="rId6"/>
    <p:sldId id="423" r:id="rId7"/>
    <p:sldId id="367" r:id="rId8"/>
    <p:sldId id="417" r:id="rId9"/>
    <p:sldId id="337" r:id="rId10"/>
    <p:sldId id="399" r:id="rId11"/>
    <p:sldId id="363" r:id="rId12"/>
    <p:sldId id="373" r:id="rId13"/>
    <p:sldId id="362" r:id="rId14"/>
    <p:sldId id="448" r:id="rId15"/>
    <p:sldId id="401" r:id="rId16"/>
    <p:sldId id="271" r:id="rId17"/>
    <p:sldId id="370" r:id="rId18"/>
    <p:sldId id="371" r:id="rId19"/>
    <p:sldId id="372" r:id="rId20"/>
    <p:sldId id="419" r:id="rId21"/>
    <p:sldId id="418" r:id="rId22"/>
    <p:sldId id="411" r:id="rId23"/>
    <p:sldId id="416" r:id="rId24"/>
  </p:sldIdLst>
  <p:sldSz cx="18288000" cy="10287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ITC Avant Garde Gothic" panose="020B0502020202020204"/>
      <p:regular r:id="rId27"/>
    </p:embeddedFont>
    <p:embeddedFont>
      <p:font typeface="TT Fors" panose="020B000303000102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940E11-42BC-67A4-2022-9D0B705E21F4}" name="Jayden Chew" initials="JC" userId="S::oe24604@bristol.ac.uk::f3c1470f-b48e-4c24-83d0-afb5834f3c18" providerId="AD"/>
  <p188:author id="{6F69A548-1BF0-F2F6-432E-EFDCBBF5D854}" name="Will Barry" initials="WB" userId="S::tk24074@bristol.ac.uk::0ddfa42d-67f9-45d0-88de-960620d414dc" providerId="AD"/>
  <p188:author id="{1489FC91-5970-2FD1-2437-C949B026372D}" name="Karan Dama" initials="KD" userId="S::op24337@bristol.ac.uk::e8abd350-41c3-4d2b-bc37-4de3543ee66b" providerId="AD"/>
  <p188:author id="{58479BB6-0957-36B8-3DB0-B41C749D0C0B}" name="Tom Tucker" initials="TT" userId="S::rr24442@bristol.ac.uk::91b4e36a-ad1d-43a6-ba27-28197b07390a" providerId="AD"/>
  <p188:author id="{75FF09BE-05A4-894B-90CB-E9A10AD0D6BB}" name="Shavarsh Melikyan" initials="SM" userId="S::fb23277@bristol.ac.uk::895adfc4-a1bb-408a-a889-c8dd392670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400"/>
    <a:srgbClr val="A8CFA8"/>
    <a:srgbClr val="003100"/>
    <a:srgbClr val="0C5D05"/>
    <a:srgbClr val="244016"/>
    <a:srgbClr val="407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627DE-C96F-5C48-A6A2-3F4B7A0CE8B4}" v="3289" dt="2026-04-23T03:40:05.620"/>
    <p1510:client id="{5ACEE3DA-9DE7-4AF8-AC33-D623E5586BFD}" v="2267" dt="2026-04-22T21:45:29.097"/>
    <p1510:client id="{879A1BB1-E8A4-DE4E-80D2-BCEE33B30715}" v="732" dt="2026-04-22T21:25:11.975"/>
    <p1510:client id="{B3C66D4A-64A9-4E75-BC32-99C78E4A3F79}" v="7003" dt="2026-04-22T19:05:23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53570683717865E-2"/>
          <c:y val="1.3791564546410793E-2"/>
          <c:w val="0.96831187517370765"/>
          <c:h val="0.82620198451408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Decrease %</c:v>
                </c:pt>
              </c:strCache>
            </c:strRef>
          </c:tx>
          <c:spPr>
            <a:solidFill>
              <a:srgbClr val="003400"/>
            </a:solidFill>
            <a:ln>
              <a:solidFill>
                <a:schemeClr val="accent1">
                  <a:alpha val="0"/>
                </a:schemeClr>
              </a:solidFill>
            </a:ln>
            <a:effectLst>
              <a:softEdge rad="0"/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-</a:t>
                    </a:r>
                    <a:fld id="{7B82B3AA-2BC4-5E49-A242-0958960C6C3C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B6F-FF4B-AFE8-D3DC141E37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</a:t>
                    </a:r>
                    <a:fld id="{E30EEEFD-B2C3-3740-AC6A-49376212CCD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B6F-FF4B-AFE8-D3DC141E37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-</a:t>
                    </a:r>
                    <a:fld id="{781F92EA-5BB7-1B45-8852-5012565C6986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B6F-FF4B-AFE8-D3DC141E37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1" i="0" u="none" strike="noStrike" kern="1200" baseline="0">
                    <a:solidFill>
                      <a:srgbClr val="0034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Cambridge Ped [4]</c:v>
                </c:pt>
                <c:pt idx="1">
                  <c:v>Birmingham Cyc  [4]</c:v>
                </c:pt>
                <c:pt idx="2">
                  <c:v>Leeds Cyc  [4]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53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F-FF4B-AFE8-D3DC141E37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7"/>
        <c:axId val="1002195135"/>
        <c:axId val="1017474879"/>
      </c:barChart>
      <c:catAx>
        <c:axId val="1002195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rgbClr val="003400"/>
                </a:solidFill>
                <a:effectLst>
                  <a:reflection endPos="0" dist="50800" dir="5400000" sy="-100000" algn="bl" rotWithShape="0"/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7474879"/>
        <c:crosses val="autoZero"/>
        <c:auto val="1"/>
        <c:lblAlgn val="ctr"/>
        <c:lblOffset val="100"/>
        <c:noMultiLvlLbl val="0"/>
      </c:catAx>
      <c:valAx>
        <c:axId val="1017474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2195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 algn="l">
              <a:defRPr sz="2400" b="1">
                <a:solidFill>
                  <a:srgbClr val="254117"/>
                </a:solidFill>
                <a:latin typeface="TT Fors"/>
              </a:defRPr>
            </a:pPr>
            <a:r>
              <a:rPr lang="en-GB" sz="2400" b="1">
                <a:solidFill>
                  <a:srgbClr val="254117"/>
                </a:solidFill>
                <a:latin typeface="TT Fors"/>
              </a:rPr>
              <a:t>Pedestrian Darkness Penalty by Hour (% Reduction)</a:t>
            </a:r>
          </a:p>
        </c:rich>
      </c:tx>
      <c:layout>
        <c:manualLayout>
          <c:xMode val="edge"/>
          <c:yMode val="edge"/>
          <c:x val="0.26547037504869614"/>
          <c:y val="6.5967114791235879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12043807870733933"/>
          <c:w val="0.98350824587706143"/>
          <c:h val="0.8"/>
        </c:manualLayout>
      </c:layout>
      <c:barChart>
        <c:barDir val="col"/>
        <c:grouping val="clustered"/>
        <c:varyColors val="1"/>
        <c:ser>
          <c:idx val="0"/>
          <c:order val="0"/>
          <c:tx>
            <c:v>Penalty</c:v>
          </c:tx>
          <c:spPr>
            <a:solidFill>
              <a:srgbClr val="254117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7A-6E4A-936A-822203897A34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17A-6E4A-936A-822203897A34}"/>
              </c:ext>
            </c:extLst>
          </c:dPt>
          <c:dPt>
            <c:idx val="2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17A-6E4A-936A-822203897A34}"/>
              </c:ext>
            </c:extLst>
          </c:dPt>
          <c:dPt>
            <c:idx val="3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17A-6E4A-936A-822203897A34}"/>
              </c:ext>
            </c:extLst>
          </c:dPt>
          <c:dPt>
            <c:idx val="4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17A-6E4A-936A-822203897A34}"/>
              </c:ext>
            </c:extLst>
          </c:dPt>
          <c:dPt>
            <c:idx val="5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A17A-6E4A-936A-822203897A3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254117"/>
                    </a:solidFill>
                    <a:latin typeface="TT Fors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05:00</c:v>
              </c:pt>
              <c:pt idx="1">
                <c:v>06:00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</c:strLit>
          </c:cat>
          <c:val>
            <c:numLit>
              <c:formatCode>0"%"</c:formatCode>
              <c:ptCount val="6"/>
              <c:pt idx="0">
                <c:v>63.4</c:v>
              </c:pt>
              <c:pt idx="1">
                <c:v>72.5</c:v>
              </c:pt>
              <c:pt idx="2">
                <c:v>23.2</c:v>
              </c:pt>
              <c:pt idx="3">
                <c:v>10.7</c:v>
              </c:pt>
              <c:pt idx="4">
                <c:v>13.5</c:v>
              </c:pt>
              <c:pt idx="5">
                <c:v>28</c:v>
              </c:pt>
            </c:numLit>
          </c:val>
          <c:extLst>
            <c:ext xmlns:c16="http://schemas.microsoft.com/office/drawing/2014/chart" uri="{C3380CC4-5D6E-409C-BE32-E72D297353CC}">
              <c16:uniqueId val="{0000000C-A17A-6E4A-936A-822203897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800" b="0">
                <a:solidFill>
                  <a:srgbClr val="254117"/>
                </a:solidFill>
                <a:latin typeface="TT Fors"/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0&quot;%&quot;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7235068777768487E-2"/>
          <c:w val="0.98350824587706143"/>
          <c:h val="0.83053751452437841"/>
        </c:manualLayout>
      </c:layout>
      <c:barChart>
        <c:barDir val="col"/>
        <c:grouping val="clustered"/>
        <c:varyColors val="1"/>
        <c:ser>
          <c:idx val="0"/>
          <c:order val="0"/>
          <c:tx>
            <c:v>Penalty</c:v>
          </c:tx>
          <c:spPr>
            <a:solidFill>
              <a:srgbClr val="254117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444-8947-B75E-2EE81BC10FD7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444-8947-B75E-2EE81BC10FD7}"/>
              </c:ext>
            </c:extLst>
          </c:dPt>
          <c:dPt>
            <c:idx val="2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444-8947-B75E-2EE81BC10FD7}"/>
              </c:ext>
            </c:extLst>
          </c:dPt>
          <c:dPt>
            <c:idx val="3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444-8947-B75E-2EE81BC10FD7}"/>
              </c:ext>
            </c:extLst>
          </c:dPt>
          <c:dPt>
            <c:idx val="4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444-8947-B75E-2EE81BC10FD7}"/>
              </c:ext>
            </c:extLst>
          </c:dPt>
          <c:dPt>
            <c:idx val="5"/>
            <c:invertIfNegative val="0"/>
            <c:bubble3D val="0"/>
            <c:spPr>
              <a:solidFill>
                <a:srgbClr val="3A7D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444-8947-B75E-2EE81BC10F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254117"/>
                    </a:solidFill>
                    <a:latin typeface="TT Fors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05:00</c:v>
              </c:pt>
              <c:pt idx="1">
                <c:v>06:00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</c:strLit>
          </c:cat>
          <c:val>
            <c:numLit>
              <c:formatCode>0"%"</c:formatCode>
              <c:ptCount val="6"/>
              <c:pt idx="0">
                <c:v>63.4</c:v>
              </c:pt>
              <c:pt idx="1">
                <c:v>72.5</c:v>
              </c:pt>
              <c:pt idx="2">
                <c:v>23.2</c:v>
              </c:pt>
              <c:pt idx="3">
                <c:v>10.7</c:v>
              </c:pt>
              <c:pt idx="4">
                <c:v>13.5</c:v>
              </c:pt>
              <c:pt idx="5">
                <c:v>28</c:v>
              </c:pt>
            </c:numLit>
          </c:val>
          <c:extLst>
            <c:ext xmlns:c16="http://schemas.microsoft.com/office/drawing/2014/chart" uri="{C3380CC4-5D6E-409C-BE32-E72D297353CC}">
              <c16:uniqueId val="{0000000C-C444-8947-B75E-2EE81BC10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"/>
        <c:axId val="2"/>
      </c:barChart>
      <c:barChart>
        <c:barDir val="col"/>
        <c:grouping val="clustered"/>
        <c:varyColors val="0"/>
        <c:ser>
          <c:idx val="1"/>
          <c:order val="1"/>
          <c:tx>
            <c:v>After +1 SD Streetlights</c:v>
          </c:tx>
          <c:spPr>
            <a:solidFill>
              <a:srgbClr val="1B5E2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C444-8947-B75E-2EE81BC10FD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C444-8947-B75E-2EE81BC10FD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C444-8947-B75E-2EE81BC10FD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C444-8947-B75E-2EE81BC10FD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C444-8947-B75E-2EE81BC10FD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C444-8947-B75E-2EE81BC10FD7}"/>
              </c:ext>
            </c:extLst>
          </c:dPt>
          <c:dLbls>
            <c:dLbl>
              <c:idx val="0"/>
              <c:layout>
                <c:manualLayout>
                  <c:x val="5.9220389805097452E-2"/>
                  <c:y val="3.69649918701528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444-8947-B75E-2EE81BC10FD7}"/>
                </c:ext>
              </c:extLst>
            </c:dLbl>
            <c:dLbl>
              <c:idx val="1"/>
              <c:layout>
                <c:manualLayout>
                  <c:x val="6.4467766116941536E-2"/>
                  <c:y val="4.89557998814714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444-8947-B75E-2EE81BC10FD7}"/>
                </c:ext>
              </c:extLst>
            </c:dLbl>
            <c:dLbl>
              <c:idx val="2"/>
              <c:layout>
                <c:manualLayout>
                  <c:x val="5.7721139430284861E-2"/>
                  <c:y val="2.334631065483323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444-8947-B75E-2EE81BC10FD7}"/>
                </c:ext>
              </c:extLst>
            </c:dLbl>
            <c:dLbl>
              <c:idx val="3"/>
              <c:layout>
                <c:manualLayout>
                  <c:x val="5.8470764617691157E-2"/>
                  <c:y val="-5.836577663708344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444-8947-B75E-2EE81BC10FD7}"/>
                </c:ext>
              </c:extLst>
            </c:dLbl>
            <c:dLbl>
              <c:idx val="4"/>
              <c:layout>
                <c:manualLayout>
                  <c:x val="5.8470764617691157E-2"/>
                  <c:y val="-3.891051775805562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444-8947-B75E-2EE81BC10F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1B5E20"/>
                    </a:solidFill>
                    <a:latin typeface="TT Fors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05:00</c:v>
              </c:pt>
              <c:pt idx="1">
                <c:v>06:00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</c:strLit>
          </c:cat>
          <c:val>
            <c:numLit>
              <c:formatCode>0"%"</c:formatCode>
              <c:ptCount val="6"/>
              <c:pt idx="0">
                <c:v>55.5</c:v>
              </c:pt>
              <c:pt idx="1">
                <c:v>66.400000000000006</c:v>
              </c:pt>
              <c:pt idx="2">
                <c:v>6.1</c:v>
              </c:pt>
              <c:pt idx="3">
                <c:v>0</c:v>
              </c:pt>
              <c:pt idx="4">
                <c:v>0</c:v>
              </c:pt>
              <c:pt idx="5">
                <c:v>28</c:v>
              </c:pt>
            </c:numLit>
          </c:val>
          <c:extLst>
            <c:ext xmlns:c16="http://schemas.microsoft.com/office/drawing/2014/chart" uri="{C3380CC4-5D6E-409C-BE32-E72D297353CC}">
              <c16:uniqueId val="{00000013-C444-8947-B75E-2EE81BC10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800" b="0">
                <a:solidFill>
                  <a:srgbClr val="254117"/>
                </a:solidFill>
                <a:latin typeface="TT Fors"/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0&quot;%&quot;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E090-2892-354B-ADBD-86A52505DE2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1AE2A-65C7-454A-A28C-8F2FBAFDB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88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05B3-6B10-4E2B-7911-314ED630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81DB4-A571-B7A2-C5B7-0B24D633A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832CB-405B-E49B-33F5-65CB2D19C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1738-D2BA-68DC-0F5C-C6ED08DA6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7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5225-F16D-DEA5-E0D5-99ACA6D4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CFBBE-4E49-CDA4-2256-38EC3A939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0D14A-DDF3-AC21-A171-CFDD0319F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5FF19-A372-EB3D-935F-D4FB2A287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8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653E-18D7-DB89-28D0-92E8C65D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32891-C0EA-0173-1665-C87CD59C2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29333-A225-D4EC-2C13-B2D1D565C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3EDF-2902-6F4B-0E47-D96E92611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2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E1EDE-755B-5455-2944-A4CA29DD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C77D5-49F0-DDEC-C105-592116D49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19DA6-C7A9-2F7D-28F2-BBF2AFF71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1A62-64EF-7788-319E-5B18C2DDE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01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15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4FEB-BAA2-B4AA-D2A4-ACEFA0C3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76A85-F2E9-41D3-A214-1F405FDB3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E97F6-2B7C-A207-328F-9043030BF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CB783-DF31-990F-00D0-3AD7D4AA5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08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02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10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31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79DB-37D9-AACD-C231-659F7987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1D07B-67F5-6034-189F-67575D17C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D4495-D88E-1C87-63FD-D1475191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47F7-6D66-E0C2-2108-465A8B65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21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59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79DB-37D9-AACD-C231-659F7987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1D07B-67F5-6034-189F-67575D17C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D4495-D88E-1C87-63FD-D1475191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47F7-6D66-E0C2-2108-465A8B65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7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A860-3C2C-BB07-8A70-EEA1AD2A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6032B-6820-CAFD-1C05-2A3383BC6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9B3-D28E-795A-2DB4-F80024387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CE245-8FEC-5EFD-8431-B39AB95A8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23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6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32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FE29-BB88-C68A-E4A0-EB59C685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751DE-E3B5-C723-F69D-ED46D3ED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E4C9D-9558-266E-9D94-1A1CB022E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081D-4E08-C480-2DA2-50CE2711D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1AE2A-65C7-454A-A28C-8F2FBAFDB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49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3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BA47-0AF5-38B2-838B-29CEC7760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70781"/>
            <a:ext cx="16936994" cy="4301782"/>
          </a:xfrm>
        </p:spPr>
        <p:txBody>
          <a:bodyPr>
            <a:normAutofit/>
          </a:bodyPr>
          <a:lstStyle/>
          <a:p>
            <a:r>
              <a:rPr lang="en-GB" sz="8800">
                <a:solidFill>
                  <a:srgbClr val="003400"/>
                </a:solidFill>
                <a:latin typeface="ITC Avant Garde Gothic"/>
                <a:ea typeface="Calibri"/>
                <a:cs typeface="Calibri"/>
              </a:rPr>
              <a:t>How does darkness affect pedestrian and cyclist counts in Bristol?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9F4D6-FA4B-0556-7A14-32CB6EB72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215" y="6542903"/>
            <a:ext cx="15727570" cy="51626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>
                <a:latin typeface="TT Fors"/>
              </a:rPr>
              <a:t>Assessing whether darkness discourages nighttime activity</a:t>
            </a:r>
          </a:p>
        </p:txBody>
      </p:sp>
      <p:sp>
        <p:nvSpPr>
          <p:cNvPr id="5" name="Accent Line">
            <a:extLst>
              <a:ext uri="{FF2B5EF4-FFF2-40B4-BE49-F238E27FC236}">
                <a16:creationId xmlns:a16="http://schemas.microsoft.com/office/drawing/2014/main" id="{96E97F53-E35F-A48F-D5A9-9EF99C75DE39}"/>
              </a:ext>
            </a:extLst>
          </p:cNvPr>
          <p:cNvSpPr/>
          <p:nvPr/>
        </p:nvSpPr>
        <p:spPr>
          <a:xfrm>
            <a:off x="1266568" y="5972564"/>
            <a:ext cx="15748040" cy="0"/>
          </a:xfrm>
          <a:prstGeom prst="line">
            <a:avLst/>
          </a:prstGeom>
          <a:ln w="25400">
            <a:solidFill>
              <a:srgbClr val="619365"/>
            </a:solidFill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Accent Line">
            <a:extLst>
              <a:ext uri="{FF2B5EF4-FFF2-40B4-BE49-F238E27FC236}">
                <a16:creationId xmlns:a16="http://schemas.microsoft.com/office/drawing/2014/main" id="{295DC12D-475F-D519-5BB8-394861E0157D}"/>
              </a:ext>
            </a:extLst>
          </p:cNvPr>
          <p:cNvSpPr/>
          <p:nvPr/>
        </p:nvSpPr>
        <p:spPr>
          <a:xfrm>
            <a:off x="1273391" y="7496068"/>
            <a:ext cx="15741217" cy="103475"/>
          </a:xfrm>
          <a:prstGeom prst="line">
            <a:avLst/>
          </a:prstGeom>
          <a:ln w="25400">
            <a:solidFill>
              <a:srgbClr val="619365"/>
            </a:solidFill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55F93F3-A529-D642-5906-37C143E1DFB4}"/>
              </a:ext>
            </a:extLst>
          </p:cNvPr>
          <p:cNvSpPr txBox="1">
            <a:spLocks/>
          </p:cNvSpPr>
          <p:nvPr/>
        </p:nvSpPr>
        <p:spPr>
          <a:xfrm>
            <a:off x="685800" y="8177169"/>
            <a:ext cx="15727570" cy="51626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TT Fors"/>
              </a:rPr>
              <a:t>Group members: Shavarsh, Karan, Will, Tom, Jayden</a:t>
            </a:r>
          </a:p>
        </p:txBody>
      </p:sp>
    </p:spTree>
    <p:extLst>
      <p:ext uri="{BB962C8B-B14F-4D97-AF65-F5344CB8AC3E}">
        <p14:creationId xmlns:p14="http://schemas.microsoft.com/office/powerpoint/2010/main" val="28632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182"/>
    </mc:Choice>
    <mc:Fallback xmlns="">
      <p:transition advTm="618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BC5F-8061-DD91-4F05-9E234BC4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673098" y="615951"/>
            <a:ext cx="1143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Why study darkness in Bristol?</a:t>
            </a:r>
          </a:p>
        </p:txBody>
      </p:sp>
      <p:sp>
        <p:nvSpPr>
          <p:cNvPr id="102" name="Accent Line"/>
          <p:cNvSpPr/>
          <p:nvPr/>
        </p:nvSpPr>
        <p:spPr>
          <a:xfrm>
            <a:off x="381000" y="1625600"/>
            <a:ext cx="17526000" cy="0"/>
          </a:xfrm>
          <a:prstGeom prst="line">
            <a:avLst/>
          </a:prstGeom>
          <a:ln w="12700">
            <a:solidFill>
              <a:srgbClr val="61936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Footnotes"/>
          <p:cNvSpPr txBox="1"/>
          <p:nvPr/>
        </p:nvSpPr>
        <p:spPr>
          <a:xfrm>
            <a:off x="673098" y="9036049"/>
            <a:ext cx="1694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spcAft>
                <a:spcPts val="50"/>
              </a:spcAft>
            </a:pPr>
            <a:r>
              <a:rPr lang="en-US" sz="2000">
                <a:solidFill>
                  <a:srgbClr val="4A7A4E"/>
                </a:solidFill>
                <a:latin typeface="TT Fors"/>
              </a:rPr>
              <a:t>[1] Bristol LED street lighting: </a:t>
            </a:r>
            <a:r>
              <a:rPr lang="en-US" sz="2000" err="1">
                <a:solidFill>
                  <a:srgbClr val="4A7A4E"/>
                </a:solidFill>
                <a:latin typeface="TT Fors"/>
              </a:rPr>
              <a:t>bristol.gov.uk</a:t>
            </a:r>
            <a:r>
              <a:rPr lang="en-US" sz="2000">
                <a:solidFill>
                  <a:srgbClr val="4A7A4E"/>
                </a:solidFill>
                <a:latin typeface="TT Fors"/>
              </a:rPr>
              <a:t>  </a:t>
            </a:r>
          </a:p>
          <a:p>
            <a:pPr>
              <a:spcAft>
                <a:spcPts val="50"/>
              </a:spcAft>
            </a:pPr>
            <a:r>
              <a:rPr lang="en-US" sz="2000">
                <a:solidFill>
                  <a:srgbClr val="4A7A4E"/>
                </a:solidFill>
                <a:latin typeface="TT Fors"/>
              </a:rPr>
              <a:t>[2] East Bristol </a:t>
            </a:r>
            <a:r>
              <a:rPr lang="en-US" sz="2000" err="1">
                <a:solidFill>
                  <a:srgbClr val="4A7A4E"/>
                </a:solidFill>
                <a:latin typeface="TT Fors"/>
              </a:rPr>
              <a:t>Liveable</a:t>
            </a:r>
            <a:r>
              <a:rPr lang="en-US" sz="2000">
                <a:solidFill>
                  <a:srgbClr val="4A7A4E"/>
                </a:solidFill>
                <a:latin typeface="TT Fors"/>
              </a:rPr>
              <a:t> </a:t>
            </a:r>
            <a:r>
              <a:rPr lang="en-US" sz="2000" err="1">
                <a:solidFill>
                  <a:srgbClr val="4A7A4E"/>
                </a:solidFill>
                <a:latin typeface="TT Fors"/>
              </a:rPr>
              <a:t>Neighbourhood</a:t>
            </a:r>
            <a:r>
              <a:rPr lang="en-US" sz="2000">
                <a:solidFill>
                  <a:srgbClr val="4A7A4E"/>
                </a:solidFill>
                <a:latin typeface="TT Fors"/>
              </a:rPr>
              <a:t> monitoring report</a:t>
            </a:r>
          </a:p>
          <a:p>
            <a:pPr>
              <a:spcAft>
                <a:spcPts val="50"/>
              </a:spcAft>
            </a:pPr>
            <a:r>
              <a:rPr lang="en-US" sz="2000">
                <a:solidFill>
                  <a:srgbClr val="4A7A4E"/>
                </a:solidFill>
                <a:latin typeface="TT Fors"/>
              </a:rPr>
              <a:t>[3] Bristol climate targets: </a:t>
            </a:r>
            <a:r>
              <a:rPr lang="en-US" sz="2000" err="1">
                <a:solidFill>
                  <a:srgbClr val="4A7A4E"/>
                </a:solidFill>
                <a:latin typeface="TT Fors"/>
              </a:rPr>
              <a:t>bristol.gov.uk</a:t>
            </a:r>
            <a:endParaRPr lang="en-US" sz="2000">
              <a:solidFill>
                <a:srgbClr val="4A7A4E"/>
              </a:solidFill>
              <a:latin typeface="TT Fors"/>
            </a:endParaRPr>
          </a:p>
          <a:p>
            <a:pPr>
              <a:spcBef>
                <a:spcPts val="0"/>
              </a:spcBef>
              <a:spcAft>
                <a:spcPts val="50"/>
              </a:spcAft>
              <a:buNone/>
            </a:pPr>
            <a:endParaRPr lang="en-US">
              <a:solidFill>
                <a:srgbClr val="4A7A4E"/>
              </a:solidFill>
              <a:latin typeface="TT Fors"/>
            </a:endParaRPr>
          </a:p>
        </p:txBody>
      </p:sp>
      <p:sp>
        <p:nvSpPr>
          <p:cNvPr id="200" name="StatBox1"/>
          <p:cNvSpPr/>
          <p:nvPr/>
        </p:nvSpPr>
        <p:spPr>
          <a:xfrm>
            <a:off x="673098" y="3271060"/>
            <a:ext cx="8356600" cy="5553769"/>
          </a:xfrm>
          <a:prstGeom prst="roundRect">
            <a:avLst>
              <a:gd name="adj" fmla="val 5000"/>
            </a:avLst>
          </a:prstGeom>
          <a:solidFill>
            <a:srgbClr val="254117"/>
          </a:solidFill>
          <a:ln>
            <a:noFill/>
          </a:ln>
        </p:spPr>
        <p:txBody>
          <a:bodyPr wrap="square" lIns="144000" tIns="108000" rIns="144000" bIns="108000" anchor="ctr"/>
          <a:lstStyle/>
          <a:p>
            <a:pPr algn="ctr">
              <a:spcBef>
                <a:spcPts val="0"/>
              </a:spcBef>
              <a:spcAft>
                <a:spcPts val="50"/>
              </a:spcAft>
              <a:buNone/>
            </a:pPr>
            <a:r>
              <a:rPr lang="en-GB" sz="6600">
                <a:solidFill>
                  <a:srgbClr val="FFFFFF"/>
                </a:solidFill>
                <a:latin typeface="TT Fors"/>
              </a:rPr>
              <a:t>£12m</a:t>
            </a:r>
          </a:p>
          <a:p>
            <a:pPr algn="ctr">
              <a:spcBef>
                <a:spcPts val="0"/>
              </a:spcBef>
              <a:spcAft>
                <a:spcPts val="5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TT Fors"/>
              </a:rPr>
              <a:t>LED upgrade</a:t>
            </a:r>
          </a:p>
          <a:p>
            <a:pPr algn="ctr">
              <a:spcBef>
                <a:spcPts val="0"/>
              </a:spcBef>
              <a:spcAft>
                <a:spcPts val="50"/>
              </a:spcAft>
              <a:buNone/>
            </a:pPr>
            <a:endParaRPr lang="en-GB" sz="2400">
              <a:solidFill>
                <a:srgbClr val="FFFFFF"/>
              </a:solidFill>
              <a:latin typeface="TT Fors"/>
            </a:endParaRP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A8D5AB"/>
                </a:solidFill>
                <a:latin typeface="TT Fors"/>
              </a:rPr>
              <a:t>2023 - 2025 </a:t>
            </a:r>
            <a:r>
              <a:rPr lang="en-GB" sz="1600">
                <a:solidFill>
                  <a:srgbClr val="A8D5AB"/>
                </a:solidFill>
                <a:latin typeface="TT Fors"/>
              </a:rPr>
              <a:t>[1]</a:t>
            </a:r>
            <a:endParaRPr lang="en-GB">
              <a:solidFill>
                <a:srgbClr val="A8D5AB"/>
              </a:solidFill>
              <a:latin typeface="TT Fors"/>
            </a:endParaRPr>
          </a:p>
        </p:txBody>
      </p:sp>
      <p:sp>
        <p:nvSpPr>
          <p:cNvPr id="201" name="StatBox2"/>
          <p:cNvSpPr/>
          <p:nvPr/>
        </p:nvSpPr>
        <p:spPr>
          <a:xfrm>
            <a:off x="9258298" y="3252000"/>
            <a:ext cx="8356600" cy="5553769"/>
          </a:xfrm>
          <a:prstGeom prst="roundRect">
            <a:avLst>
              <a:gd name="adj" fmla="val 5000"/>
            </a:avLst>
          </a:prstGeom>
          <a:solidFill>
            <a:srgbClr val="254117"/>
          </a:solidFill>
          <a:ln>
            <a:noFill/>
          </a:ln>
        </p:spPr>
        <p:txBody>
          <a:bodyPr wrap="square" lIns="144000" tIns="72000" rIns="144000" bIns="720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rgbClr val="C8E6CA"/>
                </a:solidFill>
                <a:latin typeface="TT Fors"/>
              </a:rPr>
              <a:t> </a:t>
            </a:r>
            <a:r>
              <a:rPr lang="en-GB" sz="6600" b="1">
                <a:solidFill>
                  <a:srgbClr val="FFFFFF"/>
                </a:solidFill>
                <a:latin typeface="ITC Avant Garde Gothic"/>
              </a:rPr>
              <a:t>7%</a:t>
            </a:r>
            <a:r>
              <a:rPr lang="en-GB" sz="2800">
                <a:solidFill>
                  <a:srgbClr val="FFFFFF"/>
                </a:solidFill>
                <a:latin typeface="TT Fors"/>
              </a:rPr>
              <a:t> walking increase</a:t>
            </a:r>
            <a:r>
              <a:rPr lang="en-GB" sz="2800">
                <a:solidFill>
                  <a:srgbClr val="A8D5AB"/>
                </a:solidFill>
                <a:latin typeface="TT Fors"/>
              </a:rPr>
              <a:t>    </a:t>
            </a:r>
          </a:p>
          <a:p>
            <a:pPr algn="ctr">
              <a:spcBef>
                <a:spcPts val="100"/>
              </a:spcBef>
              <a:spcAft>
                <a:spcPts val="50"/>
              </a:spcAft>
              <a:buNone/>
            </a:pPr>
            <a:r>
              <a:rPr lang="en-GB" sz="6600" b="1">
                <a:solidFill>
                  <a:srgbClr val="FFFFFF"/>
                </a:solidFill>
                <a:latin typeface="ITC Avant Garde Gothic"/>
              </a:rPr>
              <a:t>22%</a:t>
            </a:r>
            <a:r>
              <a:rPr lang="en-GB" sz="2800">
                <a:solidFill>
                  <a:srgbClr val="FFFFFF"/>
                </a:solidFill>
                <a:latin typeface="TT Fors"/>
              </a:rPr>
              <a:t> cycling increase</a:t>
            </a:r>
          </a:p>
          <a:p>
            <a:pPr algn="ctr">
              <a:spcBef>
                <a:spcPts val="100"/>
              </a:spcBef>
              <a:spcAft>
                <a:spcPts val="50"/>
              </a:spcAft>
              <a:buNone/>
            </a:pPr>
            <a:endParaRPr lang="en-GB" sz="2800">
              <a:solidFill>
                <a:srgbClr val="FFFFFF"/>
              </a:solidFill>
              <a:latin typeface="TT Fors"/>
            </a:endParaRP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A8D5AB"/>
                </a:solidFill>
                <a:latin typeface="TT Fors"/>
              </a:rPr>
              <a:t>Across East Bristol (2025) </a:t>
            </a:r>
            <a:r>
              <a:rPr lang="en-GB" sz="1600">
                <a:solidFill>
                  <a:srgbClr val="A8D5AB"/>
                </a:solidFill>
                <a:latin typeface="TT Fors"/>
              </a:rPr>
              <a:t>[2]</a:t>
            </a:r>
            <a:endParaRPr lang="en-GB">
              <a:solidFill>
                <a:srgbClr val="A8D5AB"/>
              </a:solidFill>
              <a:latin typeface="TT For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580DD0-B617-0785-065E-5E090BDDE13F}"/>
              </a:ext>
            </a:extLst>
          </p:cNvPr>
          <p:cNvSpPr txBox="1"/>
          <p:nvPr/>
        </p:nvSpPr>
        <p:spPr>
          <a:xfrm>
            <a:off x="673098" y="1890165"/>
            <a:ext cx="1620252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4000">
                <a:solidFill>
                  <a:srgbClr val="254117"/>
                </a:solidFill>
                <a:latin typeface="TT Fors"/>
              </a:rPr>
              <a:t>Carbon neutral by 2030 + 55% active travel </a:t>
            </a:r>
            <a:r>
              <a:rPr lang="en-GB" sz="1600">
                <a:solidFill>
                  <a:srgbClr val="254117"/>
                </a:solidFill>
                <a:latin typeface="TT Fors"/>
              </a:rPr>
              <a:t>[3]</a:t>
            </a:r>
            <a:endParaRPr lang="en-GB" sz="2000">
              <a:solidFill>
                <a:srgbClr val="254117"/>
              </a:solidFill>
              <a:latin typeface="TT Fors"/>
            </a:endParaRPr>
          </a:p>
        </p:txBody>
      </p:sp>
    </p:spTree>
    <p:extLst>
      <p:ext uri="{BB962C8B-B14F-4D97-AF65-F5344CB8AC3E}">
        <p14:creationId xmlns:p14="http://schemas.microsoft.com/office/powerpoint/2010/main" val="319083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3477"/>
    </mc:Choice>
    <mc:Fallback xmlns="">
      <p:transition advTm="2347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7C5B-D048-2BF9-EBC4-2058BEA8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>
            <a:extLst>
              <a:ext uri="{FF2B5EF4-FFF2-40B4-BE49-F238E27FC236}">
                <a16:creationId xmlns:a16="http://schemas.microsoft.com/office/drawing/2014/main" id="{4782B766-3895-07CC-9063-058B001129D1}"/>
              </a:ext>
            </a:extLst>
          </p:cNvPr>
          <p:cNvSpPr txBox="1"/>
          <p:nvPr/>
        </p:nvSpPr>
        <p:spPr>
          <a:xfrm>
            <a:off x="673098" y="615951"/>
            <a:ext cx="1143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What are our objectives?</a:t>
            </a:r>
          </a:p>
        </p:txBody>
      </p:sp>
      <p:sp>
        <p:nvSpPr>
          <p:cNvPr id="102" name="Accent Line">
            <a:extLst>
              <a:ext uri="{FF2B5EF4-FFF2-40B4-BE49-F238E27FC236}">
                <a16:creationId xmlns:a16="http://schemas.microsoft.com/office/drawing/2014/main" id="{01DFDF6B-6688-4E45-A182-CA0E35F1588E}"/>
              </a:ext>
            </a:extLst>
          </p:cNvPr>
          <p:cNvSpPr/>
          <p:nvPr/>
        </p:nvSpPr>
        <p:spPr>
          <a:xfrm>
            <a:off x="381000" y="1625600"/>
            <a:ext cx="17526000" cy="0"/>
          </a:xfrm>
          <a:prstGeom prst="line">
            <a:avLst/>
          </a:prstGeom>
          <a:ln w="12700">
            <a:solidFill>
              <a:srgbClr val="61936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Footnotes">
            <a:extLst>
              <a:ext uri="{FF2B5EF4-FFF2-40B4-BE49-F238E27FC236}">
                <a16:creationId xmlns:a16="http://schemas.microsoft.com/office/drawing/2014/main" id="{A1EFC5E1-5446-EA56-F1A5-7CDADC73ED5A}"/>
              </a:ext>
            </a:extLst>
          </p:cNvPr>
          <p:cNvSpPr txBox="1"/>
          <p:nvPr/>
        </p:nvSpPr>
        <p:spPr>
          <a:xfrm>
            <a:off x="673098" y="9334499"/>
            <a:ext cx="1694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50"/>
              </a:spcAft>
              <a:buNone/>
            </a:pPr>
            <a:r>
              <a:rPr lang="en-US" sz="2400">
                <a:solidFill>
                  <a:srgbClr val="4A7A4E"/>
                </a:solidFill>
                <a:latin typeface="TT Fors"/>
              </a:rPr>
              <a:t>[4] Fotios et al. (2024), odds-ratio sensitivity</a:t>
            </a:r>
            <a:endParaRPr lang="en-US" sz="3200">
              <a:solidFill>
                <a:srgbClr val="4A7A4E"/>
              </a:solidFill>
              <a:latin typeface="TT Fors"/>
            </a:endParaRPr>
          </a:p>
        </p:txBody>
      </p:sp>
      <p:sp>
        <p:nvSpPr>
          <p:cNvPr id="202" name="StudySection">
            <a:extLst>
              <a:ext uri="{FF2B5EF4-FFF2-40B4-BE49-F238E27FC236}">
                <a16:creationId xmlns:a16="http://schemas.microsoft.com/office/drawing/2014/main" id="{D4CFBAFA-0FC4-D50C-2CF5-51B9BCAFB2AA}"/>
              </a:ext>
            </a:extLst>
          </p:cNvPr>
          <p:cNvSpPr/>
          <p:nvPr/>
        </p:nvSpPr>
        <p:spPr>
          <a:xfrm>
            <a:off x="673098" y="1756935"/>
            <a:ext cx="16941800" cy="7346949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70175-5578-F5B6-2E0F-5CF2F217F0D1}"/>
              </a:ext>
            </a:extLst>
          </p:cNvPr>
          <p:cNvSpPr txBox="1"/>
          <p:nvPr/>
        </p:nvSpPr>
        <p:spPr>
          <a:xfrm>
            <a:off x="977870" y="2724249"/>
            <a:ext cx="816613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GB" sz="3600" b="1">
                <a:solidFill>
                  <a:srgbClr val="254117"/>
                </a:solidFill>
                <a:latin typeface="TT Fors"/>
              </a:rPr>
              <a:t>Gather local data</a:t>
            </a:r>
          </a:p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endParaRPr lang="en-GB" sz="3600" b="1">
              <a:solidFill>
                <a:srgbClr val="254117"/>
              </a:solidFill>
              <a:latin typeface="TT Fors"/>
            </a:endParaRPr>
          </a:p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endParaRPr lang="en-GB" sz="3600" b="1">
              <a:solidFill>
                <a:srgbClr val="254117"/>
              </a:solidFill>
              <a:latin typeface="TT Fors"/>
            </a:endParaRPr>
          </a:p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GB" sz="3600" b="1">
                <a:solidFill>
                  <a:srgbClr val="254117"/>
                </a:solidFill>
                <a:latin typeface="TT Fors"/>
              </a:rPr>
              <a:t>Compare case-control OR and time-series GLM</a:t>
            </a:r>
          </a:p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endParaRPr lang="en-GB" sz="3600" b="1">
              <a:solidFill>
                <a:srgbClr val="254117"/>
              </a:solidFill>
              <a:latin typeface="TT Fors"/>
            </a:endParaRPr>
          </a:p>
          <a:p>
            <a:pPr marL="457200" indent="-457200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endParaRPr lang="en-GB" sz="3600" b="1">
              <a:solidFill>
                <a:srgbClr val="254117"/>
              </a:solidFill>
              <a:latin typeface="TT Fors"/>
            </a:endParaRPr>
          </a:p>
          <a:p>
            <a:pPr marL="457200" indent="-45720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>
                <a:solidFill>
                  <a:srgbClr val="254117"/>
                </a:solidFill>
                <a:latin typeface="TT Fors"/>
              </a:rPr>
              <a:t>Inform lighting &amp; active-travel decisions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3B45814-C9ED-D3C5-5342-5ED6189596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949399"/>
              </p:ext>
            </p:extLst>
          </p:nvPr>
        </p:nvGraphicFramePr>
        <p:xfrm>
          <a:off x="7924800" y="2173716"/>
          <a:ext cx="10139680" cy="6767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2505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5303"/>
    </mc:Choice>
    <mc:Fallback xmlns="">
      <p:transition advTm="25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0540-6DA6-189E-6116-CE66E268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udySection">
            <a:extLst>
              <a:ext uri="{FF2B5EF4-FFF2-40B4-BE49-F238E27FC236}">
                <a16:creationId xmlns:a16="http://schemas.microsoft.com/office/drawing/2014/main" id="{78BB7F18-B0D2-4ECF-ACF4-683550357E79}"/>
              </a:ext>
            </a:extLst>
          </p:cNvPr>
          <p:cNvSpPr/>
          <p:nvPr/>
        </p:nvSpPr>
        <p:spPr>
          <a:xfrm>
            <a:off x="12432632" y="1650625"/>
            <a:ext cx="5487391" cy="7440860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9" name="StudySection">
            <a:extLst>
              <a:ext uri="{FF2B5EF4-FFF2-40B4-BE49-F238E27FC236}">
                <a16:creationId xmlns:a16="http://schemas.microsoft.com/office/drawing/2014/main" id="{0ADA6005-A82D-E973-3B29-37C1BBDF339F}"/>
              </a:ext>
            </a:extLst>
          </p:cNvPr>
          <p:cNvSpPr/>
          <p:nvPr/>
        </p:nvSpPr>
        <p:spPr>
          <a:xfrm>
            <a:off x="6396547" y="1629186"/>
            <a:ext cx="5487391" cy="7317919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4" name="StudySection">
            <a:extLst>
              <a:ext uri="{FF2B5EF4-FFF2-40B4-BE49-F238E27FC236}">
                <a16:creationId xmlns:a16="http://schemas.microsoft.com/office/drawing/2014/main" id="{CC340A6D-828A-FF22-0108-D65F70A55037}"/>
              </a:ext>
            </a:extLst>
          </p:cNvPr>
          <p:cNvSpPr/>
          <p:nvPr/>
        </p:nvSpPr>
        <p:spPr>
          <a:xfrm>
            <a:off x="360463" y="1669674"/>
            <a:ext cx="5487391" cy="7296482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E4285E-909C-BFE4-4E33-FE99897589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0181" y="2428916"/>
            <a:ext cx="5252292" cy="5609150"/>
          </a:xfrm>
          <a:prstGeom prst="rect">
            <a:avLst/>
          </a:prstGeom>
        </p:spPr>
      </p:pic>
      <p:pic>
        <p:nvPicPr>
          <p:cNvPr id="5" name="Picture 2" descr="A picture of VivaCity Labs AI sensors that captures traffic data">
            <a:extLst>
              <a:ext uri="{FF2B5EF4-FFF2-40B4-BE49-F238E27FC236}">
                <a16:creationId xmlns:a16="http://schemas.microsoft.com/office/drawing/2014/main" id="{CC01BDF9-6C28-78FC-8F6F-CF00D35788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55324"/>
          <a:stretch>
            <a:fillRect/>
          </a:stretch>
        </p:blipFill>
        <p:spPr bwMode="auto">
          <a:xfrm>
            <a:off x="6730626" y="3279444"/>
            <a:ext cx="4819231" cy="403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90DB85F-12C3-960B-BB29-23BEAFA2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40" y="3279444"/>
            <a:ext cx="5224436" cy="403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44C7B9-BC3F-0244-829D-68E581B3A28C}"/>
              </a:ext>
            </a:extLst>
          </p:cNvPr>
          <p:cNvSpPr txBox="1"/>
          <p:nvPr/>
        </p:nvSpPr>
        <p:spPr>
          <a:xfrm>
            <a:off x="508000" y="381000"/>
            <a:ext cx="4785284" cy="769441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4400" b="1">
                <a:solidFill>
                  <a:srgbClr val="254117"/>
                </a:solidFill>
                <a:latin typeface="ITC Avant Garde Gothic"/>
              </a:rPr>
              <a:t>Our Data Source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B31009-C63F-C443-AD5E-5571FEBEB46B}"/>
              </a:ext>
            </a:extLst>
          </p:cNvPr>
          <p:cNvCxnSpPr>
            <a:cxnSpLocks/>
          </p:cNvCxnSpPr>
          <p:nvPr/>
        </p:nvCxnSpPr>
        <p:spPr>
          <a:xfrm>
            <a:off x="508000" y="1150441"/>
            <a:ext cx="4785284" cy="0"/>
          </a:xfrm>
          <a:prstGeom prst="straightConnector1">
            <a:avLst/>
          </a:prstGeom>
          <a:ln w="38100" cap="flat" cmpd="sng" algn="ctr">
            <a:solidFill>
              <a:srgbClr val="61936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A2211E1-6724-FD46-A8D4-64FAF2ACC338}"/>
              </a:ext>
            </a:extLst>
          </p:cNvPr>
          <p:cNvSpPr/>
          <p:nvPr/>
        </p:nvSpPr>
        <p:spPr>
          <a:xfrm>
            <a:off x="639834" y="1893015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21C1D-6A17-3E4E-ACBE-99F05124C84F}"/>
              </a:ext>
            </a:extLst>
          </p:cNvPr>
          <p:cNvSpPr txBox="1"/>
          <p:nvPr/>
        </p:nvSpPr>
        <p:spPr>
          <a:xfrm>
            <a:off x="1650774" y="1976630"/>
            <a:ext cx="1746072" cy="53531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What?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5D3EC-5ACE-2D4A-A919-E4226784433F}"/>
              </a:ext>
            </a:extLst>
          </p:cNvPr>
          <p:cNvSpPr txBox="1"/>
          <p:nvPr/>
        </p:nvSpPr>
        <p:spPr>
          <a:xfrm>
            <a:off x="7588824" y="1968563"/>
            <a:ext cx="1454263" cy="57711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How?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777FD-7E26-804D-B7DC-7D9CEB0FEFBC}"/>
              </a:ext>
            </a:extLst>
          </p:cNvPr>
          <p:cNvSpPr txBox="1"/>
          <p:nvPr/>
        </p:nvSpPr>
        <p:spPr>
          <a:xfrm>
            <a:off x="13843886" y="1949070"/>
            <a:ext cx="1962442" cy="57923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Where?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832599-6FAB-F247-A9D7-391E85D114DB}"/>
              </a:ext>
            </a:extLst>
          </p:cNvPr>
          <p:cNvSpPr txBox="1"/>
          <p:nvPr/>
        </p:nvSpPr>
        <p:spPr>
          <a:xfrm>
            <a:off x="558799" y="8279665"/>
            <a:ext cx="5252292" cy="3880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444444"/>
                </a:solidFill>
                <a:latin typeface="TT Fors"/>
              </a:rPr>
              <a:t>Vivacity’s camera sensors </a:t>
            </a:r>
            <a:r>
              <a:rPr lang="en-US" sz="1600" b="1">
                <a:solidFill>
                  <a:srgbClr val="444444"/>
                </a:solidFill>
                <a:latin typeface="TT Fors"/>
              </a:rPr>
              <a:t>[5]</a:t>
            </a:r>
            <a:endParaRPr lang="en-US" sz="2800" b="1">
              <a:solidFill>
                <a:srgbClr val="444444"/>
              </a:solidFill>
              <a:latin typeface="TT For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52217D-5EB0-6446-A7CC-5848FBAD7906}"/>
              </a:ext>
            </a:extLst>
          </p:cNvPr>
          <p:cNvSpPr txBox="1"/>
          <p:nvPr/>
        </p:nvSpPr>
        <p:spPr>
          <a:xfrm>
            <a:off x="6514097" y="8279665"/>
            <a:ext cx="5252292" cy="3880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444444"/>
                </a:solidFill>
                <a:latin typeface="TT Fors"/>
              </a:rPr>
              <a:t>AI classification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8DBAEF-2167-2649-8889-08312E60FFE5}"/>
              </a:ext>
            </a:extLst>
          </p:cNvPr>
          <p:cNvSpPr txBox="1"/>
          <p:nvPr/>
        </p:nvSpPr>
        <p:spPr>
          <a:xfrm>
            <a:off x="12550181" y="8276374"/>
            <a:ext cx="5252292" cy="39131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444444"/>
                </a:solidFill>
                <a:latin typeface="TT Fors"/>
              </a:rPr>
              <a:t>58 deployed across Bristol </a:t>
            </a:r>
            <a:r>
              <a:rPr lang="en-US" sz="1600" b="1">
                <a:solidFill>
                  <a:srgbClr val="444444"/>
                </a:solidFill>
                <a:latin typeface="TT Fors"/>
              </a:rPr>
              <a:t>[6] </a:t>
            </a:r>
            <a:endParaRPr lang="en-US" sz="2800" b="1">
              <a:solidFill>
                <a:srgbClr val="444444"/>
              </a:solidFill>
              <a:latin typeface="TT For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B79E1DF-3057-CCEA-5B34-9DAF9FDD89F7}"/>
              </a:ext>
            </a:extLst>
          </p:cNvPr>
          <p:cNvSpPr/>
          <p:nvPr/>
        </p:nvSpPr>
        <p:spPr>
          <a:xfrm>
            <a:off x="6577884" y="1893016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5F4DF5-76DA-554C-C8AA-A0370E6CDC86}"/>
              </a:ext>
            </a:extLst>
          </p:cNvPr>
          <p:cNvSpPr/>
          <p:nvPr/>
        </p:nvSpPr>
        <p:spPr>
          <a:xfrm>
            <a:off x="12763276" y="1893015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19591-2006-AE43-B3F8-EE9223766FFF}"/>
              </a:ext>
            </a:extLst>
          </p:cNvPr>
          <p:cNvSpPr txBox="1"/>
          <p:nvPr/>
        </p:nvSpPr>
        <p:spPr>
          <a:xfrm>
            <a:off x="360463" y="9389930"/>
            <a:ext cx="16146585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>
                <a:solidFill>
                  <a:srgbClr val="444444"/>
                </a:solidFill>
                <a:latin typeface="TT Fors"/>
              </a:rPr>
              <a:t>[5] Vivacity Labs, </a:t>
            </a:r>
            <a:r>
              <a:rPr lang="en-US" sz="2000" i="1">
                <a:solidFill>
                  <a:srgbClr val="444444"/>
                </a:solidFill>
                <a:latin typeface="TT Fors"/>
              </a:rPr>
              <a:t>Sensor Platform Technical Brochure </a:t>
            </a:r>
          </a:p>
          <a:p>
            <a:r>
              <a:rPr lang="en-US" sz="2000">
                <a:solidFill>
                  <a:srgbClr val="444444"/>
                </a:solidFill>
                <a:latin typeface="TT Fors"/>
              </a:rPr>
              <a:t>[6] Tong &amp; Bode, </a:t>
            </a:r>
            <a:r>
              <a:rPr lang="en-US" sz="2000" i="1">
                <a:solidFill>
                  <a:srgbClr val="444444"/>
                </a:solidFill>
                <a:latin typeface="TT Fors"/>
              </a:rPr>
              <a:t>Hourly Traffic Counts… </a:t>
            </a:r>
            <a:r>
              <a:rPr lang="en-US" sz="2000">
                <a:solidFill>
                  <a:srgbClr val="444444"/>
                </a:solidFill>
                <a:latin typeface="TT Fors"/>
              </a:rPr>
              <a:t>Bristol, UK (</a:t>
            </a:r>
            <a:r>
              <a:rPr lang="en-US" sz="2000" err="1">
                <a:solidFill>
                  <a:srgbClr val="444444"/>
                </a:solidFill>
                <a:latin typeface="TT Fors"/>
              </a:rPr>
              <a:t>Zenodo</a:t>
            </a:r>
            <a:r>
              <a:rPr lang="en-US" sz="2000">
                <a:solidFill>
                  <a:srgbClr val="444444"/>
                </a:solidFill>
                <a:latin typeface="TT Fors"/>
              </a:rPr>
              <a:t>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89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735"/>
    </mc:Choice>
    <mc:Fallback xmlns="">
      <p:transition advTm="16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2200-6A8B-5463-800A-052EB3B8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udySection">
            <a:extLst>
              <a:ext uri="{FF2B5EF4-FFF2-40B4-BE49-F238E27FC236}">
                <a16:creationId xmlns:a16="http://schemas.microsoft.com/office/drawing/2014/main" id="{842D2F03-4F3B-AEAE-B4D4-94918498BEE4}"/>
              </a:ext>
            </a:extLst>
          </p:cNvPr>
          <p:cNvSpPr/>
          <p:nvPr/>
        </p:nvSpPr>
        <p:spPr>
          <a:xfrm>
            <a:off x="12440148" y="1941320"/>
            <a:ext cx="5487391" cy="7440860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9" name="StudySection">
            <a:extLst>
              <a:ext uri="{FF2B5EF4-FFF2-40B4-BE49-F238E27FC236}">
                <a16:creationId xmlns:a16="http://schemas.microsoft.com/office/drawing/2014/main" id="{7F9230DD-7F2A-499C-35DB-D160AF488E79}"/>
              </a:ext>
            </a:extLst>
          </p:cNvPr>
          <p:cNvSpPr/>
          <p:nvPr/>
        </p:nvSpPr>
        <p:spPr>
          <a:xfrm>
            <a:off x="6396547" y="1919882"/>
            <a:ext cx="5487391" cy="7317919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4" name="StudySection">
            <a:extLst>
              <a:ext uri="{FF2B5EF4-FFF2-40B4-BE49-F238E27FC236}">
                <a16:creationId xmlns:a16="http://schemas.microsoft.com/office/drawing/2014/main" id="{22CFEE4E-273F-7708-7FD7-DE5F96B8A695}"/>
              </a:ext>
            </a:extLst>
          </p:cNvPr>
          <p:cNvSpPr/>
          <p:nvPr/>
        </p:nvSpPr>
        <p:spPr>
          <a:xfrm>
            <a:off x="360463" y="1941320"/>
            <a:ext cx="5487391" cy="7296482"/>
          </a:xfrm>
          <a:prstGeom prst="roundRect">
            <a:avLst>
              <a:gd name="adj" fmla="val 3000"/>
            </a:avLst>
          </a:prstGeom>
          <a:solidFill>
            <a:srgbClr val="E8F0E4"/>
          </a:solidFill>
          <a:ln>
            <a:noFill/>
          </a:ln>
        </p:spPr>
        <p:txBody>
          <a:bodyPr wrap="square" lIns="180000" tIns="126000" rIns="180000" bIns="126000" anchor="t"/>
          <a:lstStyle/>
          <a:p>
            <a:pPr algn="ctr">
              <a:buNone/>
            </a:pPr>
            <a:endParaRPr lang="en-GB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3D8652-E09A-5D37-229C-641CEF7C6CF8}"/>
              </a:ext>
            </a:extLst>
          </p:cNvPr>
          <p:cNvSpPr txBox="1"/>
          <p:nvPr/>
        </p:nvSpPr>
        <p:spPr>
          <a:xfrm>
            <a:off x="508000" y="381000"/>
            <a:ext cx="7720383" cy="92333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400" b="1">
                <a:solidFill>
                  <a:srgbClr val="254117"/>
                </a:solidFill>
                <a:latin typeface="ITC Avant Garde Gothic"/>
              </a:rPr>
              <a:t>Limitations of the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98612D-F47F-C08F-A0C3-EE0326676D08}"/>
              </a:ext>
            </a:extLst>
          </p:cNvPr>
          <p:cNvCxnSpPr>
            <a:cxnSpLocks/>
          </p:cNvCxnSpPr>
          <p:nvPr/>
        </p:nvCxnSpPr>
        <p:spPr>
          <a:xfrm>
            <a:off x="508000" y="1150441"/>
            <a:ext cx="7982857" cy="0"/>
          </a:xfrm>
          <a:prstGeom prst="straightConnector1">
            <a:avLst/>
          </a:prstGeom>
          <a:ln w="38100" cap="flat" cmpd="sng" algn="ctr">
            <a:solidFill>
              <a:srgbClr val="61936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436B4BB-0CAB-EEA2-E90E-6DF996940600}"/>
              </a:ext>
            </a:extLst>
          </p:cNvPr>
          <p:cNvSpPr/>
          <p:nvPr/>
        </p:nvSpPr>
        <p:spPr>
          <a:xfrm>
            <a:off x="639834" y="2183711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F0ED9F-321E-62E8-74E6-1200CE07227A}"/>
              </a:ext>
            </a:extLst>
          </p:cNvPr>
          <p:cNvSpPr txBox="1"/>
          <p:nvPr/>
        </p:nvSpPr>
        <p:spPr>
          <a:xfrm>
            <a:off x="1600429" y="2253084"/>
            <a:ext cx="3219609" cy="53531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Darkness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BE31D0-B506-3149-A1B6-688003A9F560}"/>
              </a:ext>
            </a:extLst>
          </p:cNvPr>
          <p:cNvSpPr txBox="1"/>
          <p:nvPr/>
        </p:nvSpPr>
        <p:spPr>
          <a:xfrm>
            <a:off x="7472317" y="2267326"/>
            <a:ext cx="3335850" cy="57711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Rain/Fog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9E72381-F035-8C3E-F0BC-2F7AA9D83CBC}"/>
              </a:ext>
            </a:extLst>
          </p:cNvPr>
          <p:cNvSpPr/>
          <p:nvPr/>
        </p:nvSpPr>
        <p:spPr>
          <a:xfrm>
            <a:off x="6577884" y="2183712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D3C4D7-AB44-01FD-CBBA-8D3ACC94BDC5}"/>
              </a:ext>
            </a:extLst>
          </p:cNvPr>
          <p:cNvSpPr/>
          <p:nvPr/>
        </p:nvSpPr>
        <p:spPr>
          <a:xfrm>
            <a:off x="12763276" y="2183711"/>
            <a:ext cx="681224" cy="691348"/>
          </a:xfrm>
          <a:prstGeom prst="ellipse">
            <a:avLst/>
          </a:prstGeom>
          <a:solidFill>
            <a:srgbClr val="2541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ITC Avant Garde Gothic"/>
              </a:rPr>
              <a:t>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31C88F-B7A6-63CC-834F-98EF02BC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8" y="3395327"/>
            <a:ext cx="4876800" cy="4086225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0F7F7B30-9E2E-CB21-2999-AAC3C05561EA}"/>
              </a:ext>
            </a:extLst>
          </p:cNvPr>
          <p:cNvSpPr txBox="1"/>
          <p:nvPr/>
        </p:nvSpPr>
        <p:spPr>
          <a:xfrm>
            <a:off x="508000" y="1348393"/>
            <a:ext cx="1165566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Accuracy of the sensor counts are not 100% accurate</a:t>
            </a:r>
            <a:r>
              <a:rPr lang="en-US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[7]</a:t>
            </a:r>
            <a:endParaRPr lang="en-US" sz="3199" u="none" strike="noStrike" spc="-95">
              <a:solidFill>
                <a:srgbClr val="619365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CDB986-0913-2D06-4834-0A27E61FF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778" y="3386840"/>
            <a:ext cx="4886929" cy="409471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497552B-BF1C-0F23-44FF-665A2D68E6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848"/>
          <a:stretch>
            <a:fillRect/>
          </a:stretch>
        </p:blipFill>
        <p:spPr>
          <a:xfrm>
            <a:off x="12732862" y="3395327"/>
            <a:ext cx="4886929" cy="409471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F959DE0-C982-9740-8F25-CB2E46631F13}"/>
              </a:ext>
            </a:extLst>
          </p:cNvPr>
          <p:cNvSpPr txBox="1"/>
          <p:nvPr/>
        </p:nvSpPr>
        <p:spPr>
          <a:xfrm>
            <a:off x="13668372" y="2267326"/>
            <a:ext cx="3732089" cy="57711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4117"/>
                </a:solidFill>
                <a:latin typeface="ITC Avant Garde Gothic"/>
              </a:rPr>
              <a:t>Crowd Density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4A6F9-C5B8-70B8-0BF3-CE71130B6D83}"/>
              </a:ext>
            </a:extLst>
          </p:cNvPr>
          <p:cNvSpPr txBox="1"/>
          <p:nvPr/>
        </p:nvSpPr>
        <p:spPr>
          <a:xfrm>
            <a:off x="360463" y="9714610"/>
            <a:ext cx="16146585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>
                <a:solidFill>
                  <a:srgbClr val="444444"/>
                </a:solidFill>
                <a:latin typeface="TT Fors"/>
              </a:rPr>
              <a:t>[7] Cambridgeshire County Council Research Group. (2022). Vivacity Sensor Performance Monitoring: June 2022 data.</a:t>
            </a:r>
          </a:p>
        </p:txBody>
      </p:sp>
    </p:spTree>
    <p:extLst>
      <p:ext uri="{BB962C8B-B14F-4D97-AF65-F5344CB8AC3E}">
        <p14:creationId xmlns:p14="http://schemas.microsoft.com/office/powerpoint/2010/main" val="114007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9595"/>
    </mc:Choice>
    <mc:Fallback xmlns="">
      <p:transition advTm="2959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606"/>
            <a:ext cx="83248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2021606"/>
            <a:ext cx="8324850" cy="48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Grouping Sensors by 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04590-2852-67E5-F446-C6E8B0B90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0800" y="190500"/>
            <a:ext cx="7772400" cy="866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68ADE6-D5C6-1C3B-4DA7-F9B0C597B8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08"/>
          <a:stretch>
            <a:fillRect/>
          </a:stretch>
        </p:blipFill>
        <p:spPr>
          <a:xfrm>
            <a:off x="666750" y="3240741"/>
            <a:ext cx="8760375" cy="41388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045518-3066-2BCD-F769-33D74AFD663C}"/>
              </a:ext>
            </a:extLst>
          </p:cNvPr>
          <p:cNvSpPr txBox="1"/>
          <p:nvPr/>
        </p:nvSpPr>
        <p:spPr>
          <a:xfrm>
            <a:off x="544643" y="8045141"/>
            <a:ext cx="9666157" cy="478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See Technical note PDF for detail on how we did this.</a:t>
            </a:r>
          </a:p>
        </p:txBody>
      </p:sp>
    </p:spTree>
    <p:extLst>
      <p:ext uri="{BB962C8B-B14F-4D97-AF65-F5344CB8AC3E}">
        <p14:creationId xmlns:p14="http://schemas.microsoft.com/office/powerpoint/2010/main" val="141928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2665"/>
    </mc:Choice>
    <mc:Fallback xmlns="">
      <p:transition advTm="226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606"/>
            <a:ext cx="83248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2021606"/>
            <a:ext cx="8324850" cy="48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Addressing Missing Values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3416109"/>
            <a:ext cx="9848850" cy="6397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3600" u="none" strike="noStrike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Removed sensors with 7+ consecutive zero-count days across pedestrians, and cyclists.</a:t>
            </a:r>
          </a:p>
          <a:p>
            <a:pPr>
              <a:spcBef>
                <a:spcPct val="0"/>
              </a:spcBef>
            </a:pPr>
            <a:endParaRPr lang="en-US" sz="4400" u="none" strike="noStrike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Reduced </a:t>
            </a:r>
            <a:r>
              <a:rPr lang="en-US" sz="4400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44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ias </a:t>
            </a:r>
            <a:endParaRPr lang="en-US" sz="44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>
              <a:spcBef>
                <a:spcPct val="0"/>
              </a:spcBef>
            </a:pPr>
            <a:endParaRPr lang="en-US" sz="44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Increased accuracy 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br>
              <a:rPr lang="en-US" sz="32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</a:br>
            <a:endParaRPr lang="en-US" sz="3200" u="none" strike="noStrike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lvl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04590-2852-67E5-F446-C6E8B0B90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0800" y="190500"/>
            <a:ext cx="7772400" cy="866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465"/>
    </mc:Choice>
    <mc:Fallback xmlns="">
      <p:transition advTm="1346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88E2-FD1C-5CA0-5AE9-97D8A103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5FD6773-5A8E-913C-6CAB-56B46CF786B3}"/>
              </a:ext>
            </a:extLst>
          </p:cNvPr>
          <p:cNvSpPr txBox="1"/>
          <p:nvPr/>
        </p:nvSpPr>
        <p:spPr>
          <a:xfrm>
            <a:off x="666750" y="659606"/>
            <a:ext cx="83248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Processing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503BF2-2FA6-F628-FEF2-14CE60BE9D74}"/>
              </a:ext>
            </a:extLst>
          </p:cNvPr>
          <p:cNvSpPr txBox="1"/>
          <p:nvPr/>
        </p:nvSpPr>
        <p:spPr>
          <a:xfrm>
            <a:off x="666750" y="2021606"/>
            <a:ext cx="8324850" cy="48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Addressing Missing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16619-6FDE-82F6-123C-1417A054F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0800" y="162791"/>
            <a:ext cx="7772400" cy="8661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B00C8-B311-CBA7-67B1-6C67B4B421A1}"/>
              </a:ext>
            </a:extLst>
          </p:cNvPr>
          <p:cNvSpPr txBox="1"/>
          <p:nvPr/>
        </p:nvSpPr>
        <p:spPr>
          <a:xfrm>
            <a:off x="6091707" y="73795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D2C4A-6AEB-3E8B-3856-FCC3424C30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53"/>
          <a:stretch>
            <a:fillRect/>
          </a:stretch>
        </p:blipFill>
        <p:spPr>
          <a:xfrm>
            <a:off x="476922" y="3535126"/>
            <a:ext cx="9917867" cy="402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7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7006"/>
    </mc:Choice>
    <mc:Fallback xmlns="">
      <p:transition advTm="1700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29F7-C46F-2136-4EB2-0E8C7099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58A52-5EA6-B944-B857-C1A7328BEBAA}"/>
              </a:ext>
            </a:extLst>
          </p:cNvPr>
          <p:cNvSpPr txBox="1"/>
          <p:nvPr/>
        </p:nvSpPr>
        <p:spPr>
          <a:xfrm>
            <a:off x="659041" y="505557"/>
            <a:ext cx="12700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Case-Control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37FE2-131A-E043-8041-05E3618368BE}"/>
              </a:ext>
            </a:extLst>
          </p:cNvPr>
          <p:cNvSpPr txBox="1"/>
          <p:nvPr/>
        </p:nvSpPr>
        <p:spPr>
          <a:xfrm>
            <a:off x="673100" y="1714500"/>
            <a:ext cx="1270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619365"/>
                </a:solidFill>
                <a:latin typeface="ITC Avant Garde Gothic"/>
              </a:rPr>
              <a:t>Case-control design and odds ratio calculation</a:t>
            </a:r>
          </a:p>
        </p:txBody>
      </p:sp>
      <p:sp>
        <p:nvSpPr>
          <p:cNvPr id="50" name="Accent Line"/>
          <p:cNvSpPr/>
          <p:nvPr/>
        </p:nvSpPr>
        <p:spPr>
          <a:xfrm>
            <a:off x="685800" y="2194560"/>
            <a:ext cx="17526000" cy="0"/>
          </a:xfrm>
          <a:prstGeom prst="line">
            <a:avLst/>
          </a:prstGeom>
          <a:ln w="25400">
            <a:solidFill>
              <a:srgbClr val="61936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Card1_CaseHours"/>
          <p:cNvSpPr/>
          <p:nvPr/>
        </p:nvSpPr>
        <p:spPr>
          <a:xfrm>
            <a:off x="659041" y="3294345"/>
            <a:ext cx="8153400" cy="5563772"/>
          </a:xfrm>
          <a:prstGeom prst="roundRect">
            <a:avLst>
              <a:gd name="adj" fmla="val 5000"/>
            </a:avLst>
          </a:prstGeom>
          <a:solidFill>
            <a:srgbClr val="EAF2EA"/>
          </a:solidFill>
          <a:ln w="0">
            <a:noFill/>
          </a:ln>
        </p:spPr>
        <p:txBody>
          <a:bodyPr wrap="square" lIns="144000" tIns="900000" rIns="144000" bIns="108000" anchor="t"/>
          <a:lstStyle/>
          <a:p>
            <a:pPr marL="514350" indent="-514350" algn="l">
              <a:spcBef>
                <a:spcPts val="0"/>
              </a:spcBef>
              <a:spcAft>
                <a:spcPts val="200"/>
              </a:spcAft>
              <a:buAutoNum type="arabicPeriod"/>
            </a:pPr>
            <a:r>
              <a:rPr lang="en-US" sz="4000" b="1">
                <a:solidFill>
                  <a:srgbClr val="619365"/>
                </a:solidFill>
                <a:latin typeface="ITC Avant Garde Gothic"/>
              </a:rPr>
              <a:t>Case Hours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3200" b="1">
              <a:solidFill>
                <a:srgbClr val="619365"/>
              </a:solidFill>
              <a:latin typeface="ITC Avant Garde Gothic"/>
            </a:endParaRPr>
          </a:p>
          <a:p>
            <a:pPr marL="228600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</a:rPr>
              <a:t>Hours switch between light and dark throughout the year</a:t>
            </a:r>
          </a:p>
          <a:p>
            <a:pPr marL="685800" lvl="1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 b="1">
                <a:solidFill>
                  <a:srgbClr val="254117"/>
                </a:solidFill>
                <a:latin typeface="TT Fors"/>
              </a:rPr>
              <a:t>AM: </a:t>
            </a:r>
            <a:r>
              <a:rPr lang="en-US" sz="3200">
                <a:solidFill>
                  <a:srgbClr val="254117"/>
                </a:solidFill>
                <a:latin typeface="TT Fors"/>
              </a:rPr>
              <a:t>05:00–07:59</a:t>
            </a:r>
          </a:p>
          <a:p>
            <a:pPr marL="685800" lvl="1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 b="1">
                <a:solidFill>
                  <a:srgbClr val="254117"/>
                </a:solidFill>
                <a:latin typeface="TT Fors"/>
              </a:rPr>
              <a:t>PM: </a:t>
            </a:r>
            <a:r>
              <a:rPr lang="en-US" sz="3200">
                <a:solidFill>
                  <a:srgbClr val="254117"/>
                </a:solidFill>
                <a:latin typeface="TT Fors"/>
              </a:rPr>
              <a:t>17:00–19:59</a:t>
            </a:r>
          </a:p>
          <a:p>
            <a:pPr marL="228600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</a:rPr>
              <a:t>Twilight excluded (solar alt. 0° to −6°)</a:t>
            </a:r>
          </a:p>
        </p:txBody>
      </p:sp>
      <p:sp>
        <p:nvSpPr>
          <p:cNvPr id="81" name="Card2_ControlHours"/>
          <p:cNvSpPr/>
          <p:nvPr/>
        </p:nvSpPr>
        <p:spPr>
          <a:xfrm>
            <a:off x="9655172" y="3312740"/>
            <a:ext cx="8153400" cy="5545373"/>
          </a:xfrm>
          <a:prstGeom prst="roundRect">
            <a:avLst>
              <a:gd name="adj" fmla="val 5000"/>
            </a:avLst>
          </a:prstGeom>
          <a:solidFill>
            <a:srgbClr val="EAF2EA"/>
          </a:solidFill>
          <a:ln w="0">
            <a:noFill/>
          </a:ln>
        </p:spPr>
        <p:txBody>
          <a:bodyPr wrap="square" lIns="144000" tIns="900000" rIns="144000" bIns="10800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4000" b="1">
                <a:solidFill>
                  <a:srgbClr val="619365"/>
                </a:solidFill>
                <a:latin typeface="ITC Avant Garde Gothic"/>
              </a:rPr>
              <a:t>2. Control Hours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endParaRPr lang="en-US" sz="3200" b="1">
              <a:solidFill>
                <a:srgbClr val="619365"/>
              </a:solidFill>
              <a:latin typeface="ITC Avant Garde Gothic"/>
            </a:endParaRPr>
          </a:p>
          <a:p>
            <a:pPr marL="228600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</a:rPr>
              <a:t>Hours always light or always dark year-round</a:t>
            </a:r>
          </a:p>
          <a:p>
            <a:pPr marL="228600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endParaRPr lang="en-US" sz="3200">
              <a:solidFill>
                <a:srgbClr val="254117"/>
              </a:solidFill>
              <a:latin typeface="TT Fors"/>
            </a:endParaRPr>
          </a:p>
          <a:p>
            <a:pPr marL="228600" indent="-228600">
              <a:spcBef>
                <a:spcPts val="150"/>
              </a:spcBef>
              <a:spcAft>
                <a:spcPts val="80"/>
              </a:spcAft>
              <a:buFont typeface="Arial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</a:rPr>
              <a:t>11:00 </a:t>
            </a:r>
            <a:r>
              <a:rPr lang="en-US" sz="3200" b="1">
                <a:solidFill>
                  <a:srgbClr val="254117"/>
                </a:solidFill>
                <a:latin typeface="TT Fors"/>
              </a:rPr>
              <a:t>PM</a:t>
            </a:r>
            <a:r>
              <a:rPr lang="en-US" sz="3200">
                <a:solidFill>
                  <a:srgbClr val="254117"/>
                </a:solidFill>
                <a:latin typeface="TT Fors"/>
              </a:rPr>
              <a:t> – 2:00 </a:t>
            </a:r>
            <a:r>
              <a:rPr lang="en-US" sz="3200" b="1">
                <a:solidFill>
                  <a:srgbClr val="254117"/>
                </a:solidFill>
                <a:latin typeface="TT Fors"/>
              </a:rPr>
              <a:t>PM (Next Day)</a:t>
            </a:r>
          </a:p>
        </p:txBody>
      </p:sp>
      <p:pic>
        <p:nvPicPr>
          <p:cNvPr id="84" name="Graphic 84" descr="Case hours - light shifts seasonall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333" y="3312741"/>
            <a:ext cx="854024" cy="854024"/>
          </a:xfrm>
          <a:prstGeom prst="rect">
            <a:avLst/>
          </a:prstGeom>
        </p:spPr>
      </p:pic>
      <p:pic>
        <p:nvPicPr>
          <p:cNvPr id="85" name="Graphic 85" descr="Control hours - fixed base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0590" y="3378264"/>
            <a:ext cx="854024" cy="85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6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6810"/>
    </mc:Choice>
    <mc:Fallback xmlns="">
      <p:transition advTm="2681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DA8D-D741-D138-30AF-0C9FBD20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E316C5-9BFB-3940-152D-622536212EF2}"/>
              </a:ext>
            </a:extLst>
          </p:cNvPr>
          <p:cNvSpPr txBox="1"/>
          <p:nvPr/>
        </p:nvSpPr>
        <p:spPr>
          <a:xfrm>
            <a:off x="659041" y="483255"/>
            <a:ext cx="12700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Case-Control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AAD60-E34E-0304-455E-58B3AC34AC97}"/>
              </a:ext>
            </a:extLst>
          </p:cNvPr>
          <p:cNvSpPr txBox="1"/>
          <p:nvPr/>
        </p:nvSpPr>
        <p:spPr>
          <a:xfrm>
            <a:off x="673100" y="1714500"/>
            <a:ext cx="1270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619365"/>
                </a:solidFill>
                <a:latin typeface="ITC Avant Garde Gothic"/>
              </a:rPr>
              <a:t>Case-control design and odds ratio calculation</a:t>
            </a:r>
          </a:p>
        </p:txBody>
      </p:sp>
      <p:sp>
        <p:nvSpPr>
          <p:cNvPr id="50" name="Accent Line">
            <a:extLst>
              <a:ext uri="{FF2B5EF4-FFF2-40B4-BE49-F238E27FC236}">
                <a16:creationId xmlns:a16="http://schemas.microsoft.com/office/drawing/2014/main" id="{E866571B-06E9-5BD7-31E6-769023F3F893}"/>
              </a:ext>
            </a:extLst>
          </p:cNvPr>
          <p:cNvSpPr/>
          <p:nvPr/>
        </p:nvSpPr>
        <p:spPr>
          <a:xfrm>
            <a:off x="685800" y="2194560"/>
            <a:ext cx="17526000" cy="0"/>
          </a:xfrm>
          <a:prstGeom prst="line">
            <a:avLst/>
          </a:prstGeom>
          <a:ln w="25400">
            <a:solidFill>
              <a:srgbClr val="619365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820097-20A7-58A2-863A-E507507C1CC4}"/>
              </a:ext>
            </a:extLst>
          </p:cNvPr>
          <p:cNvGrpSpPr/>
          <p:nvPr/>
        </p:nvGrpSpPr>
        <p:grpSpPr>
          <a:xfrm>
            <a:off x="659041" y="2795732"/>
            <a:ext cx="16979900" cy="2850496"/>
            <a:chOff x="659041" y="2795732"/>
            <a:chExt cx="16979900" cy="2850496"/>
          </a:xfrm>
        </p:grpSpPr>
        <p:sp>
          <p:nvSpPr>
            <p:cNvPr id="83" name="EqBg">
              <a:extLst>
                <a:ext uri="{FF2B5EF4-FFF2-40B4-BE49-F238E27FC236}">
                  <a16:creationId xmlns:a16="http://schemas.microsoft.com/office/drawing/2014/main" id="{9840ED72-0F19-1236-5334-91B387A41247}"/>
                </a:ext>
              </a:extLst>
            </p:cNvPr>
            <p:cNvSpPr/>
            <p:nvPr/>
          </p:nvSpPr>
          <p:spPr>
            <a:xfrm>
              <a:off x="659041" y="2839528"/>
              <a:ext cx="16979900" cy="2730500"/>
            </a:xfrm>
            <a:prstGeom prst="roundRect">
              <a:avLst>
                <a:gd name="adj" fmla="val 6000"/>
              </a:avLst>
            </a:prstGeom>
            <a:solidFill>
              <a:srgbClr val="254117"/>
            </a:solidFill>
            <a:ln w="0">
              <a:noFill/>
            </a:ln>
          </p:spPr>
          <p:txBody>
            <a:bodyPr wrap="square" lIns="0" tIns="0" rIns="0" bIns="0" anchor="ctr"/>
            <a:lstStyle/>
            <a:p>
              <a:endParaRPr lang="en-US">
                <a:solidFill>
                  <a:srgbClr val="254117"/>
                </a:solidFill>
              </a:endParaRPr>
            </a:p>
          </p:txBody>
        </p:sp>
        <p:sp>
          <p:nvSpPr>
            <p:cNvPr id="90" name="EqLeft">
              <a:extLst>
                <a:ext uri="{FF2B5EF4-FFF2-40B4-BE49-F238E27FC236}">
                  <a16:creationId xmlns:a16="http://schemas.microsoft.com/office/drawing/2014/main" id="{0FF57582-E9C2-5914-AF68-603199BAE2A7}"/>
                </a:ext>
              </a:extLst>
            </p:cNvPr>
            <p:cNvSpPr txBox="1"/>
            <p:nvPr/>
          </p:nvSpPr>
          <p:spPr>
            <a:xfrm>
              <a:off x="700833" y="2915728"/>
              <a:ext cx="7878233" cy="2730500"/>
            </a:xfrm>
            <a:prstGeom prst="rect">
              <a:avLst/>
            </a:prstGeom>
            <a:noFill/>
          </p:spPr>
          <p:txBody>
            <a:bodyPr wrap="square" lIns="144000" tIns="72000" rIns="72000" bIns="72000" anchor="t"/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-US" sz="2400">
                  <a:solidFill>
                    <a:srgbClr val="A8CFA8"/>
                  </a:solidFill>
                  <a:latin typeface="ITC Avant Garde Gothic"/>
                </a:rPr>
                <a:t>Odds Ratio Equation </a:t>
              </a:r>
              <a:r>
                <a:rPr lang="en-US" sz="1200">
                  <a:solidFill>
                    <a:srgbClr val="A8CFA8"/>
                  </a:solidFill>
                  <a:latin typeface="ITC Avant Garde Gothic"/>
                </a:rPr>
                <a:t>[8] </a:t>
              </a:r>
            </a:p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endParaRPr lang="en-US" sz="2000">
                <a:solidFill>
                  <a:srgbClr val="A8CFA8"/>
                </a:solidFill>
                <a:latin typeface="ITC Avant Garde Gothic"/>
              </a:endParaRPr>
            </a:p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endParaRPr lang="en-US" sz="2000">
                <a:solidFill>
                  <a:srgbClr val="A8CFA8"/>
                </a:solidFill>
                <a:latin typeface="ITC Avant Garde Gothic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>
                  <a:solidFill>
                    <a:srgbClr val="FFFFFF"/>
                  </a:solidFill>
                  <a:latin typeface="Cambria Math"/>
                </a:rPr>
                <a:t>	OR = (A / B) / (C / D)</a:t>
              </a:r>
            </a:p>
          </p:txBody>
        </p:sp>
        <p:sp>
          <p:nvSpPr>
            <p:cNvPr id="91" name="EqDivider">
              <a:extLst>
                <a:ext uri="{FF2B5EF4-FFF2-40B4-BE49-F238E27FC236}">
                  <a16:creationId xmlns:a16="http://schemas.microsoft.com/office/drawing/2014/main" id="{6E70A4BA-B99E-FA24-6725-DD4AF430D1CB}"/>
                </a:ext>
              </a:extLst>
            </p:cNvPr>
            <p:cNvSpPr/>
            <p:nvPr/>
          </p:nvSpPr>
          <p:spPr>
            <a:xfrm>
              <a:off x="9108233" y="3157028"/>
              <a:ext cx="12700" cy="2095500"/>
            </a:xfrm>
            <a:prstGeom prst="rect">
              <a:avLst/>
            </a:prstGeom>
            <a:solidFill>
              <a:srgbClr val="61936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EqVars">
              <a:extLst>
                <a:ext uri="{FF2B5EF4-FFF2-40B4-BE49-F238E27FC236}">
                  <a16:creationId xmlns:a16="http://schemas.microsoft.com/office/drawing/2014/main" id="{33754AF4-78F9-84CE-0FCA-0A5DBFCA0DF3}"/>
                </a:ext>
              </a:extLst>
            </p:cNvPr>
            <p:cNvSpPr txBox="1"/>
            <p:nvPr/>
          </p:nvSpPr>
          <p:spPr>
            <a:xfrm>
              <a:off x="10133930" y="2795732"/>
              <a:ext cx="6891868" cy="2730500"/>
            </a:xfrm>
            <a:prstGeom prst="rect">
              <a:avLst/>
            </a:prstGeom>
            <a:noFill/>
          </p:spPr>
          <p:txBody>
            <a:bodyPr wrap="square" lIns="108000" tIns="72000" rIns="72000" bIns="72000" anchor="ctr"/>
            <a:lstStyle/>
            <a:p>
              <a:pPr algn="l">
                <a:spcBef>
                  <a:spcPts val="0"/>
                </a:spcBef>
                <a:spcAft>
                  <a:spcPts val="250"/>
                </a:spcAft>
                <a:buNone/>
              </a:pPr>
              <a:r>
                <a:rPr lang="en-US" sz="3600" b="1">
                  <a:solidFill>
                    <a:srgbClr val="FFFFFF"/>
                  </a:solidFill>
                  <a:latin typeface="Cambria Math"/>
                </a:rPr>
                <a:t>	</a:t>
              </a:r>
              <a:r>
                <a:rPr lang="en-US" sz="3200" b="1">
                  <a:solidFill>
                    <a:srgbClr val="FFFFFF"/>
                  </a:solidFill>
                  <a:latin typeface="Cambria Math"/>
                </a:rPr>
                <a:t>A</a:t>
              </a:r>
              <a:r>
                <a:rPr lang="en-US" sz="2000">
                  <a:solidFill>
                    <a:srgbClr val="A8CFA8"/>
                  </a:solidFill>
                  <a:latin typeface="TT Fors"/>
                </a:rPr>
                <a:t>  Count in case hour when </a:t>
              </a:r>
              <a:r>
                <a:rPr lang="en-US" sz="2000" b="1">
                  <a:solidFill>
                    <a:srgbClr val="FFFFFF"/>
                  </a:solidFill>
                  <a:latin typeface="TT Fors"/>
                </a:rPr>
                <a:t>light</a:t>
              </a:r>
            </a:p>
            <a:p>
              <a:pPr algn="l">
                <a:spcBef>
                  <a:spcPts val="0"/>
                </a:spcBef>
                <a:spcAft>
                  <a:spcPts val="25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mbria Math"/>
                </a:rPr>
                <a:t>	B</a:t>
              </a:r>
              <a:r>
                <a:rPr lang="en-US" sz="2000">
                  <a:solidFill>
                    <a:srgbClr val="A8CFA8"/>
                  </a:solidFill>
                  <a:latin typeface="TT Fors"/>
                </a:rPr>
                <a:t>  Count in case hour when </a:t>
              </a:r>
              <a:r>
                <a:rPr lang="en-US" sz="2000" b="1">
                  <a:solidFill>
                    <a:srgbClr val="FFFFFF"/>
                  </a:solidFill>
                  <a:latin typeface="TT Fors"/>
                </a:rPr>
                <a:t>dark</a:t>
              </a:r>
            </a:p>
            <a:p>
              <a:pPr algn="l">
                <a:spcBef>
                  <a:spcPts val="0"/>
                </a:spcBef>
                <a:spcAft>
                  <a:spcPts val="25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mbria Math"/>
                </a:rPr>
                <a:t>	C</a:t>
              </a:r>
              <a:r>
                <a:rPr lang="en-US" sz="2000">
                  <a:solidFill>
                    <a:srgbClr val="A8CFA8"/>
                  </a:solidFill>
                  <a:latin typeface="TT Fors"/>
                </a:rPr>
                <a:t>  Count in control hour when </a:t>
              </a:r>
              <a:r>
                <a:rPr lang="en-US" sz="2000" b="1">
                  <a:solidFill>
                    <a:srgbClr val="FFFFFF"/>
                  </a:solidFill>
                  <a:latin typeface="TT Fors"/>
                </a:rPr>
                <a:t>light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mbria Math"/>
                </a:rPr>
                <a:t>	D</a:t>
              </a:r>
              <a:r>
                <a:rPr lang="en-US" sz="2000">
                  <a:solidFill>
                    <a:srgbClr val="A8CFA8"/>
                  </a:solidFill>
                  <a:latin typeface="TT Fors"/>
                </a:rPr>
                <a:t>  Count in control hour when </a:t>
              </a:r>
              <a:r>
                <a:rPr lang="en-US" sz="2000" b="1">
                  <a:solidFill>
                    <a:srgbClr val="FFFFFF"/>
                  </a:solidFill>
                  <a:latin typeface="TT Fors"/>
                </a:rPr>
                <a:t>dark</a:t>
              </a:r>
            </a:p>
          </p:txBody>
        </p:sp>
      </p:grpSp>
      <p:sp>
        <p:nvSpPr>
          <p:cNvPr id="3" name="EqBg">
            <a:extLst>
              <a:ext uri="{FF2B5EF4-FFF2-40B4-BE49-F238E27FC236}">
                <a16:creationId xmlns:a16="http://schemas.microsoft.com/office/drawing/2014/main" id="{740DA212-8599-5BDA-7700-681E85611716}"/>
              </a:ext>
            </a:extLst>
          </p:cNvPr>
          <p:cNvSpPr/>
          <p:nvPr/>
        </p:nvSpPr>
        <p:spPr>
          <a:xfrm>
            <a:off x="659041" y="6291970"/>
            <a:ext cx="16979900" cy="2730500"/>
          </a:xfrm>
          <a:prstGeom prst="roundRect">
            <a:avLst>
              <a:gd name="adj" fmla="val 6000"/>
            </a:avLst>
          </a:prstGeom>
          <a:solidFill>
            <a:srgbClr val="254117"/>
          </a:solidFill>
          <a:ln w="0">
            <a:noFill/>
          </a:ln>
        </p:spPr>
        <p:txBody>
          <a:bodyPr wrap="square" lIns="0" tIns="0" rIns="0" bIns="0" anchor="ctr"/>
          <a:lstStyle/>
          <a:p>
            <a:endParaRPr lang="en-US">
              <a:solidFill>
                <a:srgbClr val="254117"/>
              </a:solidFill>
            </a:endParaRPr>
          </a:p>
        </p:txBody>
      </p:sp>
      <p:sp>
        <p:nvSpPr>
          <p:cNvPr id="4" name="EqLeft">
            <a:extLst>
              <a:ext uri="{FF2B5EF4-FFF2-40B4-BE49-F238E27FC236}">
                <a16:creationId xmlns:a16="http://schemas.microsoft.com/office/drawing/2014/main" id="{E627132D-6BCB-A7E5-FC7E-D1B47A5C403E}"/>
              </a:ext>
            </a:extLst>
          </p:cNvPr>
          <p:cNvSpPr txBox="1"/>
          <p:nvPr/>
        </p:nvSpPr>
        <p:spPr>
          <a:xfrm>
            <a:off x="741591" y="6368170"/>
            <a:ext cx="7878233" cy="2730500"/>
          </a:xfrm>
          <a:prstGeom prst="rect">
            <a:avLst/>
          </a:prstGeom>
          <a:noFill/>
        </p:spPr>
        <p:txBody>
          <a:bodyPr wrap="square" lIns="144000" tIns="72000" rIns="72000" bIns="72000" anchor="t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>
                <a:solidFill>
                  <a:srgbClr val="A8CFA8"/>
                </a:solidFill>
                <a:latin typeface="ITC Avant Garde Gothic"/>
              </a:rPr>
              <a:t>Pooled Mantel-Haenszel OR</a:t>
            </a:r>
            <a:r>
              <a:rPr lang="en-US" sz="1400">
                <a:solidFill>
                  <a:srgbClr val="A8CFA8"/>
                </a:solidFill>
                <a:latin typeface="ITC Avant Garde Gothic"/>
              </a:rPr>
              <a:t> [8][9]</a:t>
            </a:r>
            <a:endParaRPr lang="en-US" sz="2400">
              <a:solidFill>
                <a:srgbClr val="A8CFA8"/>
              </a:solidFill>
              <a:latin typeface="ITC Avant Garde Gothic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endParaRPr lang="en-US" sz="2400">
              <a:solidFill>
                <a:srgbClr val="A8CFA8"/>
              </a:solidFill>
              <a:latin typeface="ITC Avant Garde Gothic"/>
            </a:endParaRPr>
          </a:p>
          <a:p>
            <a:pPr algn="l">
              <a:lnSpc>
                <a:spcPts val="8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en-US" sz="1400">
              <a:solidFill>
                <a:srgbClr val="A8CFA8"/>
              </a:solidFill>
              <a:latin typeface="ITC Avant Garde Gothic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mbria Math"/>
              </a:rPr>
              <a:t>    </a:t>
            </a:r>
            <a:r>
              <a:rPr lang="en-US" sz="4000" b="1">
                <a:solidFill>
                  <a:srgbClr val="FFFFFF"/>
                </a:solidFill>
                <a:latin typeface="Cambria Math"/>
              </a:rPr>
              <a:t>               	     </a:t>
            </a:r>
            <a:r>
              <a:rPr lang="en-US" sz="4000" b="1" err="1">
                <a:solidFill>
                  <a:srgbClr val="FFFFFF"/>
                </a:solidFill>
                <a:latin typeface="Cambria Math"/>
              </a:rPr>
              <a:t>Σ</a:t>
            </a:r>
            <a:r>
              <a:rPr lang="en-US" sz="4000" b="1">
                <a:solidFill>
                  <a:srgbClr val="FFFFFF"/>
                </a:solidFill>
                <a:latin typeface="Cambria Math"/>
              </a:rPr>
              <a:t>(A∙D / N)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mbria Math"/>
              </a:rPr>
              <a:t>	</a:t>
            </a:r>
            <a:r>
              <a:rPr lang="en-US" sz="4000" b="1">
                <a:solidFill>
                  <a:srgbClr val="FFFFFF"/>
                </a:solidFill>
                <a:latin typeface="Cambria Math"/>
              </a:rPr>
              <a:t>MHᵂOR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= ─────────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FFFF"/>
                </a:solidFill>
                <a:latin typeface="Cambria Math"/>
              </a:rPr>
              <a:t>                  	     </a:t>
            </a:r>
            <a:r>
              <a:rPr lang="en-US" sz="4000" b="1" err="1">
                <a:solidFill>
                  <a:srgbClr val="FFFFFF"/>
                </a:solidFill>
                <a:latin typeface="Cambria Math"/>
              </a:rPr>
              <a:t>Σ</a:t>
            </a:r>
            <a:r>
              <a:rPr lang="en-US" sz="4000" b="1">
                <a:solidFill>
                  <a:srgbClr val="FFFFFF"/>
                </a:solidFill>
                <a:latin typeface="Cambria Math"/>
              </a:rPr>
              <a:t>(B∙C / N)</a:t>
            </a:r>
          </a:p>
        </p:txBody>
      </p:sp>
      <p:sp>
        <p:nvSpPr>
          <p:cNvPr id="6" name="EqDivider">
            <a:extLst>
              <a:ext uri="{FF2B5EF4-FFF2-40B4-BE49-F238E27FC236}">
                <a16:creationId xmlns:a16="http://schemas.microsoft.com/office/drawing/2014/main" id="{8171D0E1-82B9-95B0-5DBB-83BC52406C8E}"/>
              </a:ext>
            </a:extLst>
          </p:cNvPr>
          <p:cNvSpPr/>
          <p:nvPr/>
        </p:nvSpPr>
        <p:spPr>
          <a:xfrm>
            <a:off x="9108233" y="6609470"/>
            <a:ext cx="12700" cy="2095500"/>
          </a:xfrm>
          <a:prstGeom prst="rect">
            <a:avLst/>
          </a:prstGeom>
          <a:solidFill>
            <a:srgbClr val="61936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EqVars">
            <a:extLst>
              <a:ext uri="{FF2B5EF4-FFF2-40B4-BE49-F238E27FC236}">
                <a16:creationId xmlns:a16="http://schemas.microsoft.com/office/drawing/2014/main" id="{3C89E983-3BA5-2C77-1206-E74CDD0689CB}"/>
              </a:ext>
            </a:extLst>
          </p:cNvPr>
          <p:cNvSpPr txBox="1"/>
          <p:nvPr/>
        </p:nvSpPr>
        <p:spPr>
          <a:xfrm>
            <a:off x="10133930" y="6248174"/>
            <a:ext cx="6891868" cy="2730500"/>
          </a:xfrm>
          <a:prstGeom prst="rect">
            <a:avLst/>
          </a:prstGeom>
          <a:noFill/>
        </p:spPr>
        <p:txBody>
          <a:bodyPr wrap="square" lIns="108000" tIns="72000" rIns="72000" bIns="72000" anchor="ctr"/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mbria Math"/>
              </a:rPr>
              <a:t>A, B, C, D  </a:t>
            </a:r>
            <a:r>
              <a:rPr lang="en-US" sz="2000">
                <a:solidFill>
                  <a:srgbClr val="A8CFA8"/>
                </a:solidFill>
                <a:latin typeface="TT Fors"/>
              </a:rPr>
              <a:t>Per-pair 2×2 table cells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mbria Math"/>
              </a:rPr>
              <a:t>N</a:t>
            </a:r>
            <a:r>
              <a:rPr lang="en-US" sz="2000">
                <a:solidFill>
                  <a:srgbClr val="A8CFA8"/>
                </a:solidFill>
                <a:latin typeface="TT Fors"/>
              </a:rPr>
              <a:t>  =  A + B + C + 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err="1">
                <a:solidFill>
                  <a:srgbClr val="FFFFFF"/>
                </a:solidFill>
                <a:latin typeface="Cambria Math"/>
              </a:rPr>
              <a:t>Σ</a:t>
            </a:r>
            <a:r>
              <a:rPr lang="en-US" sz="2400">
                <a:solidFill>
                  <a:srgbClr val="A8CFA8"/>
                </a:solidFill>
                <a:latin typeface="TT Fors"/>
              </a:rPr>
              <a:t> </a:t>
            </a:r>
            <a:r>
              <a:rPr lang="en-US" sz="2000">
                <a:solidFill>
                  <a:srgbClr val="A8CFA8"/>
                </a:solidFill>
                <a:latin typeface="TT Fors"/>
              </a:rPr>
              <a:t> Over all valid hour pairs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2D740-6B35-5A09-9D9E-4C546F17DDDE}"/>
              </a:ext>
            </a:extLst>
          </p:cNvPr>
          <p:cNvSpPr txBox="1"/>
          <p:nvPr/>
        </p:nvSpPr>
        <p:spPr>
          <a:xfrm>
            <a:off x="363398" y="9285117"/>
            <a:ext cx="1666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4A7A4E"/>
                </a:solidFill>
                <a:latin typeface="TT Fors"/>
              </a:rPr>
              <a:t>[8] Fotios et al. (2024), odds-ratio sensitivity </a:t>
            </a:r>
          </a:p>
          <a:p>
            <a:r>
              <a:rPr lang="en-US" sz="2400">
                <a:solidFill>
                  <a:srgbClr val="4A7A4E"/>
                </a:solidFill>
                <a:latin typeface="TT Fors"/>
              </a:rPr>
              <a:t>[9] Mantel, N. and Haenszel, W. (1959) Journal of the National Cancer Institute, 22(4), 719-748.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2796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7995"/>
    </mc:Choice>
    <mc:Fallback xmlns="">
      <p:transition advTm="4799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29F7-C46F-2136-4EB2-0E8C7099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1430000" cy="8128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r>
              <a:rPr lang="en-US" sz="4400">
                <a:solidFill>
                  <a:srgbClr val="254117"/>
                </a:solidFill>
                <a:latin typeface="ITC Avant Garde Gothic"/>
              </a:rPr>
              <a:t>Generalised Linear Model: Why?</a:t>
            </a:r>
          </a:p>
        </p:txBody>
      </p:sp>
      <p:sp>
        <p:nvSpPr>
          <p:cNvPr id="4" name="Line"/>
          <p:cNvSpPr/>
          <p:nvPr/>
        </p:nvSpPr>
        <p:spPr>
          <a:xfrm>
            <a:off x="609600" y="1803400"/>
            <a:ext cx="17068800" cy="25400"/>
          </a:xfrm>
          <a:prstGeom prst="rect">
            <a:avLst/>
          </a:prstGeom>
          <a:solidFill>
            <a:srgbClr val="6193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3593F0-E213-0E92-0E03-05B8885E681C}"/>
              </a:ext>
            </a:extLst>
          </p:cNvPr>
          <p:cNvSpPr txBox="1"/>
          <p:nvPr/>
        </p:nvSpPr>
        <p:spPr>
          <a:xfrm>
            <a:off x="612913" y="2575891"/>
            <a:ext cx="13893727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Outcome = pedestrian counts (discrete and non negative)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Data is </a:t>
            </a:r>
            <a:r>
              <a:rPr lang="en-GB" sz="3600" err="1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overdispersed</a:t>
            </a: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 (variance &gt; mean)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Includes: time, weather</a:t>
            </a:r>
            <a:r>
              <a:rPr lang="en-GB" sz="1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[10][11] </a:t>
            </a:r>
            <a:r>
              <a:rPr lang="en-GB" sz="28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,</a:t>
            </a: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lags, darkness</a:t>
            </a:r>
          </a:p>
          <a:p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Interpretable effects (percentage change)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Link: log(E[ped])</a:t>
            </a:r>
          </a:p>
          <a:p>
            <a:pPr marL="285750" indent="-285750">
              <a:buFont typeface="Wingdings"/>
              <a:buChar char="Ø"/>
            </a:pPr>
            <a:endParaRPr lang="en-GB" sz="3600">
              <a:solidFill>
                <a:srgbClr val="4D6027"/>
              </a:solidFill>
              <a:latin typeface="ITC Avant Garde Gothic"/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8CD4B-5BEF-5912-F971-8AB69742D730}"/>
              </a:ext>
            </a:extLst>
          </p:cNvPr>
          <p:cNvSpPr txBox="1"/>
          <p:nvPr/>
        </p:nvSpPr>
        <p:spPr>
          <a:xfrm>
            <a:off x="15567102" y="1159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436CE-CF2F-F1AD-6AAD-88FD314DC27C}"/>
              </a:ext>
            </a:extLst>
          </p:cNvPr>
          <p:cNvSpPr txBox="1"/>
          <p:nvPr/>
        </p:nvSpPr>
        <p:spPr>
          <a:xfrm>
            <a:off x="457200" y="8485201"/>
            <a:ext cx="13893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latin typeface="ITC Avant Garde Gothic"/>
                <a:ea typeface="Calibri"/>
                <a:cs typeface="Calibri"/>
              </a:rPr>
              <a:t>[10]Met Office. MIDAS Open: UK hourly weather observation data, v202507. NERC </a:t>
            </a:r>
            <a:r>
              <a:rPr lang="en-GB" sz="2000" err="1">
                <a:latin typeface="ITC Avant Garde Gothic"/>
                <a:ea typeface="Calibri"/>
                <a:cs typeface="Calibri"/>
              </a:rPr>
              <a:t>EDSCentre</a:t>
            </a:r>
            <a:r>
              <a:rPr lang="en-GB" sz="2000">
                <a:latin typeface="ITC Avant Garde Gothic"/>
                <a:ea typeface="Calibri"/>
                <a:cs typeface="Calibri"/>
              </a:rPr>
              <a:t> for Environmental Data Analysis, 2025. </a:t>
            </a:r>
          </a:p>
          <a:p>
            <a:r>
              <a:rPr lang="en-GB" sz="2000">
                <a:latin typeface="ITC Avant Garde Gothic"/>
                <a:ea typeface="Calibri"/>
                <a:cs typeface="Calibri"/>
              </a:rPr>
              <a:t>[11] Met Office. MIDAS Open: UK hourly rainfall data, v202507. NERC EDS Centre </a:t>
            </a:r>
            <a:r>
              <a:rPr lang="en-GB" sz="2000" err="1">
                <a:latin typeface="ITC Avant Garde Gothic"/>
                <a:ea typeface="Calibri"/>
                <a:cs typeface="Calibri"/>
              </a:rPr>
              <a:t>forEnvironmental</a:t>
            </a:r>
            <a:r>
              <a:rPr lang="en-GB" sz="2000">
                <a:latin typeface="ITC Avant Garde Gothic"/>
                <a:ea typeface="Calibri"/>
                <a:cs typeface="Calibri"/>
              </a:rPr>
              <a:t> Data Analysis, 2025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68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8841"/>
    </mc:Choice>
    <mc:Fallback xmlns="">
      <p:transition advTm="1884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F324-BD68-4431-3E94-31546560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A13460-D657-0972-60C8-9B27817FCF4E}"/>
              </a:ext>
            </a:extLst>
          </p:cNvPr>
          <p:cNvSpPr/>
          <p:nvPr/>
        </p:nvSpPr>
        <p:spPr>
          <a:xfrm>
            <a:off x="609600" y="457200"/>
            <a:ext cx="11430000" cy="8128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r>
              <a:rPr lang="en-US" sz="4400">
                <a:solidFill>
                  <a:srgbClr val="254117"/>
                </a:solidFill>
                <a:latin typeface="ITC Avant Garde Gothic"/>
              </a:rPr>
              <a:t>GLM: Base Model Specification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C7AD5F8D-F271-EB8B-F762-1430AF34ED8A}"/>
              </a:ext>
            </a:extLst>
          </p:cNvPr>
          <p:cNvSpPr/>
          <p:nvPr/>
        </p:nvSpPr>
        <p:spPr>
          <a:xfrm>
            <a:off x="609600" y="1803400"/>
            <a:ext cx="17068800" cy="25400"/>
          </a:xfrm>
          <a:prstGeom prst="rect">
            <a:avLst/>
          </a:prstGeom>
          <a:solidFill>
            <a:srgbClr val="6193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qPanel">
            <a:extLst>
              <a:ext uri="{FF2B5EF4-FFF2-40B4-BE49-F238E27FC236}">
                <a16:creationId xmlns:a16="http://schemas.microsoft.com/office/drawing/2014/main" id="{CEC973E9-B7F9-9909-CA4F-28D85BD2606C}"/>
              </a:ext>
            </a:extLst>
          </p:cNvPr>
          <p:cNvSpPr/>
          <p:nvPr/>
        </p:nvSpPr>
        <p:spPr>
          <a:xfrm>
            <a:off x="609600" y="2036233"/>
            <a:ext cx="17068800" cy="6214534"/>
          </a:xfrm>
          <a:prstGeom prst="roundRect">
            <a:avLst>
              <a:gd name="adj" fmla="val 8000"/>
            </a:avLst>
          </a:prstGeom>
          <a:solidFill>
            <a:srgbClr val="1A2E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qLbl">
            <a:extLst>
              <a:ext uri="{FF2B5EF4-FFF2-40B4-BE49-F238E27FC236}">
                <a16:creationId xmlns:a16="http://schemas.microsoft.com/office/drawing/2014/main" id="{665EEA08-427C-B22B-AA5B-FEA9535F5413}"/>
              </a:ext>
            </a:extLst>
          </p:cNvPr>
          <p:cNvSpPr/>
          <p:nvPr/>
        </p:nvSpPr>
        <p:spPr>
          <a:xfrm>
            <a:off x="1016000" y="2235200"/>
            <a:ext cx="5080000" cy="304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>
                <a:solidFill>
                  <a:srgbClr val="A8CFA8"/>
                </a:solidFill>
                <a:latin typeface="ITC Avant Garde Gothic"/>
              </a:rPr>
              <a:t>Model Specification</a:t>
            </a:r>
          </a:p>
        </p:txBody>
      </p:sp>
      <p:sp>
        <p:nvSpPr>
          <p:cNvPr id="12" name="EqL1">
            <a:extLst>
              <a:ext uri="{FF2B5EF4-FFF2-40B4-BE49-F238E27FC236}">
                <a16:creationId xmlns:a16="http://schemas.microsoft.com/office/drawing/2014/main" id="{8148E76C-4E08-2AB2-BC89-5C1C9D86670C}"/>
              </a:ext>
            </a:extLst>
          </p:cNvPr>
          <p:cNvSpPr/>
          <p:nvPr/>
        </p:nvSpPr>
        <p:spPr>
          <a:xfrm>
            <a:off x="1016000" y="3081868"/>
            <a:ext cx="16002000" cy="558800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Cambria Math"/>
              </a:rPr>
              <a:t>log{E(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y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it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)}  =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0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>
                <a:solidFill>
                  <a:srgbClr val="A8CFA8"/>
                </a:solidFill>
                <a:latin typeface="Cambria Math"/>
              </a:rPr>
              <a:t>β</a:t>
            </a:r>
            <a:r>
              <a:rPr lang="en-US" sz="2400" b="1" baseline="-25000">
                <a:solidFill>
                  <a:srgbClr val="A8CFA8"/>
                </a:solidFill>
                <a:latin typeface="Cambria Math"/>
              </a:rPr>
              <a:t>1</a:t>
            </a:r>
            <a:r>
              <a:rPr lang="en-US" sz="3200" b="1">
                <a:solidFill>
                  <a:srgbClr val="A8CFA8"/>
                </a:solidFill>
                <a:latin typeface="Cambria Math"/>
              </a:rPr>
              <a:t>Dark</a:t>
            </a:r>
            <a:r>
              <a:rPr lang="en-US" sz="2400" b="1" baseline="-25000">
                <a:solidFill>
                  <a:srgbClr val="A8CFA8"/>
                </a:solidFill>
                <a:latin typeface="Cambria Math"/>
              </a:rPr>
              <a:t>it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2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Lag1  +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3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Lag24 +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γ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h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δ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d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μ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m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θW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α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 </a:t>
            </a:r>
          </a:p>
        </p:txBody>
      </p:sp>
      <p:sp>
        <p:nvSpPr>
          <p:cNvPr id="14" name="KeyLbl">
            <a:extLst>
              <a:ext uri="{FF2B5EF4-FFF2-40B4-BE49-F238E27FC236}">
                <a16:creationId xmlns:a16="http://schemas.microsoft.com/office/drawing/2014/main" id="{00CDEBA0-DDBE-E7B7-15FD-421D5E682F7D}"/>
              </a:ext>
            </a:extLst>
          </p:cNvPr>
          <p:cNvSpPr/>
          <p:nvPr/>
        </p:nvSpPr>
        <p:spPr>
          <a:xfrm>
            <a:off x="871940" y="4529924"/>
            <a:ext cx="15764681" cy="3723741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400" b="1" err="1">
                <a:solidFill>
                  <a:srgbClr val="A8CFA8"/>
                </a:solidFill>
                <a:latin typeface="Cambria Math"/>
              </a:rPr>
              <a:t>y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it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Hourly pedestrian or cyclist count at sensor </a:t>
            </a:r>
            <a:r>
              <a:rPr lang="en-US" sz="2400" i="1" err="1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in hour </a:t>
            </a:r>
            <a:r>
              <a:rPr lang="en-US" sz="2400" i="1">
                <a:solidFill>
                  <a:srgbClr val="FFFFFF"/>
                </a:solidFill>
                <a:latin typeface="Cambria Math"/>
              </a:rPr>
              <a:t>t</a:t>
            </a:r>
            <a:endParaRPr lang="en-US" sz="2400">
              <a:solidFill>
                <a:srgbClr val="FFFFFF"/>
              </a:solidFill>
              <a:latin typeface="TT Fors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400" b="1">
                <a:solidFill>
                  <a:srgbClr val="A8CFA8"/>
                </a:solidFill>
                <a:latin typeface="Cambria Math"/>
              </a:rPr>
              <a:t>Lag1, Lag24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Count at same sensor 1 h and 24 h ago (captures short-run autocorrelation)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400" b="1" err="1">
                <a:solidFill>
                  <a:srgbClr val="A8CFA8"/>
                </a:solidFill>
                <a:latin typeface="Cambria Math"/>
              </a:rPr>
              <a:t>γ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h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</a:t>
            </a:r>
            <a:r>
              <a:rPr lang="en-US" sz="2400" b="1" err="1">
                <a:solidFill>
                  <a:srgbClr val="A8CFA8"/>
                </a:solidFill>
                <a:latin typeface="Cambria Math"/>
              </a:rPr>
              <a:t>δ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d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</a:t>
            </a:r>
            <a:r>
              <a:rPr lang="en-US" sz="2400" b="1" err="1">
                <a:solidFill>
                  <a:srgbClr val="A8CFA8"/>
                </a:solidFill>
                <a:latin typeface="Cambria Math"/>
              </a:rPr>
              <a:t>μ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m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Hour-of-day, day-of-week, and month fixed effects          </a:t>
            </a:r>
          </a:p>
          <a:p>
            <a:pPr>
              <a:spcAft>
                <a:spcPts val="100"/>
              </a:spcAft>
            </a:pPr>
            <a:r>
              <a:rPr lang="en-US" sz="2400" b="1">
                <a:solidFill>
                  <a:srgbClr val="A8CFA8"/>
                </a:solidFill>
                <a:latin typeface="Cambria Math"/>
              </a:rPr>
              <a:t>α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i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Sensor fixed effect: absorbs all time-invariant location differences (footfall level, </a:t>
            </a:r>
            <a:r>
              <a:rPr lang="en-US" sz="2400" err="1">
                <a:solidFill>
                  <a:srgbClr val="FFFFFF"/>
                </a:solidFill>
                <a:latin typeface="TT Fors"/>
              </a:rPr>
              <a:t>neighbourhood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type, infrastructure)</a:t>
            </a:r>
          </a:p>
          <a:p>
            <a:r>
              <a:rPr lang="en-US" sz="2400" b="1" err="1">
                <a:solidFill>
                  <a:srgbClr val="A8CFA8"/>
                </a:solidFill>
                <a:latin typeface="Cambria Math"/>
              </a:rPr>
              <a:t>θW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t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Temperature, wind speed, rainfall in hour </a:t>
            </a:r>
            <a:r>
              <a:rPr lang="en-US" sz="2400" i="1">
                <a:solidFill>
                  <a:srgbClr val="FFFFFF"/>
                </a:solidFill>
                <a:latin typeface="Cambria Math"/>
              </a:rPr>
              <a:t>t</a:t>
            </a:r>
            <a:endParaRPr lang="en-US" sz="2400" i="1">
              <a:solidFill>
                <a:srgbClr val="FFFFFF"/>
              </a:solidFill>
              <a:latin typeface="Cambria Math"/>
              <a:ea typeface="Cambria Math"/>
            </a:endParaRPr>
          </a:p>
          <a:p>
            <a:r>
              <a:rPr lang="en-US" sz="2400" b="1" err="1">
                <a:solidFill>
                  <a:srgbClr val="A8CFA8"/>
                </a:solidFill>
                <a:latin typeface="Cambria Math"/>
              </a:rPr>
              <a:t>Dark</a:t>
            </a:r>
            <a:r>
              <a:rPr lang="en-US" b="1" baseline="-25000" err="1">
                <a:solidFill>
                  <a:srgbClr val="A8CFA8"/>
                </a:solidFill>
                <a:latin typeface="Cambria Math"/>
              </a:rPr>
              <a:t>it</a:t>
            </a:r>
            <a:r>
              <a:rPr lang="en-US" sz="2400">
                <a:solidFill>
                  <a:srgbClr val="FFFFFF"/>
                </a:solidFill>
                <a:latin typeface="TT Fors"/>
              </a:rPr>
              <a:t>  Binary: 1 if sun is below horizon (civil twilight excluded), 0 if daylight</a:t>
            </a:r>
          </a:p>
          <a:p>
            <a:endParaRPr lang="en-US" sz="2400">
              <a:solidFill>
                <a:srgbClr val="FFFFFF"/>
              </a:solidFill>
              <a:latin typeface="TT Fors"/>
            </a:endParaRPr>
          </a:p>
          <a:p>
            <a:endParaRPr lang="en-US" sz="2400">
              <a:solidFill>
                <a:srgbClr val="FFFFFF"/>
              </a:solidFill>
              <a:latin typeface="TT Fors"/>
            </a:endParaRPr>
          </a:p>
          <a:p>
            <a:r>
              <a:rPr lang="en-US" sz="2400" i="1">
                <a:solidFill>
                  <a:schemeClr val="bg1">
                    <a:lumMod val="85000"/>
                  </a:schemeClr>
                </a:solidFill>
                <a:latin typeface="TT Fors"/>
              </a:rPr>
              <a:t>[12] Negative Binomial Regression: Second Edition</a:t>
            </a:r>
            <a:r>
              <a:rPr lang="en-US" sz="2400">
                <a:solidFill>
                  <a:schemeClr val="bg1">
                    <a:lumMod val="85000"/>
                  </a:schemeClr>
                </a:solidFill>
                <a:latin typeface="TT Fors"/>
              </a:rPr>
              <a:t>, </a:t>
            </a:r>
            <a:r>
              <a:rPr lang="en-US" sz="2400" i="1">
                <a:solidFill>
                  <a:schemeClr val="bg1">
                    <a:lumMod val="85000"/>
                  </a:schemeClr>
                </a:solidFill>
                <a:latin typeface="TT Fors"/>
              </a:rPr>
              <a:t>by Joseph M. </a:t>
            </a:r>
            <a:r>
              <a:rPr lang="en-US" sz="2400" i="1" err="1">
                <a:solidFill>
                  <a:schemeClr val="bg1">
                    <a:lumMod val="85000"/>
                  </a:schemeClr>
                </a:solidFill>
                <a:latin typeface="TT Fors"/>
              </a:rPr>
              <a:t>Hilbe</a:t>
            </a:r>
            <a:endParaRPr lang="en-US" sz="2400" i="1">
              <a:solidFill>
                <a:schemeClr val="bg1">
                  <a:lumMod val="85000"/>
                </a:schemeClr>
              </a:solidFill>
              <a:latin typeface="TT Fors"/>
            </a:endParaRPr>
          </a:p>
          <a:p>
            <a:endParaRPr lang="en-US" sz="2400">
              <a:solidFill>
                <a:srgbClr val="FFFFFF"/>
              </a:solidFill>
              <a:latin typeface="TT Fors"/>
            </a:endParaRPr>
          </a:p>
          <a:p>
            <a:endParaRPr lang="en-US" sz="2400">
              <a:solidFill>
                <a:srgbClr val="FFFFFF"/>
              </a:solidFill>
              <a:latin typeface="TT Fors"/>
            </a:endParaRPr>
          </a:p>
        </p:txBody>
      </p:sp>
    </p:spTree>
    <p:extLst>
      <p:ext uri="{BB962C8B-B14F-4D97-AF65-F5344CB8AC3E}">
        <p14:creationId xmlns:p14="http://schemas.microsoft.com/office/powerpoint/2010/main" val="397008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7440"/>
    </mc:Choice>
    <mc:Fallback xmlns="">
      <p:transition advTm="1744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29F7-C46F-2136-4EB2-0E8C7099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5840" y="578516"/>
            <a:ext cx="11430000" cy="6604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l"/>
            <a:r>
              <a:rPr lang="en-US" sz="4400">
                <a:solidFill>
                  <a:srgbClr val="254117"/>
                </a:solidFill>
                <a:latin typeface="ITC Avant Garde Gothic"/>
              </a:rPr>
              <a:t>GLM: Base Model Components</a:t>
            </a:r>
          </a:p>
        </p:txBody>
      </p:sp>
      <p:sp>
        <p:nvSpPr>
          <p:cNvPr id="4" name="Line"/>
          <p:cNvSpPr/>
          <p:nvPr/>
        </p:nvSpPr>
        <p:spPr>
          <a:xfrm>
            <a:off x="609600" y="1397000"/>
            <a:ext cx="17068800" cy="25400"/>
          </a:xfrm>
          <a:prstGeom prst="rect">
            <a:avLst/>
          </a:prstGeom>
          <a:solidFill>
            <a:srgbClr val="6193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83AB4-0B08-03B7-15D1-E73C8CC4CE16}"/>
              </a:ext>
            </a:extLst>
          </p:cNvPr>
          <p:cNvSpPr txBox="1"/>
          <p:nvPr/>
        </p:nvSpPr>
        <p:spPr>
          <a:xfrm>
            <a:off x="605840" y="2398969"/>
            <a:ext cx="880232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Time (hour, day, season) → patterns</a:t>
            </a:r>
          </a:p>
          <a:p>
            <a:pPr marL="285750" indent="-285750" algn="l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Lag variables → capture short-term autocorrelation</a:t>
            </a: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Weather → affects activity</a:t>
            </a: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Darkness → main variable</a:t>
            </a:r>
          </a:p>
        </p:txBody>
      </p:sp>
    </p:spTree>
    <p:extLst>
      <p:ext uri="{BB962C8B-B14F-4D97-AF65-F5344CB8AC3E}">
        <p14:creationId xmlns:p14="http://schemas.microsoft.com/office/powerpoint/2010/main" val="318604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1716"/>
    </mc:Choice>
    <mc:Fallback xmlns="">
      <p:transition advTm="2171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F324-BD68-4431-3E94-31546560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1">
            <a:extLst>
              <a:ext uri="{FF2B5EF4-FFF2-40B4-BE49-F238E27FC236}">
                <a16:creationId xmlns:a16="http://schemas.microsoft.com/office/drawing/2014/main" id="{AF99452E-E12A-564C-BD7E-41050B840482}"/>
              </a:ext>
            </a:extLst>
          </p:cNvPr>
          <p:cNvSpPr/>
          <p:nvPr/>
        </p:nvSpPr>
        <p:spPr>
          <a:xfrm>
            <a:off x="8894967" y="4624055"/>
            <a:ext cx="249033" cy="1009016"/>
          </a:xfrm>
          <a:prstGeom prst="downArrow">
            <a:avLst/>
          </a:prstGeom>
          <a:solidFill>
            <a:srgbClr val="A8CFA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D10B44E-76F7-14E9-168A-9E3959A50DFE}"/>
              </a:ext>
            </a:extLst>
          </p:cNvPr>
          <p:cNvCxnSpPr/>
          <p:nvPr/>
        </p:nvCxnSpPr>
        <p:spPr>
          <a:xfrm flipH="1">
            <a:off x="2207260" y="5633071"/>
            <a:ext cx="6949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24ACC3-D953-785C-8BAE-300C56E4DAFB}"/>
              </a:ext>
            </a:extLst>
          </p:cNvPr>
          <p:cNvCxnSpPr/>
          <p:nvPr/>
        </p:nvCxnSpPr>
        <p:spPr>
          <a:xfrm flipH="1">
            <a:off x="9156700" y="5633071"/>
            <a:ext cx="6949440" cy="0"/>
          </a:xfrm>
          <a:prstGeom prst="line">
            <a:avLst/>
          </a:prstGeom>
          <a:ln>
            <a:solidFill>
              <a:srgbClr val="0C5D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229421-A28E-4825-940A-823E38E2F8C9}"/>
              </a:ext>
            </a:extLst>
          </p:cNvPr>
          <p:cNvCxnSpPr/>
          <p:nvPr/>
        </p:nvCxnSpPr>
        <p:spPr>
          <a:xfrm>
            <a:off x="2207260" y="5626037"/>
            <a:ext cx="0" cy="1317998"/>
          </a:xfrm>
          <a:prstGeom prst="line">
            <a:avLst/>
          </a:prstGeom>
          <a:ln>
            <a:solidFill>
              <a:srgbClr val="0C5D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00B0FC-1999-FD9F-F84D-0A528961B5D7}"/>
              </a:ext>
            </a:extLst>
          </p:cNvPr>
          <p:cNvCxnSpPr>
            <a:cxnSpLocks/>
          </p:cNvCxnSpPr>
          <p:nvPr/>
        </p:nvCxnSpPr>
        <p:spPr>
          <a:xfrm>
            <a:off x="6887020" y="5626037"/>
            <a:ext cx="0" cy="1364566"/>
          </a:xfrm>
          <a:prstGeom prst="line">
            <a:avLst/>
          </a:prstGeom>
          <a:ln>
            <a:solidFill>
              <a:srgbClr val="0C5D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99A33F-3D70-EB98-D16F-A33B0065AD6C}"/>
              </a:ext>
            </a:extLst>
          </p:cNvPr>
          <p:cNvCxnSpPr>
            <a:cxnSpLocks/>
          </p:cNvCxnSpPr>
          <p:nvPr/>
        </p:nvCxnSpPr>
        <p:spPr>
          <a:xfrm>
            <a:off x="11301440" y="5633071"/>
            <a:ext cx="0" cy="1350498"/>
          </a:xfrm>
          <a:prstGeom prst="line">
            <a:avLst/>
          </a:prstGeom>
          <a:ln>
            <a:solidFill>
              <a:srgbClr val="0C5D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ACEA16-7399-66BE-71A2-AB07811D4512}"/>
              </a:ext>
            </a:extLst>
          </p:cNvPr>
          <p:cNvCxnSpPr>
            <a:cxnSpLocks/>
          </p:cNvCxnSpPr>
          <p:nvPr/>
        </p:nvCxnSpPr>
        <p:spPr>
          <a:xfrm>
            <a:off x="16106140" y="5838082"/>
            <a:ext cx="0" cy="1350498"/>
          </a:xfrm>
          <a:prstGeom prst="line">
            <a:avLst/>
          </a:prstGeom>
          <a:ln>
            <a:solidFill>
              <a:srgbClr val="0C5D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NodeM2">
            <a:extLst>
              <a:ext uri="{FF2B5EF4-FFF2-40B4-BE49-F238E27FC236}">
                <a16:creationId xmlns:a16="http://schemas.microsoft.com/office/drawing/2014/main" id="{10C9CEA4-71BE-2049-AFA2-322E21234DEA}"/>
              </a:ext>
            </a:extLst>
          </p:cNvPr>
          <p:cNvSpPr/>
          <p:nvPr/>
        </p:nvSpPr>
        <p:spPr>
          <a:xfrm>
            <a:off x="178586" y="6822159"/>
            <a:ext cx="4290253" cy="2233685"/>
          </a:xfrm>
          <a:prstGeom prst="roundRect">
            <a:avLst/>
          </a:prstGeom>
          <a:solidFill>
            <a:srgbClr val="A8CFA8"/>
          </a:solidFill>
          <a:ln w="19050" cap="flat" cmpd="sng" algn="ctr">
            <a:solidFill>
              <a:srgbClr val="6A9A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54117"/>
                </a:solidFill>
                <a:latin typeface="ITC Avant Garde Gothic"/>
              </a:rPr>
              <a:t>Model 2</a:t>
            </a:r>
          </a:p>
          <a:p>
            <a:pPr algn="ctr">
              <a:buNone/>
            </a:pPr>
            <a:endParaRPr lang="en-US" sz="2400" b="1">
              <a:solidFill>
                <a:srgbClr val="254117"/>
              </a:solidFill>
              <a:latin typeface="ITC Avant Garde Gothic"/>
            </a:endParaRPr>
          </a:p>
          <a:p>
            <a:pPr algn="ctr">
              <a:buNone/>
            </a:pP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Dark × Cluster</a:t>
            </a:r>
          </a:p>
          <a:p>
            <a:pPr algn="ctr">
              <a:buNone/>
            </a:pPr>
            <a:r>
              <a:rPr lang="en-US" sz="2400">
                <a:solidFill>
                  <a:srgbClr val="254117"/>
                </a:solidFill>
                <a:latin typeface="ITC Avant Garde Gothic"/>
              </a:rPr>
              <a:t>Central · East · Outlier</a:t>
            </a:r>
          </a:p>
        </p:txBody>
      </p:sp>
      <p:sp>
        <p:nvSpPr>
          <p:cNvPr id="20" name="NodeM5">
            <a:extLst>
              <a:ext uri="{FF2B5EF4-FFF2-40B4-BE49-F238E27FC236}">
                <a16:creationId xmlns:a16="http://schemas.microsoft.com/office/drawing/2014/main" id="{85B661BA-A457-B741-AC6C-CA37045B2FE5}"/>
              </a:ext>
            </a:extLst>
          </p:cNvPr>
          <p:cNvSpPr/>
          <p:nvPr/>
        </p:nvSpPr>
        <p:spPr>
          <a:xfrm>
            <a:off x="13570733" y="6868729"/>
            <a:ext cx="4717267" cy="2187116"/>
          </a:xfrm>
          <a:prstGeom prst="roundRect">
            <a:avLst/>
          </a:prstGeom>
          <a:solidFill>
            <a:srgbClr val="A8CFA8"/>
          </a:solidFill>
          <a:ln w="19050" cap="flat" cmpd="sng" algn="ctr">
            <a:solidFill>
              <a:srgbClr val="6A9A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54117"/>
                </a:solidFill>
                <a:latin typeface="ITC Avant Garde Gothic"/>
              </a:rPr>
              <a:t>Model 5</a:t>
            </a:r>
          </a:p>
          <a:p>
            <a:pPr algn="ctr">
              <a:buNone/>
            </a:pPr>
            <a:endParaRPr lang="en-US" sz="2400" b="1">
              <a:solidFill>
                <a:srgbClr val="254117"/>
              </a:solidFill>
              <a:latin typeface="ITC Avant Garde Gothic"/>
            </a:endParaRPr>
          </a:p>
          <a:p>
            <a:pPr algn="ctr">
              <a:buNone/>
            </a:pP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Dark × </a:t>
            </a:r>
          </a:p>
          <a:p>
            <a:pPr algn="ctr">
              <a:buNone/>
            </a:pP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(Streetlight </a:t>
            </a:r>
            <a:r>
              <a:rPr lang="en-US" sz="1400" b="1">
                <a:solidFill>
                  <a:srgbClr val="003400"/>
                </a:solidFill>
                <a:latin typeface="ITC Avant Garde Gothic"/>
              </a:rPr>
              <a:t>[15] </a:t>
            </a: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+ Businesses</a:t>
            </a:r>
            <a:r>
              <a:rPr lang="en-US" sz="1400" b="1">
                <a:solidFill>
                  <a:srgbClr val="003400"/>
                </a:solidFill>
                <a:latin typeface="ITC Avant Garde Gothic"/>
              </a:rPr>
              <a:t>[16] </a:t>
            </a: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)</a:t>
            </a:r>
            <a:endParaRPr lang="en-US" sz="1400" b="1">
              <a:solidFill>
                <a:srgbClr val="003400"/>
              </a:solidFill>
              <a:latin typeface="ITC Avant Garde Gothic"/>
            </a:endParaRPr>
          </a:p>
        </p:txBody>
      </p:sp>
      <p:sp>
        <p:nvSpPr>
          <p:cNvPr id="18" name="NodeM3">
            <a:extLst>
              <a:ext uri="{FF2B5EF4-FFF2-40B4-BE49-F238E27FC236}">
                <a16:creationId xmlns:a16="http://schemas.microsoft.com/office/drawing/2014/main" id="{86F5CF51-D735-FF44-BA50-221BD940340F}"/>
              </a:ext>
            </a:extLst>
          </p:cNvPr>
          <p:cNvSpPr/>
          <p:nvPr/>
        </p:nvSpPr>
        <p:spPr>
          <a:xfrm>
            <a:off x="4741893" y="6822160"/>
            <a:ext cx="4290255" cy="2233681"/>
          </a:xfrm>
          <a:prstGeom prst="roundRect">
            <a:avLst/>
          </a:prstGeom>
          <a:solidFill>
            <a:srgbClr val="A8CFA8"/>
          </a:solidFill>
          <a:ln w="19050" cap="flat" cmpd="sng" algn="ctr">
            <a:solidFill>
              <a:srgbClr val="6A9A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54117"/>
                </a:solidFill>
                <a:latin typeface="ITC Avant Garde Gothic"/>
              </a:rPr>
              <a:t>Model 3</a:t>
            </a:r>
          </a:p>
          <a:p>
            <a:pPr algn="ctr">
              <a:buNone/>
            </a:pPr>
            <a:endParaRPr lang="en-US" sz="2400" b="1">
              <a:solidFill>
                <a:srgbClr val="254117"/>
              </a:solidFill>
              <a:latin typeface="ITC Avant Garde Gothic"/>
            </a:endParaRPr>
          </a:p>
          <a:p>
            <a:pPr algn="ctr">
              <a:buNone/>
            </a:pP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Dark × CCTV </a:t>
            </a:r>
            <a:r>
              <a:rPr lang="en-US" sz="1400" b="1">
                <a:solidFill>
                  <a:srgbClr val="003400"/>
                </a:solidFill>
                <a:latin typeface="ITC Avant Garde Gothic"/>
              </a:rPr>
              <a:t>[13]</a:t>
            </a:r>
          </a:p>
        </p:txBody>
      </p:sp>
      <p:sp>
        <p:nvSpPr>
          <p:cNvPr id="19" name="NodeM4">
            <a:extLst>
              <a:ext uri="{FF2B5EF4-FFF2-40B4-BE49-F238E27FC236}">
                <a16:creationId xmlns:a16="http://schemas.microsoft.com/office/drawing/2014/main" id="{3D3210BB-9839-7D4F-B4F7-B2C3ED235C4B}"/>
              </a:ext>
            </a:extLst>
          </p:cNvPr>
          <p:cNvSpPr/>
          <p:nvPr/>
        </p:nvSpPr>
        <p:spPr>
          <a:xfrm>
            <a:off x="9156313" y="6882805"/>
            <a:ext cx="4290255" cy="2187110"/>
          </a:xfrm>
          <a:prstGeom prst="roundRect">
            <a:avLst/>
          </a:prstGeom>
          <a:solidFill>
            <a:srgbClr val="A8CFA8"/>
          </a:solidFill>
          <a:ln w="19050" cap="flat" cmpd="sng" algn="ctr">
            <a:solidFill>
              <a:srgbClr val="6A9A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54117"/>
                </a:solidFill>
                <a:latin typeface="ITC Avant Garde Gothic"/>
              </a:rPr>
              <a:t>Model 4</a:t>
            </a:r>
          </a:p>
          <a:p>
            <a:pPr algn="ctr">
              <a:buNone/>
            </a:pPr>
            <a:endParaRPr lang="en-US" sz="2400" b="1">
              <a:solidFill>
                <a:srgbClr val="254117"/>
              </a:solidFill>
              <a:latin typeface="ITC Avant Garde Gothic"/>
            </a:endParaRPr>
          </a:p>
          <a:p>
            <a:pPr algn="ctr">
              <a:buNone/>
            </a:pPr>
            <a:r>
              <a:rPr lang="en-US" sz="2400" b="1">
                <a:solidFill>
                  <a:srgbClr val="003400"/>
                </a:solidFill>
                <a:latin typeface="ITC Avant Garde Gothic"/>
              </a:rPr>
              <a:t>Dark × Safety </a:t>
            </a:r>
            <a:r>
              <a:rPr lang="en-US" sz="1400" b="1">
                <a:solidFill>
                  <a:srgbClr val="003400"/>
                </a:solidFill>
                <a:latin typeface="ITC Avant Garde Gothic"/>
              </a:rPr>
              <a:t>[14]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0B43E73-17E8-4A75-EA28-3422BC873B15}"/>
              </a:ext>
            </a:extLst>
          </p:cNvPr>
          <p:cNvSpPr/>
          <p:nvPr/>
        </p:nvSpPr>
        <p:spPr>
          <a:xfrm>
            <a:off x="609600" y="1803400"/>
            <a:ext cx="17068800" cy="25400"/>
          </a:xfrm>
          <a:prstGeom prst="rect">
            <a:avLst/>
          </a:prstGeom>
          <a:solidFill>
            <a:srgbClr val="6193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34DA09CC-36DB-A581-3CA4-1FD8BFF10171}"/>
              </a:ext>
            </a:extLst>
          </p:cNvPr>
          <p:cNvSpPr/>
          <p:nvPr/>
        </p:nvSpPr>
        <p:spPr>
          <a:xfrm>
            <a:off x="609600" y="457200"/>
            <a:ext cx="11430000" cy="8128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r>
              <a:rPr lang="en-US" sz="4400">
                <a:solidFill>
                  <a:srgbClr val="254117"/>
                </a:solidFill>
                <a:latin typeface="ITC Avant Garde Gothic"/>
              </a:rPr>
              <a:t>GLM: Additional Model Specification</a:t>
            </a:r>
          </a:p>
        </p:txBody>
      </p:sp>
      <p:sp>
        <p:nvSpPr>
          <p:cNvPr id="15" name="EqPanel">
            <a:extLst>
              <a:ext uri="{FF2B5EF4-FFF2-40B4-BE49-F238E27FC236}">
                <a16:creationId xmlns:a16="http://schemas.microsoft.com/office/drawing/2014/main" id="{DE4BC333-7807-5B53-0F20-77DCAC596EFB}"/>
              </a:ext>
            </a:extLst>
          </p:cNvPr>
          <p:cNvSpPr/>
          <p:nvPr/>
        </p:nvSpPr>
        <p:spPr>
          <a:xfrm>
            <a:off x="606083" y="1948837"/>
            <a:ext cx="17068800" cy="2433472"/>
          </a:xfrm>
          <a:prstGeom prst="roundRect">
            <a:avLst>
              <a:gd name="adj" fmla="val 8000"/>
            </a:avLst>
          </a:prstGeom>
          <a:solidFill>
            <a:srgbClr val="1A2E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qLbl">
            <a:extLst>
              <a:ext uri="{FF2B5EF4-FFF2-40B4-BE49-F238E27FC236}">
                <a16:creationId xmlns:a16="http://schemas.microsoft.com/office/drawing/2014/main" id="{DA0EA4B0-D6B5-6A77-31F8-0D5910FEE920}"/>
              </a:ext>
            </a:extLst>
          </p:cNvPr>
          <p:cNvSpPr/>
          <p:nvPr/>
        </p:nvSpPr>
        <p:spPr>
          <a:xfrm>
            <a:off x="1016000" y="2235200"/>
            <a:ext cx="5080000" cy="304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>
                <a:solidFill>
                  <a:srgbClr val="A8CFA8"/>
                </a:solidFill>
                <a:latin typeface="ITC Avant Garde Gothic"/>
              </a:rPr>
              <a:t>Model Specification</a:t>
            </a:r>
          </a:p>
        </p:txBody>
      </p:sp>
      <p:sp>
        <p:nvSpPr>
          <p:cNvPr id="16" name="EqL1">
            <a:extLst>
              <a:ext uri="{FF2B5EF4-FFF2-40B4-BE49-F238E27FC236}">
                <a16:creationId xmlns:a16="http://schemas.microsoft.com/office/drawing/2014/main" id="{89A541FA-69EF-B62A-3927-6C6CB858B347}"/>
              </a:ext>
            </a:extLst>
          </p:cNvPr>
          <p:cNvSpPr/>
          <p:nvPr/>
        </p:nvSpPr>
        <p:spPr>
          <a:xfrm>
            <a:off x="1016000" y="3081868"/>
            <a:ext cx="16002000" cy="558800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Cambria Math"/>
              </a:rPr>
              <a:t>log{E(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y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it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)}  =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0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>
                <a:solidFill>
                  <a:srgbClr val="A8CFA8"/>
                </a:solidFill>
                <a:latin typeface="Cambria Math"/>
              </a:rPr>
              <a:t>β</a:t>
            </a:r>
            <a:r>
              <a:rPr lang="en-US" sz="2400" b="1" baseline="-25000">
                <a:solidFill>
                  <a:srgbClr val="A8CFA8"/>
                </a:solidFill>
                <a:latin typeface="Cambria Math"/>
              </a:rPr>
              <a:t>1</a:t>
            </a:r>
            <a:r>
              <a:rPr lang="en-US" sz="3200" b="1">
                <a:solidFill>
                  <a:srgbClr val="A8CFA8"/>
                </a:solidFill>
                <a:latin typeface="Cambria Math"/>
              </a:rPr>
              <a:t>Dark</a:t>
            </a:r>
            <a:r>
              <a:rPr lang="en-US" sz="2400" b="1" baseline="-25000">
                <a:solidFill>
                  <a:srgbClr val="A8CFA8"/>
                </a:solidFill>
                <a:latin typeface="Cambria Math"/>
              </a:rPr>
              <a:t>it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2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Lag1  +  β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3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Lag24 +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γ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h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δ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d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μ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m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</a:t>
            </a:r>
            <a:r>
              <a:rPr lang="en-US" sz="3200" b="1" err="1">
                <a:solidFill>
                  <a:srgbClr val="FFFFFF"/>
                </a:solidFill>
                <a:latin typeface="Cambria Math"/>
              </a:rPr>
              <a:t>θW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t</a:t>
            </a:r>
            <a:r>
              <a:rPr lang="en-US" sz="3200" b="1">
                <a:solidFill>
                  <a:srgbClr val="FFFFFF"/>
                </a:solidFill>
                <a:latin typeface="Cambria Math"/>
              </a:rPr>
              <a:t>  +  α</a:t>
            </a:r>
            <a:r>
              <a:rPr lang="en-US" sz="2400" b="1" baseline="-25000" err="1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2400" b="1" baseline="-25000">
                <a:solidFill>
                  <a:srgbClr val="FFFFFF"/>
                </a:solidFill>
                <a:latin typeface="Cambria Math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4B22B-628A-7015-3E21-816B9821AE29}"/>
              </a:ext>
            </a:extLst>
          </p:cNvPr>
          <p:cNvSpPr txBox="1"/>
          <p:nvPr/>
        </p:nvSpPr>
        <p:spPr>
          <a:xfrm>
            <a:off x="462573" y="9245024"/>
            <a:ext cx="15643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latin typeface="ITC Avant Garde Gothic"/>
                <a:ea typeface="Calibri"/>
                <a:cs typeface="Calibri"/>
              </a:rPr>
              <a:t>[13] Bristol City Council. Council </a:t>
            </a:r>
            <a:r>
              <a:rPr lang="en-GB" sz="1400" err="1">
                <a:latin typeface="ITC Avant Garde Gothic"/>
                <a:ea typeface="Calibri"/>
                <a:cs typeface="Calibri"/>
              </a:rPr>
              <a:t>cctv</a:t>
            </a:r>
            <a:r>
              <a:rPr lang="en-GB" sz="1400">
                <a:latin typeface="ITC Avant Garde Gothic"/>
                <a:ea typeface="Calibri"/>
                <a:cs typeface="Calibri"/>
              </a:rPr>
              <a:t> cameras. data.gov.uk dataset, 2024.</a:t>
            </a:r>
          </a:p>
          <a:p>
            <a:r>
              <a:rPr lang="en-GB" sz="1400">
                <a:latin typeface="ITC Avant Garde Gothic"/>
                <a:ea typeface="Calibri"/>
                <a:cs typeface="Calibri"/>
              </a:rPr>
              <a:t>[14] 2025 Bristol City Council (2025), Quality of Life Survey 2024 to 2025: Final Report</a:t>
            </a:r>
            <a:endParaRPr lang="en-GB" sz="1400">
              <a:latin typeface="ITC Avant Garde Gothic" panose="020B0604020202020204" charset="0"/>
            </a:endParaRPr>
          </a:p>
          <a:p>
            <a:r>
              <a:rPr lang="en-GB" sz="1400">
                <a:latin typeface="ITC Avant Garde Gothic" panose="020B0604020202020204" charset="0"/>
              </a:rPr>
              <a:t>[15]Bristol City Council. Streetlights and street furniture. data.gov.uk dataset, 2024.</a:t>
            </a:r>
          </a:p>
          <a:p>
            <a:r>
              <a:rPr lang="en-GB" sz="1400">
                <a:latin typeface="ITC Avant Garde Gothic" panose="020B0604020202020204" charset="0"/>
              </a:rPr>
              <a:t>[16] OpenStreetMap contributors. </a:t>
            </a:r>
            <a:r>
              <a:rPr lang="en-GB" sz="1400" err="1">
                <a:latin typeface="ITC Avant Garde Gothic" panose="020B0604020202020204" charset="0"/>
              </a:rPr>
              <a:t>Openstreetmap</a:t>
            </a:r>
            <a:r>
              <a:rPr lang="en-GB" sz="1400">
                <a:latin typeface="ITC Avant Garde Gothic" panose="020B0604020202020204" charset="0"/>
              </a:rPr>
              <a:t>. OpenStreetMap database, 2026</a:t>
            </a:r>
          </a:p>
          <a:p>
            <a:endParaRPr lang="en-GB" sz="1400">
              <a:latin typeface="ITC Avant Garde Gothic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6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235"/>
    </mc:Choice>
    <mc:Fallback xmlns="">
      <p:transition advTm="2023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35E4-41E8-C832-2969-ECFA5F2D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08D5E2-2CB9-DE3C-934F-20497162BC05}"/>
              </a:ext>
            </a:extLst>
          </p:cNvPr>
          <p:cNvSpPr/>
          <p:nvPr/>
        </p:nvSpPr>
        <p:spPr>
          <a:xfrm>
            <a:off x="609600" y="457200"/>
            <a:ext cx="11430000" cy="8128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r>
              <a:rPr lang="en-US" sz="4400">
                <a:solidFill>
                  <a:srgbClr val="254117"/>
                </a:solidFill>
                <a:latin typeface="ITC Avant Garde Gothic"/>
              </a:rPr>
              <a:t>GLM: Comparison with Case-Control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26325B28-501B-36D7-AB3C-659ACB60DEA0}"/>
              </a:ext>
            </a:extLst>
          </p:cNvPr>
          <p:cNvSpPr/>
          <p:nvPr/>
        </p:nvSpPr>
        <p:spPr>
          <a:xfrm>
            <a:off x="609600" y="1803400"/>
            <a:ext cx="17068800" cy="25400"/>
          </a:xfrm>
          <a:prstGeom prst="rect">
            <a:avLst/>
          </a:prstGeom>
          <a:solidFill>
            <a:srgbClr val="6193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2F908A-467E-1526-3FA9-B3C5849EAD12}"/>
              </a:ext>
            </a:extLst>
          </p:cNvPr>
          <p:cNvSpPr txBox="1"/>
          <p:nvPr/>
        </p:nvSpPr>
        <p:spPr>
          <a:xfrm>
            <a:off x="612913" y="3602934"/>
            <a:ext cx="1389372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Case-control: matches light VS dark periods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GLM: Controls time, weather, autocorrelation...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accent3">
                    <a:lumMod val="49000"/>
                  </a:schemeClr>
                </a:solidFill>
                <a:latin typeface="ITC Avant Garde Gothic"/>
                <a:ea typeface="Calibri"/>
                <a:cs typeface="Calibri"/>
              </a:rPr>
              <a:t>Both depict darkness reduces walking</a:t>
            </a:r>
          </a:p>
          <a:p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GB" sz="3600">
              <a:solidFill>
                <a:schemeClr val="accent3">
                  <a:lumMod val="49000"/>
                </a:schemeClr>
              </a:solidFill>
              <a:latin typeface="ITC Avant Garde Gothic"/>
              <a:ea typeface="Calibri"/>
              <a:cs typeface="Calibri"/>
            </a:endParaRPr>
          </a:p>
          <a:p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198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7476"/>
    </mc:Choice>
    <mc:Fallback xmlns="">
      <p:transition advTm="1747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C8AB-0400-27DE-7581-7A372778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B69714-8E07-AB02-C6F2-5857B2AE6238}"/>
              </a:ext>
            </a:extLst>
          </p:cNvPr>
          <p:cNvGrpSpPr/>
          <p:nvPr/>
        </p:nvGrpSpPr>
        <p:grpSpPr>
          <a:xfrm>
            <a:off x="666750" y="659606"/>
            <a:ext cx="6886575" cy="3016201"/>
            <a:chOff x="0" y="-9525"/>
            <a:chExt cx="9182100" cy="4021601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340AF271-9D97-1F40-3DF6-E74F879DEAAC}"/>
                </a:ext>
              </a:extLst>
            </p:cNvPr>
            <p:cNvSpPr txBox="1"/>
            <p:nvPr/>
          </p:nvSpPr>
          <p:spPr>
            <a:xfrm>
              <a:off x="0" y="-9525"/>
              <a:ext cx="9182100" cy="2749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254117"/>
                  </a:solidFill>
                  <a:latin typeface="ITC Avant Garde Gothic"/>
                  <a:ea typeface="ITC Avant Garde Gothic"/>
                  <a:cs typeface="ITC Avant Garde Gothic"/>
                </a:rPr>
                <a:t>Case-Control</a:t>
              </a:r>
            </a:p>
            <a:p>
              <a:pPr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254117"/>
                  </a:solidFill>
                  <a:latin typeface="ITC Avant Garde Gothic"/>
                  <a:ea typeface="ITC Avant Garde Gothic"/>
                  <a:cs typeface="ITC Avant Garde Gothic"/>
                </a:rPr>
                <a:t>Results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9E8A84-3E64-2598-A96E-2D6C3EE7BD1E}"/>
                </a:ext>
              </a:extLst>
            </p:cNvPr>
            <p:cNvSpPr txBox="1"/>
            <p:nvPr/>
          </p:nvSpPr>
          <p:spPr>
            <a:xfrm>
              <a:off x="0" y="3362325"/>
              <a:ext cx="9182100" cy="649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u="none" strike="noStrike" spc="-95">
                <a:solidFill>
                  <a:srgbClr val="61936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EEE5D87-144B-AC25-6400-BCD53E0E0775}"/>
              </a:ext>
            </a:extLst>
          </p:cNvPr>
          <p:cNvSpPr txBox="1"/>
          <p:nvPr/>
        </p:nvSpPr>
        <p:spPr>
          <a:xfrm>
            <a:off x="354744" y="3474856"/>
            <a:ext cx="5918040" cy="550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</a:rPr>
              <a:t>Odds ratio sensitivity was tested across varying case/control hour combinations</a:t>
            </a: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spc="-78">
              <a:solidFill>
                <a:srgbClr val="254117"/>
              </a:solidFill>
              <a:latin typeface="ITC Avant Garde Gothic"/>
              <a:ea typeface="ITC Avant Garde Gothic"/>
              <a:cs typeface="ITC Avant Garde Gothic"/>
            </a:endParaRP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</a:rPr>
              <a:t>Largest reduction during morning hours (5am – 7am)</a:t>
            </a: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spc="-78">
              <a:solidFill>
                <a:srgbClr val="254117"/>
              </a:solidFill>
              <a:latin typeface="ITC Avant Garde Gothic"/>
              <a:ea typeface="ITC Avant Garde Gothic"/>
              <a:cs typeface="ITC Avant Garde Gothic"/>
            </a:endParaRP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</a:rPr>
              <a:t>Darkness suppresses pedestrian counts more than other sensor types</a:t>
            </a: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spc="-78">
              <a:solidFill>
                <a:srgbClr val="254117"/>
              </a:solidFill>
              <a:latin typeface="ITC Avant Garde Gothic"/>
              <a:ea typeface="ITC Avant Garde Gothic"/>
              <a:cs typeface="ITC Avant Garde Gothic"/>
            </a:endParaRP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100" spc="-78">
              <a:solidFill>
                <a:srgbClr val="254117"/>
              </a:solidFill>
              <a:latin typeface="ITC Avant Garde Gothic"/>
              <a:ea typeface="ITC Avant Garde Gothic"/>
              <a:cs typeface="ITC Avant Garde Gothic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36175D-1666-1055-97A5-142FF6E8C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790" y="3229556"/>
            <a:ext cx="11703210" cy="64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9037"/>
    </mc:Choice>
    <mc:Fallback xmlns="">
      <p:transition advTm="3903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06F944-5570-DA83-65ED-D4B302A1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" t="10190" r="6014"/>
          <a:stretch>
            <a:fillRect/>
          </a:stretch>
        </p:blipFill>
        <p:spPr>
          <a:xfrm>
            <a:off x="80854" y="2596896"/>
            <a:ext cx="11462432" cy="5123038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731520" y="457200"/>
            <a:ext cx="11338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lnSpc>
                <a:spcPts val="8000"/>
              </a:lnSpc>
              <a:spcBef>
                <a:spcPct val="0"/>
              </a:spcBef>
              <a:defRPr/>
            </a:pPr>
            <a:r>
              <a:rPr lang="en-US" sz="8000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</a:rPr>
              <a:t>GLM Results</a:t>
            </a:r>
          </a:p>
        </p:txBody>
      </p:sp>
      <p:sp>
        <p:nvSpPr>
          <p:cNvPr id="9" name="Text 7"/>
          <p:cNvSpPr/>
          <p:nvPr/>
        </p:nvSpPr>
        <p:spPr>
          <a:xfrm>
            <a:off x="4480560" y="2596896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6400"/>
          </a:p>
        </p:txBody>
      </p:sp>
      <p:sp>
        <p:nvSpPr>
          <p:cNvPr id="16" name="Text 13"/>
          <p:cNvSpPr/>
          <p:nvPr/>
        </p:nvSpPr>
        <p:spPr>
          <a:xfrm>
            <a:off x="12290212" y="1970619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>
              <a:solidFill>
                <a:srgbClr val="244016"/>
              </a:solidFill>
              <a:latin typeface="ITC Avant Garde Gothic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2070080" y="3063804"/>
            <a:ext cx="6091346" cy="4390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97% of sensors show lower</a:t>
            </a:r>
            <a:r>
              <a:rPr lang="en-US" sz="2800">
                <a:solidFill>
                  <a:srgbClr val="244016"/>
                </a:solidFill>
                <a:latin typeface="ITC Avant Garde Gothic"/>
              </a:rPr>
              <a:t> </a:t>
            </a: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pedestrian counts in darkness</a:t>
            </a:r>
          </a:p>
          <a:p>
            <a:endParaRPr lang="en-US" sz="2800">
              <a:solidFill>
                <a:srgbClr val="244016"/>
              </a:solidFill>
              <a:latin typeface="ITC Avant Garde Gothic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GLM result stable across all</a:t>
            </a:r>
            <a:r>
              <a:rPr lang="en-US" sz="2800">
                <a:solidFill>
                  <a:srgbClr val="244016"/>
                </a:solidFill>
                <a:latin typeface="ITC Avant Garde Gothic"/>
              </a:rPr>
              <a:t> </a:t>
            </a: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model specifications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solidFill>
                <a:srgbClr val="244016"/>
              </a:solidFill>
              <a:latin typeface="ITC Avant Garde Gothic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P-value for cyclist: 0.313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solidFill>
                <a:srgbClr val="244016"/>
              </a:solidFill>
              <a:latin typeface="ITC Avant Garde Gothic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44016"/>
                </a:solidFill>
                <a:latin typeface="ITC Avant Garde Gothic"/>
                <a:ea typeface="Calibri" pitchFamily="34" charset="-122"/>
                <a:cs typeface="Calibri" pitchFamily="34" charset="-120"/>
              </a:rPr>
              <a:t>P-value for pedestrians: 1.48e-10</a:t>
            </a:r>
          </a:p>
          <a:p>
            <a:endParaRPr lang="en-US" sz="2000">
              <a:solidFill>
                <a:srgbClr val="244016"/>
              </a:solidFill>
            </a:endParaRPr>
          </a:p>
          <a:p>
            <a:endParaRPr lang="en-US" sz="2000">
              <a:solidFill>
                <a:srgbClr val="244016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24401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D3403C-67EB-8926-4A79-691648932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3" t="3585" r="23606" b="89266"/>
          <a:stretch>
            <a:fillRect/>
          </a:stretch>
        </p:blipFill>
        <p:spPr>
          <a:xfrm>
            <a:off x="1238351" y="1970619"/>
            <a:ext cx="9147438" cy="62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6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5600"/>
    </mc:Choice>
    <mc:Fallback xmlns="">
      <p:transition advTm="456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A87794-6B5C-B346-B363-C764CEE1D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1" y="1740638"/>
            <a:ext cx="10513276" cy="6328963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731520" y="663640"/>
            <a:ext cx="1682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lnSpc>
                <a:spcPts val="8000"/>
              </a:lnSpc>
              <a:spcBef>
                <a:spcPct val="0"/>
              </a:spcBef>
              <a:defRPr/>
            </a:pPr>
            <a:r>
              <a:rPr lang="en-US" sz="6000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</a:rPr>
              <a:t>Early morning hours need priority action</a:t>
            </a:r>
          </a:p>
          <a:p>
            <a:endParaRPr lang="en-US" sz="6000"/>
          </a:p>
        </p:txBody>
      </p:sp>
      <p:sp>
        <p:nvSpPr>
          <p:cNvPr id="7" name="Text 4"/>
          <p:cNvSpPr/>
          <p:nvPr/>
        </p:nvSpPr>
        <p:spPr>
          <a:xfrm>
            <a:off x="11064240" y="223113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ITC Avant Garde Gothic"/>
                <a:ea typeface="Calibri"/>
                <a:cs typeface="Calibri"/>
              </a:rPr>
              <a:t>What the time discrepancies show</a:t>
            </a:r>
            <a:endParaRPr lang="en-US" sz="2400" b="1">
              <a:latin typeface="ITC Avant Garde Gothic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480432" y="3481227"/>
            <a:ext cx="7597427" cy="228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ITC Avant Garde Gothic"/>
                <a:ea typeface="Calibri"/>
                <a:cs typeface="Calibri"/>
              </a:rPr>
              <a:t>Morning penalty (−59%) is more than double the evening penalty (−19%)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ITC Avant Garde Gothic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ITC Avant Garde Gothic"/>
                <a:ea typeface="Calibri" pitchFamily="34" charset="-122"/>
                <a:cs typeface="Calibri" pitchFamily="34" charset="-120"/>
              </a:rPr>
              <a:t>Other factors could be the root cause of these differences</a:t>
            </a:r>
          </a:p>
          <a:p>
            <a:endParaRPr lang="en-US" sz="2000">
              <a:latin typeface="ITC Avant Garde Gothic"/>
              <a:ea typeface="Calibri"/>
              <a:cs typeface="Calibri"/>
            </a:endParaRPr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7881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6087"/>
    </mc:Choice>
    <mc:Fallback xmlns="">
      <p:transition advTm="2608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7901-9120-947E-B720-7EA6DAC7E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1"/>
          <a:stretch>
            <a:fillRect/>
          </a:stretch>
        </p:blipFill>
        <p:spPr>
          <a:xfrm>
            <a:off x="345269" y="2506132"/>
            <a:ext cx="8595358" cy="4882219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40080" y="402336"/>
            <a:ext cx="1682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>
                <a:latin typeface="ITC Avant Garde Gothic"/>
                <a:ea typeface="Calibri"/>
                <a:cs typeface="Calibri"/>
              </a:rPr>
              <a:t>Other factors to consider</a:t>
            </a:r>
          </a:p>
        </p:txBody>
      </p:sp>
      <p:sp>
        <p:nvSpPr>
          <p:cNvPr id="6" name="Text 3"/>
          <p:cNvSpPr/>
          <p:nvPr/>
        </p:nvSpPr>
        <p:spPr>
          <a:xfrm>
            <a:off x="9235440" y="264315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ITC Avant Garde Gothic"/>
                <a:ea typeface="Calibri"/>
                <a:cs typeface="Calibri"/>
              </a:rPr>
              <a:t>Moderation Results</a:t>
            </a:r>
            <a:endParaRPr lang="en-US">
              <a:latin typeface="ITC Avant Garde Gothic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93701"/>
              </p:ext>
            </p:extLst>
          </p:nvPr>
        </p:nvGraphicFramePr>
        <p:xfrm>
          <a:off x="9172135" y="3249489"/>
          <a:ext cx="8658665" cy="2450712"/>
        </p:xfrm>
        <a:graphic>
          <a:graphicData uri="http://schemas.openxmlformats.org/drawingml/2006/table">
            <a:tbl>
              <a:tblPr/>
              <a:tblGrid>
                <a:gridCol w="3355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Moderator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Pedestrians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Cyclists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Dark × CCTV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p = 0.948 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p = 0.941 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Dark × Safety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p = 0.160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ITC Avant Garde Gothic"/>
                          <a:ea typeface="Calibri" pitchFamily="34" charset="-122"/>
                          <a:cs typeface="Calibri" pitchFamily="34" charset="-120"/>
                        </a:rPr>
                        <a:t>p = 0.000121 </a:t>
                      </a:r>
                      <a:endParaRPr lang="en-US">
                        <a:latin typeface="ITC Avant Garde Gothic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9194455" y="6293627"/>
            <a:ext cx="8496523" cy="270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ITC Avant Garde Gothic"/>
                <a:ea typeface="Calibri"/>
                <a:cs typeface="Calibri"/>
              </a:rPr>
              <a:t>Key insights:</a:t>
            </a:r>
            <a:r>
              <a:rPr lang="en-US" sz="2000">
                <a:latin typeface="ITC Avant Garde Gothic"/>
                <a:ea typeface="Calibri"/>
                <a:cs typeface="Calibri"/>
              </a:rPr>
              <a:t> </a:t>
            </a:r>
            <a:endParaRPr lang="en-US"/>
          </a:p>
          <a:p>
            <a:pPr marL="342900" indent="-342900">
              <a:buFont typeface="Courier New"/>
              <a:buChar char="o"/>
            </a:pPr>
            <a:endParaRPr lang="en-US" sz="2000">
              <a:latin typeface="ITC Avant Garde Gothic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ITC Avant Garde Gothic"/>
                <a:ea typeface="Calibri"/>
                <a:cs typeface="Calibri"/>
              </a:rPr>
              <a:t>CCTV has little impact on darkness effect, perhaps down to the location of CCTV being unknown to most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ITC Avant Garde Gothic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ITC Avant Garde Gothic"/>
                <a:ea typeface="Calibri"/>
                <a:cs typeface="Calibri"/>
              </a:rPr>
              <a:t>Perceived safety by people does have an effect on darkness with a higher ward safety score leading to a larger reduced change in darkness.</a:t>
            </a:r>
          </a:p>
          <a:p>
            <a:endParaRPr lang="en-US" sz="2000">
              <a:latin typeface="ITC Avant Garde Gothic"/>
              <a:ea typeface="Calibri"/>
              <a:cs typeface="Calibri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22960" y="71323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b="1">
              <a:latin typeface="ITC Avant Garde Gothic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7200" y="9784080"/>
            <a:ext cx="1737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6ADDD-C56F-617A-73E9-57E89B439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7" t="1526" r="19304" b="93453"/>
          <a:stretch>
            <a:fillRect/>
          </a:stretch>
        </p:blipFill>
        <p:spPr>
          <a:xfrm>
            <a:off x="1335177" y="2140251"/>
            <a:ext cx="6615541" cy="3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0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4174"/>
    </mc:Choice>
    <mc:Fallback xmlns="">
      <p:transition advTm="3417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D7C62-45BB-8CEF-3CCC-1EB6C02ED14A}"/>
              </a:ext>
            </a:extLst>
          </p:cNvPr>
          <p:cNvSpPr txBox="1"/>
          <p:nvPr/>
        </p:nvSpPr>
        <p:spPr>
          <a:xfrm>
            <a:off x="419084" y="397933"/>
            <a:ext cx="487713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6000">
                <a:latin typeface="ITC Avant Garde Gothic"/>
                <a:ea typeface="Calibri"/>
                <a:cs typeface="Calibri"/>
              </a:rPr>
              <a:t>Streetlights</a:t>
            </a:r>
            <a:endParaRPr lang="en-GB" sz="4800">
              <a:latin typeface="ITC Avant Garde Gothic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5D0F40-9047-4449-CD04-BCDFDFCC9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68"/>
          <a:stretch>
            <a:fillRect/>
          </a:stretch>
        </p:blipFill>
        <p:spPr>
          <a:xfrm>
            <a:off x="1209822" y="1413597"/>
            <a:ext cx="7466576" cy="59544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CD3A93-0630-E899-84C8-B0493B37F1D7}"/>
              </a:ext>
            </a:extLst>
          </p:cNvPr>
          <p:cNvSpPr txBox="1"/>
          <p:nvPr/>
        </p:nvSpPr>
        <p:spPr>
          <a:xfrm>
            <a:off x="1209822" y="7611519"/>
            <a:ext cx="13048695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Streetlights cause the largest decrease in the effect of darkness for pedestrians out of all safety factors</a:t>
            </a:r>
            <a:endParaRPr lang="en-US" sz="2800">
              <a:latin typeface="ITC Avant Garde Gothic"/>
            </a:endParaRPr>
          </a:p>
          <a:p>
            <a:pPr marL="285750" indent="-285750">
              <a:buFont typeface="Arial"/>
              <a:buChar char="•"/>
            </a:pPr>
            <a:endParaRPr lang="en-GB" sz="2800">
              <a:latin typeface="ITC Avant Garde Gothic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latin typeface="ITC Avant Garde Gothic"/>
                <a:ea typeface="Calibri"/>
                <a:cs typeface="Calibri"/>
              </a:rPr>
              <a:t>Little to no change for cyclists, likely due to their own lights improving visibility</a:t>
            </a:r>
          </a:p>
          <a:p>
            <a:endParaRPr lang="en-GB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CDE18-BEC7-5610-8831-F3630CF58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3"/>
          <a:stretch>
            <a:fillRect/>
          </a:stretch>
        </p:blipFill>
        <p:spPr>
          <a:xfrm>
            <a:off x="9419876" y="1413596"/>
            <a:ext cx="6885625" cy="595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8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2557"/>
    </mc:Choice>
    <mc:Fallback xmlns="">
      <p:transition advTm="3255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5052-B2DE-113A-C7E1-6B959E55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3C9258-56CB-DBFA-A6DD-B977E5B5C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4"/>
          <a:stretch>
            <a:fillRect/>
          </a:stretch>
        </p:blipFill>
        <p:spPr>
          <a:xfrm>
            <a:off x="6026623" y="2703872"/>
            <a:ext cx="12115073" cy="6318247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949B61ED-8F86-000E-85CE-556B5C164619}"/>
              </a:ext>
            </a:extLst>
          </p:cNvPr>
          <p:cNvSpPr txBox="1"/>
          <p:nvPr/>
        </p:nvSpPr>
        <p:spPr>
          <a:xfrm>
            <a:off x="666750" y="659606"/>
            <a:ext cx="17240250" cy="949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5400" u="none" strike="noStrike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Limitations of </a:t>
            </a:r>
            <a:r>
              <a:rPr lang="en-US" sz="5400" spc="-240">
                <a:solidFill>
                  <a:srgbClr val="25411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GLM</a:t>
            </a:r>
            <a:endParaRPr lang="en-US" sz="5400" u="none" strike="noStrike" spc="-240">
              <a:solidFill>
                <a:srgbClr val="254117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A5DAC80-7E55-FE8D-AEB2-A04D2131688C}"/>
              </a:ext>
            </a:extLst>
          </p:cNvPr>
          <p:cNvSpPr txBox="1"/>
          <p:nvPr/>
        </p:nvSpPr>
        <p:spPr>
          <a:xfrm>
            <a:off x="381000" y="3480549"/>
            <a:ext cx="5697474" cy="4864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903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Residual autocorrelation, even with the time controls</a:t>
            </a:r>
          </a:p>
          <a:p>
            <a:pPr marL="342900" lvl="0" indent="-342900">
              <a:lnSpc>
                <a:spcPts val="2903"/>
              </a:lnSpc>
              <a:buFont typeface="Arial" panose="020B0604020202020204" pitchFamily="34" charset="0"/>
              <a:buChar char="•"/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342900" lvl="0" indent="-342900">
              <a:lnSpc>
                <a:spcPts val="2903"/>
              </a:lnSpc>
              <a:buFont typeface="Arial" panose="020B0604020202020204" pitchFamily="34" charset="0"/>
              <a:buChar char="•"/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342900" lvl="0" indent="-342900">
              <a:lnSpc>
                <a:spcPts val="2903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Only used case hours, instead of whole time series</a:t>
            </a:r>
          </a:p>
          <a:p>
            <a:pPr lvl="0">
              <a:lnSpc>
                <a:spcPts val="2903"/>
              </a:lnSpc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lvl="0">
              <a:lnSpc>
                <a:spcPts val="2903"/>
              </a:lnSpc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342900" indent="-342900">
              <a:lnSpc>
                <a:spcPts val="2903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54117"/>
                </a:solidFill>
                <a:latin typeface="TT Fors"/>
                <a:ea typeface="TT Fors"/>
                <a:cs typeface="TT Fors"/>
                <a:sym typeface="TT Fors"/>
              </a:rPr>
              <a:t>Certain interactions, like darkness with CCTV, are statistically weak</a:t>
            </a:r>
          </a:p>
          <a:p>
            <a:pPr lvl="0">
              <a:lnSpc>
                <a:spcPts val="2903"/>
              </a:lnSpc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lvl="0">
              <a:lnSpc>
                <a:spcPts val="2903"/>
              </a:lnSpc>
            </a:pPr>
            <a:endParaRPr lang="en-US" sz="3200">
              <a:solidFill>
                <a:srgbClr val="254117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7701E9-66ED-F287-D8B1-79FD5F403EE8}"/>
              </a:ext>
            </a:extLst>
          </p:cNvPr>
          <p:cNvCxnSpPr/>
          <p:nvPr/>
        </p:nvCxnSpPr>
        <p:spPr>
          <a:xfrm>
            <a:off x="381000" y="1670057"/>
            <a:ext cx="17526000" cy="0"/>
          </a:xfrm>
          <a:prstGeom prst="straightConnector1">
            <a:avLst/>
          </a:prstGeom>
          <a:ln w="38100" cap="flat" cmpd="sng" algn="ctr">
            <a:solidFill>
              <a:srgbClr val="25411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68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1580"/>
    </mc:Choice>
    <mc:Fallback xmlns="">
      <p:transition advTm="3158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F153-0122-D1FD-C418-62E7DFDB8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81000"/>
            <a:ext cx="16941800" cy="1016000"/>
          </a:xfrm>
        </p:spPr>
        <p:txBody>
          <a:bodyPr>
            <a:normAutofit/>
          </a:bodyPr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Targeted Timing: The Morning Commute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3A3791-5164-D44E-A428-A458B5B647B0}"/>
              </a:ext>
            </a:extLst>
          </p:cNvPr>
          <p:cNvCxnSpPr/>
          <p:nvPr/>
        </p:nvCxnSpPr>
        <p:spPr>
          <a:xfrm>
            <a:off x="381000" y="1524000"/>
            <a:ext cx="17526000" cy="0"/>
          </a:xfrm>
          <a:prstGeom prst="straightConnector1">
            <a:avLst/>
          </a:prstGeom>
          <a:ln w="38100" cap="flat" cmpd="sng" algn="ctr">
            <a:solidFill>
              <a:srgbClr val="25411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028880521"/>
              </p:ext>
            </p:extLst>
          </p:nvPr>
        </p:nvGraphicFramePr>
        <p:xfrm>
          <a:off x="207033" y="2616200"/>
          <a:ext cx="14043805" cy="7289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0" name="Morning Label"/>
          <p:cNvSpPr txBox="1"/>
          <p:nvPr/>
        </p:nvSpPr>
        <p:spPr>
          <a:xfrm>
            <a:off x="673100" y="1600200"/>
            <a:ext cx="72009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GB" sz="2800" b="1">
                <a:solidFill>
                  <a:srgbClr val="C0392B"/>
                </a:solidFill>
                <a:latin typeface="TT Fors"/>
              </a:rPr>
              <a:t>MORNING </a:t>
            </a:r>
          </a:p>
        </p:txBody>
      </p:sp>
      <p:sp>
        <p:nvSpPr>
          <p:cNvPr id="211" name="Evening Label"/>
          <p:cNvSpPr txBox="1"/>
          <p:nvPr/>
        </p:nvSpPr>
        <p:spPr>
          <a:xfrm>
            <a:off x="8890000" y="1600200"/>
            <a:ext cx="87249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GB" sz="2800" b="1">
                <a:solidFill>
                  <a:srgbClr val="3A7D44"/>
                </a:solidFill>
                <a:latin typeface="TT Fors"/>
              </a:rPr>
              <a:t>EVENING</a:t>
            </a:r>
          </a:p>
        </p:txBody>
      </p:sp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AAEB9232-586A-2F1D-AEBB-9FE3B9B8F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740756"/>
              </p:ext>
            </p:extLst>
          </p:nvPr>
        </p:nvGraphicFramePr>
        <p:xfrm>
          <a:off x="207030" y="2888913"/>
          <a:ext cx="14043805" cy="7017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515B7D2-7470-4036-1CCE-DF1E206B789D}"/>
              </a:ext>
            </a:extLst>
          </p:cNvPr>
          <p:cNvSpPr/>
          <p:nvPr/>
        </p:nvSpPr>
        <p:spPr>
          <a:xfrm>
            <a:off x="11681374" y="6370916"/>
            <a:ext cx="2294021" cy="3928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721633-2A98-7A4B-FBFA-C8B18618F850}"/>
              </a:ext>
            </a:extLst>
          </p:cNvPr>
          <p:cNvSpPr txBox="1"/>
          <p:nvPr/>
        </p:nvSpPr>
        <p:spPr>
          <a:xfrm>
            <a:off x="1556084" y="-243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7E52E-DC56-3C51-B3CB-2190E5037238}"/>
              </a:ext>
            </a:extLst>
          </p:cNvPr>
          <p:cNvSpPr/>
          <p:nvPr/>
        </p:nvSpPr>
        <p:spPr>
          <a:xfrm>
            <a:off x="11681371" y="5879401"/>
            <a:ext cx="2294021" cy="3928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28D8F-CEE0-46D2-F98D-1AAEB758F4F7}"/>
              </a:ext>
            </a:extLst>
          </p:cNvPr>
          <p:cNvSpPr txBox="1"/>
          <p:nvPr/>
        </p:nvSpPr>
        <p:spPr>
          <a:xfrm>
            <a:off x="6036893" y="3731575"/>
            <a:ext cx="12577074" cy="28238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•"/>
            </a:pPr>
            <a:r>
              <a:rPr lang="en-GB" sz="3600">
                <a:solidFill>
                  <a:srgbClr val="254117"/>
                </a:solidFill>
                <a:latin typeface="TT Fors"/>
              </a:rPr>
              <a:t>Central has the largest loss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•"/>
            </a:pPr>
            <a:r>
              <a:rPr lang="en-GB" sz="3600">
                <a:solidFill>
                  <a:srgbClr val="254117"/>
                </a:solidFill>
                <a:latin typeface="TT Fors"/>
              </a:rPr>
              <a:t>Streetlight density is the key factor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•"/>
            </a:pPr>
            <a:r>
              <a:rPr lang="en-GB" sz="3600" b="1">
                <a:solidFill>
                  <a:srgbClr val="254117"/>
                </a:solidFill>
                <a:latin typeface="TT Fors"/>
              </a:rPr>
              <a:t>203 count increase </a:t>
            </a:r>
            <a:r>
              <a:rPr lang="en-GB" sz="3600">
                <a:solidFill>
                  <a:srgbClr val="254117"/>
                </a:solidFill>
                <a:latin typeface="TT Fors"/>
              </a:rPr>
              <a:t>for pedestrians over </a:t>
            </a:r>
            <a:r>
              <a:rPr lang="en-GB" sz="3600" b="1">
                <a:solidFill>
                  <a:srgbClr val="254117"/>
                </a:solidFill>
                <a:latin typeface="TT Fors"/>
              </a:rPr>
              <a:t>5</a:t>
            </a:r>
            <a:r>
              <a:rPr lang="en-GB" sz="3600">
                <a:solidFill>
                  <a:srgbClr val="254117"/>
                </a:solidFill>
                <a:latin typeface="TT Fors"/>
              </a:rPr>
              <a:t> hours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029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4746"/>
    </mc:Choice>
    <mc:Fallback xmlns="">
      <p:transition advTm="547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5E03-C653-D11A-2CAF-2F8441F2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381000"/>
            <a:ext cx="16941800" cy="1016000"/>
          </a:xfrm>
        </p:spPr>
        <p:txBody>
          <a:bodyPr>
            <a:normAutofit/>
          </a:bodyPr>
          <a:lstStyle/>
          <a:p>
            <a:pPr algn="l"/>
            <a:r>
              <a:rPr lang="en-US" sz="5400">
                <a:solidFill>
                  <a:srgbClr val="254117"/>
                </a:solidFill>
                <a:latin typeface="ITC Avant Garde Gothic"/>
              </a:rPr>
              <a:t>LED Streetlight Investment Plan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131937-36A9-E446-A384-F09070C82B41}"/>
              </a:ext>
            </a:extLst>
          </p:cNvPr>
          <p:cNvCxnSpPr/>
          <p:nvPr/>
        </p:nvCxnSpPr>
        <p:spPr>
          <a:xfrm>
            <a:off x="381000" y="1524000"/>
            <a:ext cx="17526000" cy="0"/>
          </a:xfrm>
          <a:prstGeom prst="straightConnector1">
            <a:avLst/>
          </a:prstGeom>
          <a:ln w="38100" cap="flat" cmpd="sng" algn="ctr">
            <a:solidFill>
              <a:srgbClr val="25411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L601"/>
          <p:cNvSpPr/>
          <p:nvPr/>
        </p:nvSpPr>
        <p:spPr>
          <a:xfrm>
            <a:off x="635000" y="1698625"/>
            <a:ext cx="381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1400" b="1">
                <a:solidFill>
                  <a:srgbClr val="3A7D44"/>
                </a:solidFill>
                <a:latin typeface="TT Fors"/>
              </a:rPr>
              <a:t>REVENUE PATH</a:t>
            </a:r>
          </a:p>
        </p:txBody>
      </p:sp>
      <p:sp>
        <p:nvSpPr>
          <p:cNvPr id="601" name="B602"/>
          <p:cNvSpPr/>
          <p:nvPr/>
        </p:nvSpPr>
        <p:spPr>
          <a:xfrm>
            <a:off x="635000" y="20193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254117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+203 peds/day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from +1 SD streetlight increase</a:t>
            </a:r>
          </a:p>
        </p:txBody>
      </p:sp>
      <p:sp>
        <p:nvSpPr>
          <p:cNvPr id="602" name="V603"/>
          <p:cNvSpPr/>
          <p:nvPr/>
        </p:nvSpPr>
        <p:spPr>
          <a:xfrm>
            <a:off x="4533900" y="2711450"/>
            <a:ext cx="330200" cy="457200"/>
          </a:xfrm>
          <a:prstGeom prst="chevron">
            <a:avLst/>
          </a:prstGeom>
          <a:solidFill>
            <a:srgbClr val="3A7D44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3A7D44"/>
              </a:solidFill>
            </a:endParaRPr>
          </a:p>
        </p:txBody>
      </p:sp>
      <p:sp>
        <p:nvSpPr>
          <p:cNvPr id="603" name="B604"/>
          <p:cNvSpPr/>
          <p:nvPr/>
        </p:nvSpPr>
        <p:spPr>
          <a:xfrm>
            <a:off x="4889500" y="20193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254117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× 130 winter days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= 26,390 additional visits</a:t>
            </a:r>
          </a:p>
        </p:txBody>
      </p:sp>
      <p:sp>
        <p:nvSpPr>
          <p:cNvPr id="604" name="V605"/>
          <p:cNvSpPr/>
          <p:nvPr/>
        </p:nvSpPr>
        <p:spPr>
          <a:xfrm>
            <a:off x="8788400" y="2711450"/>
            <a:ext cx="330200" cy="457200"/>
          </a:xfrm>
          <a:prstGeom prst="chevron">
            <a:avLst/>
          </a:prstGeom>
          <a:solidFill>
            <a:srgbClr val="3A7D44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3A7D44"/>
              </a:solidFill>
            </a:endParaRPr>
          </a:p>
        </p:txBody>
      </p:sp>
      <p:sp>
        <p:nvSpPr>
          <p:cNvPr id="605" name="B606"/>
          <p:cNvSpPr/>
          <p:nvPr/>
        </p:nvSpPr>
        <p:spPr>
          <a:xfrm>
            <a:off x="9144000" y="20193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254117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½ buy a coffee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13,195 purchases @ £4 avg</a:t>
            </a:r>
          </a:p>
        </p:txBody>
      </p:sp>
      <p:sp>
        <p:nvSpPr>
          <p:cNvPr id="606" name="V607"/>
          <p:cNvSpPr/>
          <p:nvPr/>
        </p:nvSpPr>
        <p:spPr>
          <a:xfrm>
            <a:off x="13042900" y="2711450"/>
            <a:ext cx="330200" cy="457200"/>
          </a:xfrm>
          <a:prstGeom prst="chevron">
            <a:avLst/>
          </a:prstGeom>
          <a:solidFill>
            <a:srgbClr val="3A7D44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3A7D44"/>
              </a:solidFill>
            </a:endParaRPr>
          </a:p>
        </p:txBody>
      </p:sp>
      <p:sp>
        <p:nvSpPr>
          <p:cNvPr id="607" name="B608"/>
          <p:cNvSpPr/>
          <p:nvPr/>
        </p:nvSpPr>
        <p:spPr>
          <a:xfrm>
            <a:off x="13398500" y="20193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3A7D44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£52,780 / year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boost to local economy</a:t>
            </a:r>
          </a:p>
        </p:txBody>
      </p:sp>
      <p:sp>
        <p:nvSpPr>
          <p:cNvPr id="608" name="L609"/>
          <p:cNvSpPr/>
          <p:nvPr/>
        </p:nvSpPr>
        <p:spPr>
          <a:xfrm>
            <a:off x="635000" y="5918200"/>
            <a:ext cx="381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1400" b="1">
                <a:solidFill>
                  <a:srgbClr val="C0392B"/>
                </a:solidFill>
                <a:latin typeface="TT Fors"/>
              </a:rPr>
              <a:t>COST PATH</a:t>
            </a:r>
          </a:p>
        </p:txBody>
      </p:sp>
      <p:sp>
        <p:nvSpPr>
          <p:cNvPr id="609" name="B610"/>
          <p:cNvSpPr/>
          <p:nvPr/>
        </p:nvSpPr>
        <p:spPr>
          <a:xfrm>
            <a:off x="635000" y="62230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7B1F1F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515 streetlamps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in Bristol central cluster [15]</a:t>
            </a:r>
          </a:p>
        </p:txBody>
      </p:sp>
      <p:sp>
        <p:nvSpPr>
          <p:cNvPr id="610" name="V611"/>
          <p:cNvSpPr/>
          <p:nvPr/>
        </p:nvSpPr>
        <p:spPr>
          <a:xfrm>
            <a:off x="4533900" y="6915150"/>
            <a:ext cx="330200" cy="457200"/>
          </a:xfrm>
          <a:prstGeom prst="chevron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C0392B"/>
              </a:solidFill>
            </a:endParaRPr>
          </a:p>
        </p:txBody>
      </p:sp>
      <p:sp>
        <p:nvSpPr>
          <p:cNvPr id="611" name="B612"/>
          <p:cNvSpPr/>
          <p:nvPr/>
        </p:nvSpPr>
        <p:spPr>
          <a:xfrm>
            <a:off x="4889500" y="62230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7B1F1F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× £350 each</a:t>
            </a:r>
          </a:p>
          <a:p>
            <a:pPr algn="ctr"/>
            <a:r>
              <a:rPr lang="en-GB" sz="1400" err="1">
                <a:solidFill>
                  <a:srgbClr val="FFFFFF">
                    <a:alpha val="80000"/>
                  </a:srgbClr>
                </a:solidFill>
                <a:latin typeface="TT Fors"/>
              </a:rPr>
              <a:t>avg</a:t>
            </a:r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 LED upgrade cost [9]</a:t>
            </a:r>
          </a:p>
        </p:txBody>
      </p:sp>
      <p:sp>
        <p:nvSpPr>
          <p:cNvPr id="612" name="V613"/>
          <p:cNvSpPr/>
          <p:nvPr/>
        </p:nvSpPr>
        <p:spPr>
          <a:xfrm>
            <a:off x="8788400" y="6915150"/>
            <a:ext cx="330200" cy="457200"/>
          </a:xfrm>
          <a:prstGeom prst="chevron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C0392B"/>
              </a:solidFill>
            </a:endParaRPr>
          </a:p>
        </p:txBody>
      </p:sp>
      <p:sp>
        <p:nvSpPr>
          <p:cNvPr id="613" name="B614"/>
          <p:cNvSpPr/>
          <p:nvPr/>
        </p:nvSpPr>
        <p:spPr>
          <a:xfrm>
            <a:off x="9144000" y="6223000"/>
            <a:ext cx="3873500" cy="18415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 w="0">
            <a:noFill/>
          </a:ln>
        </p:spPr>
        <p:txBody>
          <a:bodyPr wrap="square" lIns="91440" tIns="72000" rIns="91440" bIns="72000" anchor="ctr"/>
          <a:lstStyle/>
          <a:p>
            <a:pPr algn="ctr">
              <a:spcAft>
                <a:spcPts val="300"/>
              </a:spcAft>
            </a:pPr>
            <a:r>
              <a:rPr lang="en-GB" sz="2800" b="1">
                <a:solidFill>
                  <a:srgbClr val="FFFFFF"/>
                </a:solidFill>
                <a:latin typeface="ITC Avant Garde Gothic"/>
              </a:rPr>
              <a:t>£180,250 total</a:t>
            </a:r>
          </a:p>
          <a:p>
            <a:pPr algn="ctr"/>
            <a:r>
              <a:rPr lang="en-GB" sz="1400">
                <a:solidFill>
                  <a:srgbClr val="FFFFFF">
                    <a:alpha val="80000"/>
                  </a:srgbClr>
                </a:solidFill>
                <a:latin typeface="TT Fors"/>
              </a:rPr>
              <a:t>capital investment required</a:t>
            </a:r>
          </a:p>
        </p:txBody>
      </p:sp>
      <p:sp>
        <p:nvSpPr>
          <p:cNvPr id="614" name="T615"/>
          <p:cNvSpPr/>
          <p:nvPr/>
        </p:nvSpPr>
        <p:spPr>
          <a:xfrm rot="10800000">
            <a:off x="15157450" y="4051300"/>
            <a:ext cx="355600" cy="228600"/>
          </a:xfrm>
          <a:prstGeom prst="triangle">
            <a:avLst/>
          </a:prstGeom>
          <a:solidFill>
            <a:srgbClr val="3A7D44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3A7D44"/>
              </a:solidFill>
            </a:endParaRPr>
          </a:p>
        </p:txBody>
      </p:sp>
      <p:sp>
        <p:nvSpPr>
          <p:cNvPr id="615" name="T616"/>
          <p:cNvSpPr/>
          <p:nvPr/>
        </p:nvSpPr>
        <p:spPr>
          <a:xfrm>
            <a:off x="15157450" y="6083300"/>
            <a:ext cx="355600" cy="228600"/>
          </a:xfrm>
          <a:prstGeom prst="triangle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C0392B"/>
              </a:solidFill>
            </a:endParaRPr>
          </a:p>
        </p:txBody>
      </p:sp>
      <p:sp>
        <p:nvSpPr>
          <p:cNvPr id="616" name="V617"/>
          <p:cNvSpPr/>
          <p:nvPr/>
        </p:nvSpPr>
        <p:spPr>
          <a:xfrm>
            <a:off x="13042900" y="6915150"/>
            <a:ext cx="330200" cy="457200"/>
          </a:xfrm>
          <a:prstGeom prst="chevron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GB">
              <a:solidFill>
                <a:srgbClr val="C0392B"/>
              </a:solidFill>
            </a:endParaRPr>
          </a:p>
        </p:txBody>
      </p:sp>
      <p:sp>
        <p:nvSpPr>
          <p:cNvPr id="617" name="ROI"/>
          <p:cNvSpPr/>
          <p:nvPr/>
        </p:nvSpPr>
        <p:spPr>
          <a:xfrm>
            <a:off x="13398500" y="4305300"/>
            <a:ext cx="3873500" cy="1638300"/>
          </a:xfrm>
          <a:prstGeom prst="roundRect">
            <a:avLst>
              <a:gd name="adj" fmla="val 10000"/>
            </a:avLst>
          </a:prstGeom>
          <a:solidFill>
            <a:srgbClr val="254117"/>
          </a:solidFill>
          <a:ln w="38100">
            <a:solidFill>
              <a:srgbClr val="D4A017"/>
            </a:solidFill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300"/>
              </a:spcAft>
            </a:pPr>
            <a:r>
              <a:rPr lang="en-GB" sz="4000" b="1">
                <a:solidFill>
                  <a:srgbClr val="FFFFFF"/>
                </a:solidFill>
                <a:latin typeface="ITC Avant Garde Gothic"/>
              </a:rPr>
              <a:t>3.4 Year ROI</a:t>
            </a:r>
          </a:p>
          <a:p>
            <a:pPr algn="ctr"/>
            <a:r>
              <a:rPr lang="en-GB" sz="1600">
                <a:solidFill>
                  <a:srgbClr val="FFFFFF">
                    <a:alpha val="80000"/>
                  </a:srgbClr>
                </a:solidFill>
                <a:latin typeface="TT Fors"/>
              </a:rPr>
              <a:t>£180,250 ÷ £52,780/yr</a:t>
            </a:r>
          </a:p>
        </p:txBody>
      </p:sp>
      <p:sp>
        <p:nvSpPr>
          <p:cNvPr id="618" name="Src"/>
          <p:cNvSpPr/>
          <p:nvPr/>
        </p:nvSpPr>
        <p:spPr>
          <a:xfrm>
            <a:off x="673100" y="9906000"/>
            <a:ext cx="17145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lang="en-GB" sz="1400">
                <a:solidFill>
                  <a:srgbClr val="003400"/>
                </a:solidFill>
                <a:latin typeface="ITC Avant Garde Gothic" panose="020B0604020202020204" charset="0"/>
              </a:rPr>
              <a:t>Bristol City Council. Streetlights and street furniture. data.gov.uk dataset, 2024.[15] |  LED upgrade cost: Bristol City Council (publicsectorexecutive.com) [17]</a:t>
            </a:r>
          </a:p>
        </p:txBody>
      </p:sp>
    </p:spTree>
    <p:extLst>
      <p:ext uri="{BB962C8B-B14F-4D97-AF65-F5344CB8AC3E}">
        <p14:creationId xmlns:p14="http://schemas.microsoft.com/office/powerpoint/2010/main" val="112790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79"/>
    </mc:Choice>
    <mc:Fallback xmlns="">
      <p:transition advTm="1617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.9|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8|9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C80BE-ECD4-A74A-BE2A-B9DFA8D63A1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111428d-97b8-4f5c-8001-89a09e4637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1369</Words>
  <Application>Microsoft Macintosh PowerPoint</Application>
  <PresentationFormat>Custom</PresentationFormat>
  <Paragraphs>265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TT Fors</vt:lpstr>
      <vt:lpstr>Arial</vt:lpstr>
      <vt:lpstr>ITC Avant Garde Gothic</vt:lpstr>
      <vt:lpstr>Calibri</vt:lpstr>
      <vt:lpstr>Cambria Math</vt:lpstr>
      <vt:lpstr>Aptos</vt:lpstr>
      <vt:lpstr>Wingdings</vt:lpstr>
      <vt:lpstr>Courier New</vt:lpstr>
      <vt:lpstr>Office Theme</vt:lpstr>
      <vt:lpstr>How does darkness affect pedestrian and cyclist counts in Bristol?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Targeted Timing: The Morning Commute</vt:lpstr>
      <vt:lpstr>LED Streetlight Investment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Blue Modern Group Project Presentation</dc:title>
  <dc:creator>Thomas Tucker</dc:creator>
  <cp:lastModifiedBy>Shavarsh Melikyan</cp:lastModifiedBy>
  <cp:revision>4</cp:revision>
  <cp:lastPrinted>2026-03-27T21:30:13Z</cp:lastPrinted>
  <dcterms:created xsi:type="dcterms:W3CDTF">2006-08-16T00:00:00Z</dcterms:created>
  <dcterms:modified xsi:type="dcterms:W3CDTF">2026-09-18T15:52:28Z</dcterms:modified>
  <dc:identifier>DAHFDUbfghY</dc:identifier>
</cp:coreProperties>
</file>